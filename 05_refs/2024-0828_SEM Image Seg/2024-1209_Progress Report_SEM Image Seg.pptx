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591" r:id="rId2"/>
    <p:sldId id="620" r:id="rId3"/>
    <p:sldId id="737" r:id="rId4"/>
    <p:sldId id="735" r:id="rId5"/>
    <p:sldId id="736" r:id="rId6"/>
    <p:sldId id="728" r:id="rId7"/>
    <p:sldId id="738" r:id="rId8"/>
    <p:sldId id="730" r:id="rId9"/>
    <p:sldId id="723" r:id="rId10"/>
    <p:sldId id="717" r:id="rId11"/>
    <p:sldId id="729" r:id="rId12"/>
    <p:sldId id="633" r:id="rId13"/>
    <p:sldId id="733" r:id="rId14"/>
    <p:sldId id="732" r:id="rId15"/>
    <p:sldId id="734" r:id="rId16"/>
    <p:sldId id="720" r:id="rId17"/>
    <p:sldId id="724" r:id="rId18"/>
    <p:sldId id="726" r:id="rId19"/>
    <p:sldId id="641" r:id="rId20"/>
    <p:sldId id="725" r:id="rId21"/>
    <p:sldId id="739" r:id="rId22"/>
    <p:sldId id="731" r:id="rId23"/>
    <p:sldId id="72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DC"/>
    <a:srgbClr val="DCDA80"/>
    <a:srgbClr val="A31F34"/>
    <a:srgbClr val="F5C5C5"/>
    <a:srgbClr val="FFCCCC"/>
    <a:srgbClr val="FEF5BC"/>
    <a:srgbClr val="C2C0BF"/>
    <a:srgbClr val="594C56"/>
    <a:srgbClr val="E9E8AE"/>
    <a:srgbClr val="8A8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40" autoAdjust="0"/>
  </p:normalViewPr>
  <p:slideViewPr>
    <p:cSldViewPr snapToGrid="0">
      <p:cViewPr varScale="1">
        <p:scale>
          <a:sx n="68" d="100"/>
          <a:sy n="68" d="100"/>
        </p:scale>
        <p:origin x="66" y="2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63DFC-F11F-4511-9AA9-F682134604B2}" type="datetimeFigureOut">
              <a:rPr lang="en-US" smtClean="0"/>
              <a:t>2025-01-29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A7466-6554-4EB6-A5F6-6028A412B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exploration of two-dimensional (2D) materials for next-generation semiconductors begins with recipe optimization to synthesize high-quality 2D materials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followed by characterization such as optical microscopy, Raman spectroscopy, atomic force microscopy (AFM), and scanning electron microscopy (SEM).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Samples with promising quality proceed to device fabrication and performance testing.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experience, we (Jiadi) find that scanning electron microscopy (SEM) images strongly correlate with device outcomes.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However, a systematic numerical description of SEM results is lacking.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Here, we present an algorithm that leverages machine learning and computer vision to provide a numerical representation (NR) of SEM images of 2D MoS₂, </a:t>
            </a:r>
            <a:r>
              <a:rPr lang="en-US" sz="1800" dirty="0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correlating this NR with device performance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1800" dirty="0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using the desired NR for recipe optimization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/>
              <a:t>This research is ongoing, with a green checkmark indicating completed functions and a yellow triangle highlighting areas still under development.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/>
              <a:t>Today, I would like to show you the current stage of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A7466-6554-4EB6-A5F6-6028A412BE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46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9F29-CFE4-FC82-0248-356F5665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7498A-446A-6522-28A6-C251F4C4D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BD1C-DD82-B990-3B5B-09AD6AE31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FC614-C65B-B484-0C8D-2AAE10FE7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83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2024-12-02</a:t>
            </a:r>
          </a:p>
          <a:p>
            <a:r>
              <a:rPr lang="en-US" dirty="0"/>
              <a:t>Consider other factors.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A7466-6554-4EB6-A5F6-6028A412BE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39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68333-C12C-11FE-B0B0-DAA06F0E5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CEA70-16C6-B7EF-22A9-E8E1F4994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32585-57D5-CB43-3C3F-1D59CCE06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we usually describe an SEM image of a 2D material?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4D317-C5E1-C651-2209-88E604F58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0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974E1-208D-977F-0EC8-AB5B8F42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D3A32-4044-B487-DD94-1AF6E98D4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53E0C-8950-79F7-3633-2E1B8C712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792C8-CF71-0F1D-EB28-3F9A19F26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4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1582F-C3E5-2FA4-7D47-C156B9B2D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CF190-D544-39B3-406D-8B53B4601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F7FF0-81D2-EFCC-D435-DADEAD138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1D3DB-ECEA-168A-A86C-18E6ADC4B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54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D2AF-F390-3963-B436-1904CB54A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97A65-9076-C25F-EA25-9CD8F7B29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B492A-6F23-8921-4C24-73633FD1B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79570-A1A0-9D1A-B695-D71CF9273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13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51B2-7134-C1FB-CA07-9163BF248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84502-B39F-209B-B032-3C049473F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5B458-4D61-A202-7DB8-0DB61AF9A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CF2C2-020F-C8B4-52A7-280F0B11B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58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9F29-CFE4-FC82-0248-356F5665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7498A-446A-6522-28A6-C251F4C4D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BD1C-DD82-B990-3B5B-09AD6AE31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FC614-C65B-B484-0C8D-2AAE10FE7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05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63EC1-FB24-E1C5-E44C-F459FA03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1A25F-A4FE-6E77-B055-33893F122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0A831-6811-278A-FE45-B9460A631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4E2B0-F86D-D935-0233-C5824D09F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94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04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250B-7BA2-81DC-1B28-43169E82B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EA5FF-5F6B-14CD-175B-F3F3FEE30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DC3F9-38C9-A0BF-D43E-8675D5B0D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50DEF-5BA5-8BC3-ED3D-36309D0750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95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32BDC-B614-4378-9399-C0C15323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2657C-B340-A498-150D-FD46CE7F1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3A35B-4551-F68E-495E-18DE14A02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F1C82-07B0-DD07-3DF8-1EE5D045D7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02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62A6-B22C-2F22-EAB3-6F12933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49E5A-FD51-F7A4-6DDF-EAAAF87EF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D2DC6-0B62-A1FD-A583-2B336E989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A2213-A28E-13FB-FD6D-C3E59344F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920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44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9F29-CFE4-FC82-0248-356F5665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7498A-446A-6522-28A6-C251F4C4D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BD1C-DD82-B990-3B5B-09AD6AE31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FC614-C65B-B484-0C8D-2AAE10FE7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69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C08E-36CA-3408-F0A5-E10C3020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FD348-771B-081F-17D8-DE61EBBA0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BF64D-ED13-D85A-94AF-A2D917823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618CC-1B76-C2D3-A9A0-99815CF26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00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36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E90D-DECB-D80B-4624-CC315A6A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0306D-E2FB-0E16-659E-2DB1FCEA0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C0931-ACA3-9DEA-3F86-92FDC200F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D84CF-9913-094B-12B7-208F99E82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95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6D65C-F598-2137-BD7C-959AE31C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F3FE5-F72D-D1AD-21BD-440482A47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EA6EB-3878-223E-E029-95A589DA6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7DE0B-91BA-3C0E-2380-7FC1314F9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654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6DB1E-CB0E-DB00-4269-D94F21D65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478E1-B4A6-DA34-D0A6-C8A5CA026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E2233-2B5E-F151-558A-6E29612B3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27175-B557-C73E-F19E-AB3C86C4C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60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EE92-4AF3-4D1C-A7C3-8EED02A3C521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96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F88C-8C21-45A1-B151-A4816695990A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6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6EB3-CE21-4811-B05E-164EC6F7BFD0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04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3CEB-5625-460D-8411-4BDC0E32BD23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7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E11D-279F-464B-AE25-98859C1ECB30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4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5ABA3-9AEF-4825-A155-2E50DD0E41C3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8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6393-A632-44F9-875C-D5352E673672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58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2B41-9644-4D49-8E49-FFEBF3D2ACC2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8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BB68-8E84-46E9-8DA2-CE92D9FC94E8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9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4A8F-FF59-44C2-9790-501FE01E8130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86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6FBEC-96F8-4B69-8AED-B1FA2A421011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0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01336-EC5A-43BC-8623-7E3D722401A7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2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o/36wrwwr47m0vifwe8wvnu/AF0F0pOW3Z0kwe34LtRxTuM?rlkey=2v16wbs3bq6vu81e4fph4nnok&amp;st=ibc5brxd&amp;dl=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itprod-my.sharepoint.com/:p:/g/personal/edchen93_mit_edu/EeBhIB1nFoVAlkqaQcClEtsBsYqwneUawGiF3oEFSIJpbg?e=pXUIMv" TargetMode="External"/><Relationship Id="rId4" Type="http://schemas.openxmlformats.org/officeDocument/2006/relationships/hyperlink" Target="https://docs.google.com/spreadsheets/d/1oJ1RdsqrisFb9jxFJyc4TyQTLStmKBVbRIwYu-NxrmI/edit?usp=shar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file:///D:\03_Temporary%20Locations\05_Output\Image%20Seg%20Demo_1080p.mp4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mitprod-my.sharepoint.com/:v:/g/personal/edchen93_mit_edu/EdLUAkMSnYlMtWSVRGX-xPUBTkQq_P5VeEwHplmuaEPHXA?e=gp4fr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gif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4.gi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26.jpg"/><Relationship Id="rId7" Type="http://schemas.openxmlformats.org/officeDocument/2006/relationships/image" Target="../media/image3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21.jp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4.jpeg"/><Relationship Id="rId7" Type="http://schemas.openxmlformats.org/officeDocument/2006/relationships/image" Target="../media/image42.jpe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46.png"/><Relationship Id="rId5" Type="http://schemas.openxmlformats.org/officeDocument/2006/relationships/image" Target="../media/image7.jpeg"/><Relationship Id="rId10" Type="http://schemas.openxmlformats.org/officeDocument/2006/relationships/image" Target="../media/image45.jpeg"/><Relationship Id="rId4" Type="http://schemas.openxmlformats.org/officeDocument/2006/relationships/image" Target="../media/image6.jpe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1400-E215-410A-BA10-189A09156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1783" y="462072"/>
            <a:ext cx="8628434" cy="720000"/>
          </a:xfrm>
        </p:spPr>
        <p:txBody>
          <a:bodyPr>
            <a:noAutofit/>
          </a:bodyPr>
          <a:lstStyle/>
          <a:p>
            <a:r>
              <a:rPr lang="en-US" altLang="zh-TW" sz="2800" b="1">
                <a:solidFill>
                  <a:schemeClr val="bg1"/>
                </a:solidFill>
              </a:rPr>
              <a:t>Machine Learning</a:t>
            </a:r>
            <a:r>
              <a:rPr lang="zh-TW" altLang="en-US" sz="2800" b="1">
                <a:solidFill>
                  <a:schemeClr val="bg1"/>
                </a:solidFill>
              </a:rPr>
              <a:t> </a:t>
            </a:r>
            <a:r>
              <a:rPr lang="en-US" altLang="zh-TW" sz="2800" b="1">
                <a:solidFill>
                  <a:schemeClr val="bg1"/>
                </a:solidFill>
              </a:rPr>
              <a:t>Examples in 2D Material Development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C2BF9-8D3A-4CF7-A5DC-0265C76A6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00" y="1347753"/>
            <a:ext cx="11424000" cy="56959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TW" sz="2000" dirty="0"/>
              <a:t>Collaboration - 02</a:t>
            </a:r>
            <a:r>
              <a:rPr lang="zh-TW" altLang="en-US" sz="2000" dirty="0"/>
              <a:t>　　　　</a:t>
            </a:r>
            <a:r>
              <a:rPr lang="en-US" altLang="zh-TW" sz="2000" dirty="0"/>
              <a:t>Meng-Chi (Ed) Chen</a:t>
            </a:r>
            <a:r>
              <a:rPr lang="zh-TW" altLang="en-US" sz="2000" dirty="0"/>
              <a:t>　　　　</a:t>
            </a:r>
            <a:r>
              <a:rPr lang="en-US" altLang="zh-TW" sz="2000" dirty="0"/>
              <a:t>NMEG, </a:t>
            </a:r>
            <a:fld id="{1EA241EC-0C85-4923-95D8-36E7DCB186C6}" type="datetime1">
              <a:rPr lang="en-US" sz="2000" smtClean="0"/>
              <a:pPr algn="ctr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t>2025-01-29</a:t>
            </a:fld>
            <a:endParaRPr lang="en-US" sz="2000" dirty="0"/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38034B-F66C-4EF9-B820-5F97E89A87EA}"/>
              </a:ext>
            </a:extLst>
          </p:cNvPr>
          <p:cNvSpPr/>
          <p:nvPr/>
        </p:nvSpPr>
        <p:spPr>
          <a:xfrm>
            <a:off x="360000" y="180000"/>
            <a:ext cx="11448000" cy="1080000"/>
          </a:xfrm>
          <a:prstGeom prst="rect">
            <a:avLst/>
          </a:prstGeo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Machine-Learning-Driven Numerical Analysis of SEM Images 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for Optimizing MOCVD-Grown MoS₂ Device Performance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68BC42-34C5-8A59-CAB0-DBBE9418245B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E4F0C3-0631-EC01-8B12-23F94CDC4097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B16896E-7A4D-65AF-8F95-188FDE66C77C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8A869C4-912F-9684-4695-ADE3141224E2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1FB2208-6418-E554-C77D-846143FD6B35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0E1DCD-AC92-9F9F-62E1-2C3AA2B164B0}"/>
              </a:ext>
            </a:extLst>
          </p:cNvPr>
          <p:cNvSpPr/>
          <p:nvPr/>
        </p:nvSpPr>
        <p:spPr>
          <a:xfrm>
            <a:off x="9841800" y="-729343"/>
            <a:ext cx="1512000" cy="252000"/>
          </a:xfrm>
          <a:prstGeom prst="roundRect">
            <a:avLst/>
          </a:prstGeom>
          <a:noFill/>
          <a:ln w="63500">
            <a:solidFill>
              <a:srgbClr val="FFFF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C7A98C-CE04-C604-B77E-3932ADC05833}"/>
              </a:ext>
            </a:extLst>
          </p:cNvPr>
          <p:cNvSpPr/>
          <p:nvPr/>
        </p:nvSpPr>
        <p:spPr>
          <a:xfrm>
            <a:off x="4254150" y="-729343"/>
            <a:ext cx="2817210" cy="252000"/>
          </a:xfrm>
          <a:prstGeom prst="roundRect">
            <a:avLst/>
          </a:prstGeom>
          <a:noFill/>
          <a:ln w="63500">
            <a:solidFill>
              <a:srgbClr val="FFFF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0C545B-B0A5-FCEE-3DAF-7B0CCA6D90BD}"/>
              </a:ext>
            </a:extLst>
          </p:cNvPr>
          <p:cNvSpPr txBox="1"/>
          <p:nvPr/>
        </p:nvSpPr>
        <p:spPr>
          <a:xfrm>
            <a:off x="360000" y="-729343"/>
            <a:ext cx="2061783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Dimension:2.4, 31.5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68A4C8-E9CE-7165-2561-1EF30BE11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3D171-76CC-4847-896C-FFFFD0A8EAA8}" type="datetime1">
              <a:rPr lang="en-US" smtClean="0"/>
              <a:t>2025-01-29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A6C35B-3DC4-0B0A-84D1-179B2F1F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BE874AC-9C96-A995-8FF9-71B75235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423A4-98CD-C718-BB97-8E7FF4D0A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17181" y="1347752"/>
            <a:ext cx="5544920" cy="47244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9CF329C-35F3-8EFC-D84B-D0B1E3ED76AC}"/>
              </a:ext>
            </a:extLst>
          </p:cNvPr>
          <p:cNvGrpSpPr/>
          <p:nvPr/>
        </p:nvGrpSpPr>
        <p:grpSpPr>
          <a:xfrm>
            <a:off x="1281512" y="1863194"/>
            <a:ext cx="10374194" cy="3690210"/>
            <a:chOff x="1281512" y="1863194"/>
            <a:chExt cx="10374194" cy="369021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0CE5F29-3B06-3CFA-398D-1FE62D6E4278}"/>
                </a:ext>
              </a:extLst>
            </p:cNvPr>
            <p:cNvSpPr/>
            <p:nvPr/>
          </p:nvSpPr>
          <p:spPr>
            <a:xfrm>
              <a:off x="1281512" y="2296438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Recipe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4DA82A9-A0EE-4C6D-7B76-D2C47D2A9276}"/>
                </a:ext>
              </a:extLst>
            </p:cNvPr>
            <p:cNvGrpSpPr/>
            <p:nvPr/>
          </p:nvGrpSpPr>
          <p:grpSpPr>
            <a:xfrm>
              <a:off x="2115599" y="2636059"/>
              <a:ext cx="1800000" cy="432000"/>
              <a:chOff x="2103474" y="2128175"/>
              <a:chExt cx="1800000" cy="432000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48210DCE-A99E-0413-A3E0-CE24EB66C8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2236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D103E60E-5ED1-6F24-E6CC-742C396F6349}"/>
                  </a:ext>
                </a:extLst>
              </p:cNvPr>
              <p:cNvSpPr/>
              <p:nvPr/>
            </p:nvSpPr>
            <p:spPr>
              <a:xfrm>
                <a:off x="2103474" y="2128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Synthesis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150E339-3068-D889-5B33-4EF830A6EEC8}"/>
                </a:ext>
              </a:extLst>
            </p:cNvPr>
            <p:cNvSpPr/>
            <p:nvPr/>
          </p:nvSpPr>
          <p:spPr>
            <a:xfrm>
              <a:off x="1281512" y="3011680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Sample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8C188FE-16B9-BCDE-7C23-CAE6B86CA063}"/>
                </a:ext>
              </a:extLst>
            </p:cNvPr>
            <p:cNvSpPr/>
            <p:nvPr/>
          </p:nvSpPr>
          <p:spPr>
            <a:xfrm>
              <a:off x="1281512" y="3726922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chemeClr val="tx1"/>
                  </a:solidFill>
                </a:rPr>
                <a:t>SEM</a:t>
              </a:r>
              <a:r>
                <a:rPr lang="zh-TW" altLang="en-US" sz="2000" b="1" dirty="0">
                  <a:solidFill>
                    <a:schemeClr val="tx1"/>
                  </a:solidFill>
                </a:rPr>
                <a:t> </a:t>
              </a:r>
              <a:r>
                <a:rPr lang="en-US" altLang="zh-TW" sz="2000" b="1" dirty="0">
                  <a:solidFill>
                    <a:schemeClr val="tx1"/>
                  </a:solidFill>
                </a:rPr>
                <a:t>Image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5BAC93C-0A90-6D0A-7C4B-CF2684D52E2F}"/>
                </a:ext>
              </a:extLst>
            </p:cNvPr>
            <p:cNvGrpSpPr/>
            <p:nvPr/>
          </p:nvGrpSpPr>
          <p:grpSpPr>
            <a:xfrm>
              <a:off x="2115599" y="3351301"/>
              <a:ext cx="1800000" cy="432000"/>
              <a:chOff x="2103474" y="3136175"/>
              <a:chExt cx="1800000" cy="432000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9E460B26-83E1-A3A0-6759-66F726084823}"/>
                  </a:ext>
                </a:extLst>
              </p:cNvPr>
              <p:cNvSpPr/>
              <p:nvPr/>
            </p:nvSpPr>
            <p:spPr>
              <a:xfrm>
                <a:off x="2103474" y="3136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Characterization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EDF6A8C-487B-CF94-971A-C151189E0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3244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EC90B55-6F3A-F3F4-5EFA-D8CC5A32C6FC}"/>
                </a:ext>
              </a:extLst>
            </p:cNvPr>
            <p:cNvSpPr/>
            <p:nvPr/>
          </p:nvSpPr>
          <p:spPr>
            <a:xfrm>
              <a:off x="1281512" y="4442164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Device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66AE043-D861-41AF-D8F3-2FD9276772A9}"/>
                </a:ext>
              </a:extLst>
            </p:cNvPr>
            <p:cNvGrpSpPr/>
            <p:nvPr/>
          </p:nvGrpSpPr>
          <p:grpSpPr>
            <a:xfrm>
              <a:off x="2115599" y="4066543"/>
              <a:ext cx="1800000" cy="432000"/>
              <a:chOff x="2103474" y="4144175"/>
              <a:chExt cx="1800000" cy="432000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2AFC250E-D0B6-873E-A669-761AE986AE41}"/>
                  </a:ext>
                </a:extLst>
              </p:cNvPr>
              <p:cNvSpPr/>
              <p:nvPr/>
            </p:nvSpPr>
            <p:spPr>
              <a:xfrm>
                <a:off x="2103474" y="4144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b="1" dirty="0">
                    <a:solidFill>
                      <a:schemeClr val="tx1"/>
                    </a:solidFill>
                  </a:rPr>
                  <a:t>Fabrication</a:t>
                </a:r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8C16BF1-AD6C-60AE-D39E-81F599AF15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4252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8034DF26-9E06-1219-7B33-7EB0B72D8EBA}"/>
                </a:ext>
              </a:extLst>
            </p:cNvPr>
            <p:cNvSpPr/>
            <p:nvPr/>
          </p:nvSpPr>
          <p:spPr>
            <a:xfrm>
              <a:off x="1281512" y="5157404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Performance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BE076E-FB60-0FFA-E6D3-07102FA09242}"/>
                </a:ext>
              </a:extLst>
            </p:cNvPr>
            <p:cNvGrpSpPr/>
            <p:nvPr/>
          </p:nvGrpSpPr>
          <p:grpSpPr>
            <a:xfrm>
              <a:off x="2115599" y="4781785"/>
              <a:ext cx="1800000" cy="432000"/>
              <a:chOff x="2103474" y="5152175"/>
              <a:chExt cx="1800000" cy="43200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1699D8C9-00BB-895E-3B74-D0080026E0E7}"/>
                  </a:ext>
                </a:extLst>
              </p:cNvPr>
              <p:cNvSpPr/>
              <p:nvPr/>
            </p:nvSpPr>
            <p:spPr>
              <a:xfrm>
                <a:off x="2103474" y="5152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Measurement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E7B6B80-CCE7-E2CC-684C-3239E5AF10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5260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43D52D0-DF50-F52F-9FC2-03C1B712B7CF}"/>
                </a:ext>
              </a:extLst>
            </p:cNvPr>
            <p:cNvSpPr/>
            <p:nvPr/>
          </p:nvSpPr>
          <p:spPr>
            <a:xfrm>
              <a:off x="6295821" y="2296438"/>
              <a:ext cx="5359885" cy="3256964"/>
            </a:xfrm>
            <a:prstGeom prst="roundRect">
              <a:avLst>
                <a:gd name="adj" fmla="val 7434"/>
              </a:avLst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600"/>
                </a:lnSpc>
              </a:pPr>
              <a:r>
                <a:rPr lang="en-US" altLang="zh-TW" sz="2400" b="1" dirty="0">
                  <a:solidFill>
                    <a:schemeClr val="tx1"/>
                  </a:solidFill>
                </a:rPr>
                <a:t>SEM Image</a:t>
              </a:r>
              <a:r>
                <a:rPr lang="zh-TW" altLang="en-US" sz="2400" b="1" dirty="0">
                  <a:solidFill>
                    <a:schemeClr val="tx1"/>
                  </a:solidFill>
                </a:rPr>
                <a:t> </a:t>
              </a:r>
              <a:r>
                <a:rPr lang="en-US" altLang="zh-TW" sz="2400" b="1" dirty="0">
                  <a:solidFill>
                    <a:schemeClr val="tx1"/>
                  </a:solidFill>
                </a:rPr>
                <a:t>Numerical </a:t>
              </a:r>
              <a:r>
                <a:rPr lang="en-US" sz="2400" b="1" dirty="0">
                  <a:solidFill>
                    <a:schemeClr val="tx1"/>
                  </a:solidFill>
                </a:rPr>
                <a:t>Representation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Coverage calculation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Scale mark extraction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Average grain size calculation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Nucleation density calculation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Circumference calculation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Background noise representation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5E735A2-8911-A44E-52B6-6E4A5A96220F}"/>
                </a:ext>
              </a:extLst>
            </p:cNvPr>
            <p:cNvSpPr/>
            <p:nvPr/>
          </p:nvSpPr>
          <p:spPr>
            <a:xfrm>
              <a:off x="3626356" y="3659073"/>
              <a:ext cx="2449243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Computer Vision</a:t>
              </a:r>
            </a:p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Analysis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B8B1AAA1-7BFD-B426-1885-784558EDAC48}"/>
                </a:ext>
              </a:extLst>
            </p:cNvPr>
            <p:cNvSpPr/>
            <p:nvPr/>
          </p:nvSpPr>
          <p:spPr>
            <a:xfrm>
              <a:off x="3950977" y="4962353"/>
              <a:ext cx="1800000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Prediction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933D808-B8F3-F917-9F8A-98F63F1B0B26}"/>
                </a:ext>
              </a:extLst>
            </p:cNvPr>
            <p:cNvSpPr/>
            <p:nvPr/>
          </p:nvSpPr>
          <p:spPr>
            <a:xfrm>
              <a:off x="3273951" y="2078106"/>
              <a:ext cx="3154052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Recipe Optimization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FDB7F2A-06F1-365C-4C4C-BCFCDAC1DB02}"/>
                </a:ext>
              </a:extLst>
            </p:cNvPr>
            <p:cNvSpPr txBox="1"/>
            <p:nvPr/>
          </p:nvSpPr>
          <p:spPr>
            <a:xfrm flipH="1">
              <a:off x="5896180" y="3472103"/>
              <a:ext cx="4073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✓</a:t>
              </a:r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2129A58-240A-ABC2-1B61-4CD3FDCBA251}"/>
                </a:ext>
              </a:extLst>
            </p:cNvPr>
            <p:cNvSpPr txBox="1"/>
            <p:nvPr/>
          </p:nvSpPr>
          <p:spPr>
            <a:xfrm>
              <a:off x="5896353" y="4941673"/>
              <a:ext cx="656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</a:rPr>
                <a:t>△</a:t>
              </a:r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DD410D9-B03D-B772-6B65-ADE1C5E03843}"/>
                </a:ext>
              </a:extLst>
            </p:cNvPr>
            <p:cNvSpPr txBox="1"/>
            <p:nvPr/>
          </p:nvSpPr>
          <p:spPr>
            <a:xfrm>
              <a:off x="5896353" y="1863194"/>
              <a:ext cx="656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</a:rPr>
                <a:t>△</a:t>
              </a:r>
              <a:endParaRPr lang="en-US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6F81F76-91C9-F9E0-4C2E-8750242FF28F}"/>
                </a:ext>
              </a:extLst>
            </p:cNvPr>
            <p:cNvCxnSpPr>
              <a:cxnSpLocks/>
            </p:cNvCxnSpPr>
            <p:nvPr/>
          </p:nvCxnSpPr>
          <p:spPr>
            <a:xfrm>
              <a:off x="3590977" y="3904102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18461E6-FB7E-C7F4-7DB9-CCD077B8B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0977" y="5347156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3361C25-18C5-151A-B0C8-53A9CB345D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0977" y="2484081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3133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660A92-C75A-FE23-2403-A68198D4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643A-3263-8DA4-B138-C65BE382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0000"/>
            <a:ext cx="3600000" cy="646331"/>
          </a:xfrm>
          <a:solidFill>
            <a:srgbClr val="F5C5C5">
              <a:alpha val="29804"/>
            </a:srgbClr>
          </a:solidFill>
          <a:ln w="38100">
            <a:solidFill>
              <a:srgbClr val="BEBEBE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800" b="1"/>
              <a:t>Project Control Table</a:t>
            </a:r>
            <a:endParaRPr lang="en-US" sz="1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21FBF-6A71-91A7-A80E-BC5F02295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440000"/>
            <a:ext cx="11448000" cy="5040000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400">
                <a:effectLst/>
                <a:latin typeface="Noto Sans Symbols"/>
                <a:ea typeface="Noto Sans Symbols"/>
                <a:cs typeface="Noto Sans Symbols"/>
              </a:rPr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65B38B-0B92-F37E-B769-86E2E2EE2AB7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DF9ACC1-A6AB-94AC-D912-CC65CB4AC15D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A3CC3B8-9457-640E-35B9-B70CBECE2969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FF7A99-2ED6-5E34-59AC-A9A593C981DF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4FF0AC3-7C2D-1998-F443-88674DFAF469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A97412A-BDB2-5E00-495D-79DB96FB44A4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BA0EE0C-1652-0E17-A93D-B8B054A0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85AEE64-771A-4E6B-184B-F66943DD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558E53F-549F-6D71-BFC1-343FD5C1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C3EFB3F-24DD-5015-9434-4CDFF93E3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197307"/>
              </p:ext>
            </p:extLst>
          </p:nvPr>
        </p:nvGraphicFramePr>
        <p:xfrm>
          <a:off x="696000" y="1089343"/>
          <a:ext cx="10800000" cy="4622193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356925553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68673515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985722879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386734883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/>
                        <a:t>Content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/>
                        <a:t>Brief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/>
                        <a:t>Type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/>
                        <a:t>Link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63875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TMD CV Analysis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 data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85FFD"/>
                          </a:highlight>
                          <a:latin typeface="Arial" panose="020B0604020202020204" pitchFamily="34" charset="0"/>
                        </a:rPr>
                        <a:t>Dropbox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5F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sng" strike="noStrike" dirty="0">
                          <a:solidFill>
                            <a:srgbClr val="467886"/>
                          </a:solidFill>
                          <a:effectLst/>
                          <a:latin typeface="Aptos Narrow" panose="020B0004020202020204" pitchFamily="34" charset="0"/>
                          <a:hlinkClick r:id="rId3"/>
                        </a:rPr>
                        <a:t>https://www.dropbox.com/scl/fo/36wrwwr47m0vifwe8wvnu/AF0F0pOW3Z0kwe34LtRxTuM?rlkey=2v16wbs3bq6vu81e4fph4nnok&amp;st=ibc5brxd&amp;dl=0</a:t>
                      </a:r>
                      <a:endParaRPr lang="en-US" sz="1200" b="0" i="0" u="sng" strike="noStrike" dirty="0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95694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MoS2 Material and Performance Characterization 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 recipe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D58"/>
                          </a:highlight>
                          <a:latin typeface="Arial" panose="020B0604020202020204" pitchFamily="34" charset="0"/>
                        </a:rPr>
                        <a:t>Google Sheet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https://docs.google.com/spreadsheets/d/1oJ1RdsqrisFb9jxFJyc4TyQTLStmKBVbRIwYu-NxrmI/edit?usp=sharing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b"/>
                      <a:endParaRPr lang="en-US" sz="1200" b="0" i="0" u="sng" strike="noStrike" dirty="0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96467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4285F4"/>
                          </a:highlight>
                          <a:latin typeface="Arial" panose="020B0604020202020204" pitchFamily="34" charset="0"/>
                        </a:rPr>
                        <a:t>.docx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54797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2024-0828_SEM Image Seg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Presentation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D35230"/>
                          </a:highlight>
                          <a:latin typeface="Aptos Narrow" panose="020B0004020202020204" pitchFamily="34" charset="0"/>
                        </a:rPr>
                        <a:t>.pptx</a:t>
                      </a: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52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>
                          <a:hlinkClick r:id="rId5"/>
                        </a:rPr>
                        <a:t>https://mitprod-my.sharepoint.com/:p:/g/personal/edchen93_mit_edu/EeBhIB1nFoVAlkqaQcClEtsBsYqwneUawGiF3oEFSIJpbg?e=pXUIMv</a:t>
                      </a:r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71473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085FFD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5F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18948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085FFD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5F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23972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b="1">
                        <a:solidFill>
                          <a:schemeClr val="bg1"/>
                        </a:solidFill>
                      </a:endParaRPr>
                    </a:p>
                  </a:txBody>
                  <a:tcPr marL="2673" marR="2673" marT="26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64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sng" strike="noStrike" dirty="0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25207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A01DB549-2D55-E85B-600B-9800B3AB3465}"/>
              </a:ext>
            </a:extLst>
          </p:cNvPr>
          <p:cNvSpPr/>
          <p:nvPr/>
        </p:nvSpPr>
        <p:spPr>
          <a:xfrm>
            <a:off x="13075557" y="2422573"/>
            <a:ext cx="1173480" cy="4313262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7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B57C71-D298-2FE8-6E04-0620E4831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6393-A632-44F9-875C-D5352E673672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25DCD3-D4AE-2325-EC1F-DF6A1E1D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404A0-1DBE-D70B-3089-F71B5871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DC8D15C0-4C92-7DC7-9CBC-255D554C7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15" y="685800"/>
            <a:ext cx="10073170" cy="449588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5D0C7D-A464-DC69-87AE-705F5262BFA3}"/>
              </a:ext>
            </a:extLst>
          </p:cNvPr>
          <p:cNvCxnSpPr/>
          <p:nvPr/>
        </p:nvCxnSpPr>
        <p:spPr>
          <a:xfrm>
            <a:off x="6286500" y="314325"/>
            <a:ext cx="0" cy="5295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AB77BC-3459-0B54-46D7-444C246D79F8}"/>
              </a:ext>
            </a:extLst>
          </p:cNvPr>
          <p:cNvSpPr txBox="1"/>
          <p:nvPr/>
        </p:nvSpPr>
        <p:spPr>
          <a:xfrm>
            <a:off x="6400800" y="31646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r>
              <a:rPr lang="zh-TW" altLang="en-US" dirty="0"/>
              <a:t> </a:t>
            </a:r>
            <a:r>
              <a:rPr lang="en-US" altLang="zh-TW" dirty="0" err="1"/>
              <a:t>hr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FBE2C7-198D-A154-C9C8-EE13940D86FC}"/>
              </a:ext>
            </a:extLst>
          </p:cNvPr>
          <p:cNvSpPr txBox="1"/>
          <p:nvPr/>
        </p:nvSpPr>
        <p:spPr>
          <a:xfrm>
            <a:off x="1162134" y="31646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 err="1"/>
              <a:t>hr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E238C-B4FE-9E73-7D4F-C2C8ED80E069}"/>
              </a:ext>
            </a:extLst>
          </p:cNvPr>
          <p:cNvSpPr txBox="1"/>
          <p:nvPr/>
        </p:nvSpPr>
        <p:spPr>
          <a:xfrm>
            <a:off x="271827" y="3442732"/>
            <a:ext cx="787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Ignore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D0651-9690-A362-B49E-3BB15774D8A9}"/>
              </a:ext>
            </a:extLst>
          </p:cNvPr>
          <p:cNvSpPr txBox="1"/>
          <p:nvPr/>
        </p:nvSpPr>
        <p:spPr>
          <a:xfrm>
            <a:off x="11250661" y="3073400"/>
            <a:ext cx="525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NA.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EA9E36-BFAC-D8E9-1BAE-4FE5A95BB188}"/>
              </a:ext>
            </a:extLst>
          </p:cNvPr>
          <p:cNvSpPr/>
          <p:nvPr/>
        </p:nvSpPr>
        <p:spPr>
          <a:xfrm>
            <a:off x="665621" y="685800"/>
            <a:ext cx="10688172" cy="2946400"/>
          </a:xfrm>
          <a:prstGeom prst="roundRect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7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D1D45-2500-356A-40A9-4DAB414B8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D42C7-E8FD-6EF5-B5A2-4E9F8AF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000"/>
            <a:ext cx="11448000" cy="648000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altLang="zh-TW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How to describe an SEM image of a 2D material?</a:t>
            </a:r>
            <a:endParaRPr lang="en-US" sz="2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ECDCCDA-BB7E-B074-1C20-336EE4828B70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F149842-6CC6-03EF-8937-031057F1A910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1335AC2-6F87-6CC5-A6EB-41B515599E8D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63A4945-B0E0-AA98-5537-E88105A3DE13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CBC2C8-88A9-B7A1-6A90-A69B908B996C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2B22D9A-98ED-3D07-2DAB-46D833FA9206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352F445-3E71-4C55-73D7-42D28FE9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A93E67F-A9C4-045A-F70C-4F4B7B2E1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BEE833D-6E3C-0C87-9EED-EC0BD195A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4</a:t>
            </a:fld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001D3E9-CD8C-D12F-68CA-8C542C198217}"/>
              </a:ext>
            </a:extLst>
          </p:cNvPr>
          <p:cNvSpPr/>
          <p:nvPr/>
        </p:nvSpPr>
        <p:spPr>
          <a:xfrm>
            <a:off x="1459206" y="7926175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0549E1-1F4C-B3C2-476D-3B11788E8DCC}"/>
              </a:ext>
            </a:extLst>
          </p:cNvPr>
          <p:cNvSpPr/>
          <p:nvPr/>
        </p:nvSpPr>
        <p:spPr>
          <a:xfrm>
            <a:off x="2342474" y="8541681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33E6B81-E33B-858F-1443-CF09ABE0BF7E}"/>
              </a:ext>
            </a:extLst>
          </p:cNvPr>
          <p:cNvSpPr/>
          <p:nvPr/>
        </p:nvSpPr>
        <p:spPr>
          <a:xfrm>
            <a:off x="14529624" y="6132512"/>
            <a:ext cx="812800" cy="8128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905DF83-F1C6-72D9-29EB-8F17D88FA998}"/>
              </a:ext>
            </a:extLst>
          </p:cNvPr>
          <p:cNvSpPr/>
          <p:nvPr/>
        </p:nvSpPr>
        <p:spPr>
          <a:xfrm>
            <a:off x="13670126" y="5726112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F260FEA5-76D4-AEFA-AA57-D1C4465E9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121688"/>
                <a:ext cx="10601446" cy="523466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ts val="36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1" dirty="0"/>
                  <a:t>Coverage</a:t>
                </a:r>
                <a:r>
                  <a:rPr lang="en-US" dirty="0"/>
                  <a:t>: Percentage of area covered by crystal.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 (Unit: %)</a:t>
                </a:r>
              </a:p>
              <a:p>
                <a:pPr>
                  <a:lnSpc>
                    <a:spcPts val="36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1" dirty="0"/>
                  <a:t>Grain size</a:t>
                </a:r>
                <a:r>
                  <a:rPr lang="en-US" dirty="0"/>
                  <a:t>: Size of individual crystal. 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(Unit: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)</a:t>
                </a:r>
                <a:endParaRPr lang="en-US" b="1" dirty="0"/>
              </a:p>
              <a:p>
                <a:pPr>
                  <a:lnSpc>
                    <a:spcPts val="36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1" dirty="0"/>
                  <a:t>Nucleation density</a:t>
                </a:r>
                <a:r>
                  <a:rPr lang="en-US" dirty="0"/>
                  <a:t>: Number of crystal in unit area.</a:t>
                </a: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 (Unit: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)</a:t>
                </a:r>
                <a:endParaRPr lang="en-US" dirty="0"/>
              </a:p>
              <a:p>
                <a:pPr>
                  <a:lnSpc>
                    <a:spcPts val="36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1" dirty="0"/>
                  <a:t>Shape</a:t>
                </a:r>
                <a:r>
                  <a:rPr lang="en-US" dirty="0"/>
                  <a:t>: Shape of crystal.</a:t>
                </a:r>
              </a:p>
              <a:p>
                <a:pPr>
                  <a:lnSpc>
                    <a:spcPts val="36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1" dirty="0"/>
                  <a:t>Impurity</a:t>
                </a:r>
                <a:r>
                  <a:rPr lang="en-US" dirty="0"/>
                  <a:t>: Precursor residuals or other small crystals.</a:t>
                </a:r>
              </a:p>
              <a:p>
                <a:pPr>
                  <a:lnSpc>
                    <a:spcPts val="36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b="1" dirty="0"/>
                  <a:t>Orientation</a:t>
                </a:r>
                <a:r>
                  <a:rPr lang="en-US" dirty="0"/>
                  <a:t>: Direction of crystals.</a:t>
                </a:r>
              </a:p>
              <a:p>
                <a:pPr>
                  <a:lnSpc>
                    <a:spcPts val="3600"/>
                  </a:lnSpc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… More</a:t>
                </a:r>
              </a:p>
            </p:txBody>
          </p:sp>
        </mc:Choice>
        <mc:Fallback xmlns="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F260FEA5-76D4-AEFA-AA57-D1C4465E9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121688"/>
                <a:ext cx="10601446" cy="5234662"/>
              </a:xfrm>
              <a:blipFill>
                <a:blip r:embed="rId3"/>
                <a:stretch>
                  <a:fillRect l="-1035" t="-931" b="-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E0557948-747A-615A-C6B3-FD7036544FAA}"/>
              </a:ext>
            </a:extLst>
          </p:cNvPr>
          <p:cNvSpPr txBox="1">
            <a:spLocks/>
          </p:cNvSpPr>
          <p:nvPr/>
        </p:nvSpPr>
        <p:spPr>
          <a:xfrm>
            <a:off x="360000" y="4661059"/>
            <a:ext cx="11448000" cy="1695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endParaRPr lang="en-US" dirty="0"/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99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B1EBA-A117-00FE-0E8C-085BF8B8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7909-6BAE-7241-BAEB-6728C7F80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000"/>
            <a:ext cx="11448000" cy="648000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altLang="zh-TW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How to get these information?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A44692-0CFA-2EFF-0F62-D9188ECE3890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320A174-AC39-FB41-D3E1-1874013E7F91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47B318B-EC56-BA00-58F9-7E2E9BAF5414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ACE85F4-621F-9426-8F29-4A3B0530B46E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E0BFF85-91C3-B810-C02C-0E534678E99A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EF9EED2-91A8-3FA0-DCD0-82949BA8EBF5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F96D877-1131-E360-F1F8-C978A658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D425C67-7D6D-47C7-EB2F-634B8565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18DF378-7B29-73C7-E5B5-52019F1A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5</a:t>
            </a:fld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ED46612-3375-DB4F-E354-00C9F9E34C9E}"/>
              </a:ext>
            </a:extLst>
          </p:cNvPr>
          <p:cNvSpPr/>
          <p:nvPr/>
        </p:nvSpPr>
        <p:spPr>
          <a:xfrm>
            <a:off x="1459206" y="7926175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03482AC-AE4C-E67C-2BB8-876884D7A37C}"/>
              </a:ext>
            </a:extLst>
          </p:cNvPr>
          <p:cNvSpPr/>
          <p:nvPr/>
        </p:nvSpPr>
        <p:spPr>
          <a:xfrm>
            <a:off x="2342474" y="8541681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4B7317D-4A99-AE79-5D3A-ED3D71305D3C}"/>
              </a:ext>
            </a:extLst>
          </p:cNvPr>
          <p:cNvSpPr/>
          <p:nvPr/>
        </p:nvSpPr>
        <p:spPr>
          <a:xfrm>
            <a:off x="14529624" y="6132512"/>
            <a:ext cx="812800" cy="8128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A1297EA-780D-1CBC-D780-E8679EAC2704}"/>
              </a:ext>
            </a:extLst>
          </p:cNvPr>
          <p:cNvSpPr/>
          <p:nvPr/>
        </p:nvSpPr>
        <p:spPr>
          <a:xfrm>
            <a:off x="13670126" y="5726112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F185F136-1290-03E8-D005-669E25878CCB}"/>
              </a:ext>
            </a:extLst>
          </p:cNvPr>
          <p:cNvSpPr txBox="1">
            <a:spLocks/>
          </p:cNvSpPr>
          <p:nvPr/>
        </p:nvSpPr>
        <p:spPr>
          <a:xfrm>
            <a:off x="360000" y="4661059"/>
            <a:ext cx="11448000" cy="1695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endParaRPr lang="en-US" dirty="0"/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9A67C-1E09-1288-DF4B-FB09F3620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012"/>
            <a:ext cx="10515600" cy="4869951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ImageJ (or other scientific software for microscopic image processing) </a:t>
            </a:r>
          </a:p>
          <a:p>
            <a:pPr lvl="1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Require multiple steps of settings and adjustments.</a:t>
            </a:r>
          </a:p>
          <a:p>
            <a:pPr lvl="1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Some of our desired function are not exist (or require excessive post process).</a:t>
            </a:r>
          </a:p>
          <a:p>
            <a:pPr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Python</a:t>
            </a:r>
          </a:p>
          <a:p>
            <a:pPr lvl="1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Customize the field-specific needs.</a:t>
            </a:r>
          </a:p>
          <a:p>
            <a:pPr lvl="1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Streamline the process. </a:t>
            </a:r>
          </a:p>
          <a:p>
            <a:pPr lvl="1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endParaRPr lang="en-US" sz="28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065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1D42A-BDC9-7A77-86B8-2AE172317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8031FD5-7C96-E286-D849-63B0DCFA222A}"/>
              </a:ext>
            </a:extLst>
          </p:cNvPr>
          <p:cNvSpPr txBox="1">
            <a:spLocks/>
          </p:cNvSpPr>
          <p:nvPr/>
        </p:nvSpPr>
        <p:spPr>
          <a:xfrm>
            <a:off x="6227180" y="1447792"/>
            <a:ext cx="5583320" cy="3263104"/>
          </a:xfrm>
          <a:prstGeom prst="rect">
            <a:avLst/>
          </a:prstGeom>
          <a:solidFill>
            <a:srgbClr val="F5F5DC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Pixel per um (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sclbar_text, pixel_length_sclbar, pixels_per_um).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Coverage (pct_black, pct_white).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(cnt_seg_success)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Nucleation density (nd_per_sqnm)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Grain size (avg_gs_squm, std_gs_squm)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Circumference (avg_circumf_um, std_circumf_um)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Cricumference square to area ratio (avg_csar, std_csar)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noise (avg_bkgd_pixel, std_bkgd_pixel)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C342B-47CE-FA53-43E6-4076AEC96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720" y="406899"/>
            <a:ext cx="5047543" cy="720000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TW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Execution Steps</a:t>
            </a:r>
            <a:endParaRPr lang="en-US" sz="2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D341A32-E634-79FB-31A0-BA2DCB4A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87E123A-FCAF-D376-69F9-3C2F69F1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CAFC005-F61A-A9F3-6732-6F24979E7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A69AB1-9435-49A5-00E6-A84507BFA855}"/>
              </a:ext>
            </a:extLst>
          </p:cNvPr>
          <p:cNvGrpSpPr/>
          <p:nvPr/>
        </p:nvGrpSpPr>
        <p:grpSpPr>
          <a:xfrm>
            <a:off x="-6716985" y="-5738137"/>
            <a:ext cx="25625970" cy="1833427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8D5F7E0-35F6-789B-01B6-EFBB001CA362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EB6CC87-8B03-F09D-6A53-9EC84CCAE008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6DD8514-9E2E-72ED-8AA0-312ECFBFA2FE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2AEE96A-69AA-CA7E-7433-F2C1A4626371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C352A82-2977-3EA3-72C5-241C30A9E0EB}"/>
              </a:ext>
            </a:extLst>
          </p:cNvPr>
          <p:cNvSpPr txBox="1"/>
          <p:nvPr/>
        </p:nvSpPr>
        <p:spPr>
          <a:xfrm>
            <a:off x="360088" y="-729333"/>
            <a:ext cx="1789272" cy="61581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1" dirty="0"/>
              <a:t>Dimension:3, 31.8</a:t>
            </a:r>
          </a:p>
          <a:p>
            <a:r>
              <a:rPr lang="en-US" sz="1701" dirty="0"/>
              <a:t>Position: 1, 0.5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5C028F-277A-D10E-C124-743A59CECA70}"/>
              </a:ext>
            </a:extLst>
          </p:cNvPr>
          <p:cNvSpPr txBox="1"/>
          <p:nvPr/>
        </p:nvSpPr>
        <p:spPr>
          <a:xfrm>
            <a:off x="7587205" y="6537483"/>
            <a:ext cx="4462040" cy="259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000" b="0" dirty="0" err="1">
                <a:effectLst/>
                <a:latin typeface="Consolas" panose="020B0609020204030204" pitchFamily="49" charset="0"/>
              </a:rPr>
              <a:t>enh_cliplmt</a:t>
            </a:r>
            <a:r>
              <a:rPr lang="en-US" sz="1000" b="0" dirty="0">
                <a:effectLst/>
                <a:latin typeface="Consolas" panose="020B0609020204030204" pitchFamily="49" charset="0"/>
              </a:rPr>
              <a:t>=2, </a:t>
            </a:r>
            <a:r>
              <a:rPr lang="en-US" sz="1000" b="0" dirty="0" err="1">
                <a:effectLst/>
                <a:latin typeface="Consolas" panose="020B0609020204030204" pitchFamily="49" charset="0"/>
              </a:rPr>
              <a:t>enh_tileGrid</a:t>
            </a:r>
            <a:r>
              <a:rPr lang="en-US" sz="1000" b="0" dirty="0">
                <a:effectLst/>
                <a:latin typeface="Consolas" panose="020B0609020204030204" pitchFamily="49" charset="0"/>
              </a:rPr>
              <a:t>=8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A84E8E55-1D10-F124-963E-BEDB79C44285}"/>
              </a:ext>
            </a:extLst>
          </p:cNvPr>
          <p:cNvSpPr txBox="1">
            <a:spLocks/>
          </p:cNvSpPr>
          <p:nvPr/>
        </p:nvSpPr>
        <p:spPr>
          <a:xfrm>
            <a:off x="6429220" y="406899"/>
            <a:ext cx="5047543" cy="720000"/>
          </a:xfrm>
          <a:prstGeom prst="rect">
            <a:avLst/>
          </a:prstGeo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Numerical Representation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FD0138-AE22-2DC1-4737-12427457ADBE}"/>
              </a:ext>
            </a:extLst>
          </p:cNvPr>
          <p:cNvCxnSpPr>
            <a:cxnSpLocks/>
          </p:cNvCxnSpPr>
          <p:nvPr/>
        </p:nvCxnSpPr>
        <p:spPr>
          <a:xfrm>
            <a:off x="4722471" y="1647321"/>
            <a:ext cx="1373529" cy="0"/>
          </a:xfrm>
          <a:prstGeom prst="straightConnector1">
            <a:avLst/>
          </a:prstGeom>
          <a:ln w="25400">
            <a:solidFill>
              <a:srgbClr val="DCDA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17763909-C1A2-01A9-294D-456602022669}"/>
              </a:ext>
            </a:extLst>
          </p:cNvPr>
          <p:cNvSpPr/>
          <p:nvPr/>
        </p:nvSpPr>
        <p:spPr>
          <a:xfrm>
            <a:off x="6095483" y="2486966"/>
            <a:ext cx="255521" cy="2032487"/>
          </a:xfrm>
          <a:prstGeom prst="leftBracket">
            <a:avLst/>
          </a:prstGeom>
          <a:ln w="25400">
            <a:solidFill>
              <a:srgbClr val="DCDA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5D46-913B-53B6-6789-2E2AC9B7A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84" y="1447792"/>
            <a:ext cx="5715016" cy="495279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scale bar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info from SEM image.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Convent SEM image to grayscale.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Crop out the center square.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Enlarge image for better CV processing (cv2.INTER_LINEAR).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Slightly blur the image (cv2.medianBlur(k=5)).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image (CLAHE and merge).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Binarize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 with Otsu's method.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</a:t>
            </a:r>
            <a:r>
              <a:rPr lang="en-US" sz="1800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coverage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create histogram.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Watershed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 and save segmentations.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</a:t>
            </a:r>
            <a:r>
              <a:rPr lang="en-US" sz="1800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result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result as excel.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C13E878-56DA-C5EE-97F2-BEB6087B4CEB}"/>
              </a:ext>
            </a:extLst>
          </p:cNvPr>
          <p:cNvSpPr/>
          <p:nvPr/>
        </p:nvSpPr>
        <p:spPr>
          <a:xfrm>
            <a:off x="3831220" y="3429000"/>
            <a:ext cx="2164466" cy="2067625"/>
          </a:xfrm>
          <a:custGeom>
            <a:avLst/>
            <a:gdLst>
              <a:gd name="connsiteX0" fmla="*/ 0 w 2164466"/>
              <a:gd name="connsiteY0" fmla="*/ 1863524 h 1942377"/>
              <a:gd name="connsiteX1" fmla="*/ 1643605 w 2164466"/>
              <a:gd name="connsiteY1" fmla="*/ 1782501 h 1942377"/>
              <a:gd name="connsiteX2" fmla="*/ 1701479 w 2164466"/>
              <a:gd name="connsiteY2" fmla="*/ 428264 h 1942377"/>
              <a:gd name="connsiteX3" fmla="*/ 2164466 w 2164466"/>
              <a:gd name="connsiteY3" fmla="*/ 0 h 1942377"/>
              <a:gd name="connsiteX0" fmla="*/ 0 w 2164466"/>
              <a:gd name="connsiteY0" fmla="*/ 1863524 h 1891647"/>
              <a:gd name="connsiteX1" fmla="*/ 1646780 w 2164466"/>
              <a:gd name="connsiteY1" fmla="*/ 1614226 h 1891647"/>
              <a:gd name="connsiteX2" fmla="*/ 1701479 w 2164466"/>
              <a:gd name="connsiteY2" fmla="*/ 428264 h 1891647"/>
              <a:gd name="connsiteX3" fmla="*/ 2164466 w 2164466"/>
              <a:gd name="connsiteY3" fmla="*/ 0 h 1891647"/>
              <a:gd name="connsiteX0" fmla="*/ 0 w 2164466"/>
              <a:gd name="connsiteY0" fmla="*/ 1863524 h 1894353"/>
              <a:gd name="connsiteX1" fmla="*/ 1646780 w 2164466"/>
              <a:gd name="connsiteY1" fmla="*/ 1614226 h 1894353"/>
              <a:gd name="connsiteX2" fmla="*/ 1704654 w 2164466"/>
              <a:gd name="connsiteY2" fmla="*/ 310789 h 1894353"/>
              <a:gd name="connsiteX3" fmla="*/ 2164466 w 2164466"/>
              <a:gd name="connsiteY3" fmla="*/ 0 h 1894353"/>
              <a:gd name="connsiteX0" fmla="*/ 0 w 2164466"/>
              <a:gd name="connsiteY0" fmla="*/ 1863524 h 1894353"/>
              <a:gd name="connsiteX1" fmla="*/ 1646780 w 2164466"/>
              <a:gd name="connsiteY1" fmla="*/ 1614226 h 1894353"/>
              <a:gd name="connsiteX2" fmla="*/ 1704654 w 2164466"/>
              <a:gd name="connsiteY2" fmla="*/ 310789 h 1894353"/>
              <a:gd name="connsiteX3" fmla="*/ 2164466 w 2164466"/>
              <a:gd name="connsiteY3" fmla="*/ 0 h 1894353"/>
              <a:gd name="connsiteX0" fmla="*/ 0 w 2164466"/>
              <a:gd name="connsiteY0" fmla="*/ 1863524 h 1901636"/>
              <a:gd name="connsiteX1" fmla="*/ 1646780 w 2164466"/>
              <a:gd name="connsiteY1" fmla="*/ 1614226 h 1901636"/>
              <a:gd name="connsiteX2" fmla="*/ 1704654 w 2164466"/>
              <a:gd name="connsiteY2" fmla="*/ 310789 h 1901636"/>
              <a:gd name="connsiteX3" fmla="*/ 2164466 w 2164466"/>
              <a:gd name="connsiteY3" fmla="*/ 0 h 1901636"/>
              <a:gd name="connsiteX0" fmla="*/ 0 w 2164466"/>
              <a:gd name="connsiteY0" fmla="*/ 1863524 h 1906659"/>
              <a:gd name="connsiteX1" fmla="*/ 1524860 w 2164466"/>
              <a:gd name="connsiteY1" fmla="*/ 1635439 h 1906659"/>
              <a:gd name="connsiteX2" fmla="*/ 1704654 w 2164466"/>
              <a:gd name="connsiteY2" fmla="*/ 310789 h 1906659"/>
              <a:gd name="connsiteX3" fmla="*/ 2164466 w 2164466"/>
              <a:gd name="connsiteY3" fmla="*/ 0 h 1906659"/>
              <a:gd name="connsiteX0" fmla="*/ 0 w 2164466"/>
              <a:gd name="connsiteY0" fmla="*/ 1863524 h 1918721"/>
              <a:gd name="connsiteX1" fmla="*/ 1524860 w 2164466"/>
              <a:gd name="connsiteY1" fmla="*/ 1635439 h 1918721"/>
              <a:gd name="connsiteX2" fmla="*/ 1704654 w 2164466"/>
              <a:gd name="connsiteY2" fmla="*/ 310789 h 1918721"/>
              <a:gd name="connsiteX3" fmla="*/ 2164466 w 2164466"/>
              <a:gd name="connsiteY3" fmla="*/ 0 h 19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466" h="1918721">
                <a:moveTo>
                  <a:pt x="0" y="1863524"/>
                </a:moveTo>
                <a:cubicBezTo>
                  <a:pt x="680012" y="1942617"/>
                  <a:pt x="1280121" y="1986585"/>
                  <a:pt x="1524860" y="1635439"/>
                </a:cubicBezTo>
                <a:cubicBezTo>
                  <a:pt x="1769599" y="1284293"/>
                  <a:pt x="1598053" y="583362"/>
                  <a:pt x="1704654" y="310789"/>
                </a:cubicBezTo>
                <a:cubicBezTo>
                  <a:pt x="1811255" y="38216"/>
                  <a:pt x="1976377" y="65590"/>
                  <a:pt x="2164466" y="0"/>
                </a:cubicBezTo>
              </a:path>
            </a:pathLst>
          </a:custGeom>
          <a:ln w="25400">
            <a:solidFill>
              <a:srgbClr val="DCDA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7B5162D-0496-F5C1-EC8A-7626A99F7111}"/>
              </a:ext>
            </a:extLst>
          </p:cNvPr>
          <p:cNvSpPr/>
          <p:nvPr/>
        </p:nvSpPr>
        <p:spPr>
          <a:xfrm>
            <a:off x="4810125" y="2214568"/>
            <a:ext cx="1409700" cy="2150839"/>
          </a:xfrm>
          <a:custGeom>
            <a:avLst/>
            <a:gdLst>
              <a:gd name="connsiteX0" fmla="*/ 0 w 1409700"/>
              <a:gd name="connsiteY0" fmla="*/ 2138357 h 2283661"/>
              <a:gd name="connsiteX1" fmla="*/ 333375 w 1409700"/>
              <a:gd name="connsiteY1" fmla="*/ 2100257 h 2283661"/>
              <a:gd name="connsiteX2" fmla="*/ 828675 w 1409700"/>
              <a:gd name="connsiteY2" fmla="*/ 328607 h 2283661"/>
              <a:gd name="connsiteX3" fmla="*/ 1409700 w 1409700"/>
              <a:gd name="connsiteY3" fmla="*/ 4757 h 2283661"/>
              <a:gd name="connsiteX0" fmla="*/ 0 w 1409700"/>
              <a:gd name="connsiteY0" fmla="*/ 2138357 h 2180287"/>
              <a:gd name="connsiteX1" fmla="*/ 469106 w 1409700"/>
              <a:gd name="connsiteY1" fmla="*/ 1774025 h 2180287"/>
              <a:gd name="connsiteX2" fmla="*/ 828675 w 1409700"/>
              <a:gd name="connsiteY2" fmla="*/ 328607 h 2180287"/>
              <a:gd name="connsiteX3" fmla="*/ 1409700 w 1409700"/>
              <a:gd name="connsiteY3" fmla="*/ 4757 h 2180287"/>
              <a:gd name="connsiteX0" fmla="*/ 0 w 1409700"/>
              <a:gd name="connsiteY0" fmla="*/ 2138357 h 2150839"/>
              <a:gd name="connsiteX1" fmla="*/ 469106 w 1409700"/>
              <a:gd name="connsiteY1" fmla="*/ 1774025 h 2150839"/>
              <a:gd name="connsiteX2" fmla="*/ 828675 w 1409700"/>
              <a:gd name="connsiteY2" fmla="*/ 328607 h 2150839"/>
              <a:gd name="connsiteX3" fmla="*/ 1409700 w 1409700"/>
              <a:gd name="connsiteY3" fmla="*/ 4757 h 215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9700" h="2150839">
                <a:moveTo>
                  <a:pt x="0" y="2138357"/>
                </a:moveTo>
                <a:cubicBezTo>
                  <a:pt x="190500" y="2191538"/>
                  <a:pt x="330994" y="2075650"/>
                  <a:pt x="469106" y="1774025"/>
                </a:cubicBezTo>
                <a:cubicBezTo>
                  <a:pt x="607218" y="1472400"/>
                  <a:pt x="649287" y="677857"/>
                  <a:pt x="828675" y="328607"/>
                </a:cubicBezTo>
                <a:cubicBezTo>
                  <a:pt x="1008063" y="-20643"/>
                  <a:pt x="1208881" y="-7943"/>
                  <a:pt x="1409700" y="4757"/>
                </a:cubicBezTo>
              </a:path>
            </a:pathLst>
          </a:custGeom>
          <a:ln w="25400">
            <a:solidFill>
              <a:srgbClr val="DCDA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4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81AF6-7476-B673-341C-18ADAEB3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86ACA-02F1-E528-07BF-C5659571F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000"/>
            <a:ext cx="11448000" cy="648000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altLang="zh-TW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How are these measurements relating to devise performance?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58B26A8-6FF2-4944-0D82-50430DC1AB92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AF77AA5-710C-356D-B1AF-988D525638FA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FCC8BEB-CFE6-06B6-AFAD-9778ABAC15D7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13E6521-D098-8116-E9F6-C1B10398DF9C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FF5F5BC-AE9F-0F38-6D0B-E600440CCCD0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2FA64BA-85AE-F5FC-F4A5-EFD81E1AAE69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275BE8D-DF00-892E-CBC1-E0169B23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F61BB39-6CD1-C525-5312-CE88B31D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FC15891-3E83-3672-142F-9CD0F24F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7</a:t>
            </a:fld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6A42A18-BA75-8BC3-473C-8658B157027A}"/>
              </a:ext>
            </a:extLst>
          </p:cNvPr>
          <p:cNvSpPr/>
          <p:nvPr/>
        </p:nvSpPr>
        <p:spPr>
          <a:xfrm>
            <a:off x="1459206" y="7926175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39BED4D-7865-8DE7-C2CB-D726DF9B0C4D}"/>
              </a:ext>
            </a:extLst>
          </p:cNvPr>
          <p:cNvSpPr/>
          <p:nvPr/>
        </p:nvSpPr>
        <p:spPr>
          <a:xfrm>
            <a:off x="2342474" y="8541681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DC39D1B-A8DB-DDE3-8076-E6B1D671CE7B}"/>
              </a:ext>
            </a:extLst>
          </p:cNvPr>
          <p:cNvSpPr/>
          <p:nvPr/>
        </p:nvSpPr>
        <p:spPr>
          <a:xfrm>
            <a:off x="14529624" y="6132512"/>
            <a:ext cx="812800" cy="8128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72D7C6-4E36-22E2-6412-DDC0F2324A6C}"/>
              </a:ext>
            </a:extLst>
          </p:cNvPr>
          <p:cNvSpPr/>
          <p:nvPr/>
        </p:nvSpPr>
        <p:spPr>
          <a:xfrm>
            <a:off x="13670126" y="5726112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0DD97B62-1630-D45D-AADF-E2701F82BFD2}"/>
              </a:ext>
            </a:extLst>
          </p:cNvPr>
          <p:cNvSpPr txBox="1">
            <a:spLocks/>
          </p:cNvSpPr>
          <p:nvPr/>
        </p:nvSpPr>
        <p:spPr>
          <a:xfrm>
            <a:off x="360000" y="4661059"/>
            <a:ext cx="11448000" cy="1695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endParaRPr lang="en-US" dirty="0"/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0F2F52-6A7A-8341-E9E9-98317347E3EE}"/>
              </a:ext>
            </a:extLst>
          </p:cNvPr>
          <p:cNvSpPr txBox="1">
            <a:spLocks/>
          </p:cNvSpPr>
          <p:nvPr/>
        </p:nvSpPr>
        <p:spPr>
          <a:xfrm>
            <a:off x="2304345" y="1466115"/>
            <a:ext cx="3725298" cy="4351863"/>
          </a:xfrm>
          <a:prstGeom prst="rect">
            <a:avLst/>
          </a:prstGeom>
          <a:solidFill>
            <a:srgbClr val="F5F5DC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Numerical representation </a:t>
            </a:r>
            <a:b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2D material SEM images: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Pixel per um (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sclbar_text, pixel_length_sclbar, pixels_per_um).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Coverage (pct_black, pct_white).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(cnt_seg_success)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Nucleation density (nd_per_sqnm)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Grain size (avg_gs_squm, std_gs_squm)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Circumference (avg_circumf_um, std_circumf_um)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Cricumference square to area ratio (avg_csar, std_csar)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noise (avg_bkgd_pixel, std_bkgd_pixel)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Positive correlation Black and White Stock Photos &amp; Images - Alamy">
            <a:extLst>
              <a:ext uri="{FF2B5EF4-FFF2-40B4-BE49-F238E27FC236}">
                <a16:creationId xmlns:a16="http://schemas.microsoft.com/office/drawing/2014/main" id="{D3006BBB-0B5C-40ED-CA58-49BD41E8B4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3" r="5253" b="22335"/>
          <a:stretch/>
        </p:blipFill>
        <p:spPr bwMode="auto">
          <a:xfrm>
            <a:off x="7022300" y="2633272"/>
            <a:ext cx="2128260" cy="86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BEBF95-0F67-DACF-9AFE-FC71E970756B}"/>
              </a:ext>
            </a:extLst>
          </p:cNvPr>
          <p:cNvSpPr/>
          <p:nvPr/>
        </p:nvSpPr>
        <p:spPr>
          <a:xfrm>
            <a:off x="10080000" y="2150602"/>
            <a:ext cx="1728000" cy="3209857"/>
          </a:xfrm>
          <a:prstGeom prst="roundRect">
            <a:avLst/>
          </a:prstGeom>
          <a:solidFill>
            <a:srgbClr val="C2C0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000"/>
              </a:lnSpc>
            </a:pPr>
            <a:r>
              <a:rPr lang="en-US" altLang="zh-TW" sz="2000" b="1" dirty="0">
                <a:solidFill>
                  <a:schemeClr val="tx1"/>
                </a:solidFill>
              </a:rPr>
              <a:t>Device</a:t>
            </a:r>
            <a:endParaRPr lang="en-US" sz="2000" b="1" dirty="0">
              <a:solidFill>
                <a:schemeClr val="tx1"/>
              </a:solidFill>
            </a:endParaRPr>
          </a:p>
          <a:p>
            <a:pPr algn="ctr">
              <a:lnSpc>
                <a:spcPts val="2000"/>
              </a:lnSpc>
            </a:pPr>
            <a:r>
              <a:rPr lang="en-US" sz="2000" b="1" dirty="0">
                <a:solidFill>
                  <a:schemeClr val="tx1"/>
                </a:solidFill>
              </a:rPr>
              <a:t>Performance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9F23C5-CEC3-74F6-4F0A-B0C52C60AE28}"/>
              </a:ext>
            </a:extLst>
          </p:cNvPr>
          <p:cNvCxnSpPr>
            <a:cxnSpLocks/>
          </p:cNvCxnSpPr>
          <p:nvPr/>
        </p:nvCxnSpPr>
        <p:spPr>
          <a:xfrm>
            <a:off x="6305286" y="2603678"/>
            <a:ext cx="3574443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BEAB6D3-B930-7717-4F45-C8E8FE6C6558}"/>
              </a:ext>
            </a:extLst>
          </p:cNvPr>
          <p:cNvGrpSpPr/>
          <p:nvPr/>
        </p:nvGrpSpPr>
        <p:grpSpPr>
          <a:xfrm>
            <a:off x="118200" y="3215531"/>
            <a:ext cx="1955217" cy="1080000"/>
            <a:chOff x="118200" y="3215531"/>
            <a:chExt cx="1955217" cy="1080000"/>
          </a:xfrm>
        </p:grpSpPr>
        <p:pic>
          <p:nvPicPr>
            <p:cNvPr id="19" name="Picture 18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8FE0F866-A8CC-398F-B6CB-E8756A322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200" y="3215531"/>
              <a:ext cx="1440000" cy="1080000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3AE59DF-4924-CC0A-2B97-E5FFE61AA2A1}"/>
                </a:ext>
              </a:extLst>
            </p:cNvPr>
            <p:cNvCxnSpPr>
              <a:cxnSpLocks/>
            </p:cNvCxnSpPr>
            <p:nvPr/>
          </p:nvCxnSpPr>
          <p:spPr>
            <a:xfrm>
              <a:off x="1657795" y="3755531"/>
              <a:ext cx="415622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01A8FA-BBA3-FF97-ADA0-8E7F8442B22A}"/>
              </a:ext>
            </a:extLst>
          </p:cNvPr>
          <p:cNvCxnSpPr>
            <a:cxnSpLocks/>
          </p:cNvCxnSpPr>
          <p:nvPr/>
        </p:nvCxnSpPr>
        <p:spPr>
          <a:xfrm>
            <a:off x="6305286" y="4925069"/>
            <a:ext cx="3574443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Neural network icon in outline style Royalty Free Vector">
            <a:extLst>
              <a:ext uri="{FF2B5EF4-FFF2-40B4-BE49-F238E27FC236}">
                <a16:creationId xmlns:a16="http://schemas.microsoft.com/office/drawing/2014/main" id="{F98508AE-3D74-AA04-96B2-732DD93E0B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3" t="9311" r="10153" b="16899"/>
          <a:stretch/>
        </p:blipFill>
        <p:spPr bwMode="auto">
          <a:xfrm>
            <a:off x="7565457" y="4971973"/>
            <a:ext cx="10541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4AEDB9D-E1DB-28CE-11AE-019E6C57004D}"/>
              </a:ext>
            </a:extLst>
          </p:cNvPr>
          <p:cNvSpPr txBox="1"/>
          <p:nvPr/>
        </p:nvSpPr>
        <p:spPr>
          <a:xfrm>
            <a:off x="6202507" y="1770058"/>
            <a:ext cx="378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It might be harder to see the relation of one</a:t>
            </a:r>
            <a:r>
              <a:rPr lang="zh-TW" altLang="en-US" sz="1600" dirty="0"/>
              <a:t> </a:t>
            </a:r>
            <a:r>
              <a:rPr lang="en-US" altLang="zh-TW" sz="1600" dirty="0"/>
              <a:t>single measurement relates directly to the device performance.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108A72-9C69-16D7-4686-7F57630E6711}"/>
              </a:ext>
            </a:extLst>
          </p:cNvPr>
          <p:cNvSpPr txBox="1"/>
          <p:nvPr/>
        </p:nvSpPr>
        <p:spPr>
          <a:xfrm>
            <a:off x="6173835" y="4103711"/>
            <a:ext cx="3837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ML model can help correlate measurements from SEM image to device performance when there is more data.</a:t>
            </a:r>
          </a:p>
        </p:txBody>
      </p:sp>
    </p:spTree>
    <p:extLst>
      <p:ext uri="{BB962C8B-B14F-4D97-AF65-F5344CB8AC3E}">
        <p14:creationId xmlns:p14="http://schemas.microsoft.com/office/powerpoint/2010/main" val="180508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2E5C-0086-839F-2112-9CB6410F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802D-4CEC-EE29-C326-0D1B5779C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288000"/>
            <a:ext cx="3240000" cy="646331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Demo Video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123DD1-A35A-4BEF-3FD2-7D7A834A89F6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AD81C9-634B-F58B-979E-D93EA4729095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2103359-A86D-D00E-A32C-3FFD7C263516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F2495B5-14F2-3EC9-89B1-F93DDD150B4D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C33C63C-61B5-10F8-5994-BEFCB134D52C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EFEB24E-2F99-CF79-7F21-DF4A0ADFF78D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5533ED-A7A3-19BC-D8D6-A1AB4BDFC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F3CB59D-FA57-A9BF-D8E2-4F9E7237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928C7C2-C855-ED3B-6333-4151324B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8</a:t>
            </a:fld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3C3A3B-012D-7810-DE88-4E0F89818A09}"/>
              </a:ext>
            </a:extLst>
          </p:cNvPr>
          <p:cNvGrpSpPr/>
          <p:nvPr/>
        </p:nvGrpSpPr>
        <p:grpSpPr>
          <a:xfrm>
            <a:off x="-7501608" y="980496"/>
            <a:ext cx="7101165" cy="2883673"/>
            <a:chOff x="-11580123" y="480674"/>
            <a:chExt cx="7101165" cy="2883673"/>
          </a:xfrm>
        </p:grpSpPr>
        <p:pic>
          <p:nvPicPr>
            <p:cNvPr id="34" name="Picture 33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C0E1481F-6192-F0F1-F695-1AC89C934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580123" y="866203"/>
              <a:ext cx="1440000" cy="1080000"/>
            </a:xfrm>
            <a:prstGeom prst="rect">
              <a:avLst/>
            </a:prstGeom>
          </p:spPr>
        </p:pic>
        <p:pic>
          <p:nvPicPr>
            <p:cNvPr id="35" name="Picture 34" descr="A close-up of triangles&#10;&#10;Description automatically generated">
              <a:extLst>
                <a:ext uri="{FF2B5EF4-FFF2-40B4-BE49-F238E27FC236}">
                  <a16:creationId xmlns:a16="http://schemas.microsoft.com/office/drawing/2014/main" id="{8B49B533-F485-BB07-87ED-B6AD9F8AA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9693068" y="866203"/>
              <a:ext cx="1440000" cy="1080000"/>
            </a:xfrm>
            <a:prstGeom prst="rect">
              <a:avLst/>
            </a:prstGeom>
          </p:spPr>
        </p:pic>
        <p:pic>
          <p:nvPicPr>
            <p:cNvPr id="36" name="Picture 35" descr="A close-up of triangles&#10;&#10;Description automatically generated">
              <a:extLst>
                <a:ext uri="{FF2B5EF4-FFF2-40B4-BE49-F238E27FC236}">
                  <a16:creationId xmlns:a16="http://schemas.microsoft.com/office/drawing/2014/main" id="{B30335CA-F7C7-FE29-D908-0C690D9B4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806013" y="866203"/>
              <a:ext cx="1440000" cy="1080000"/>
            </a:xfrm>
            <a:prstGeom prst="rect">
              <a:avLst/>
            </a:prstGeom>
          </p:spPr>
        </p:pic>
        <p:pic>
          <p:nvPicPr>
            <p:cNvPr id="37" name="Picture 36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9B77A9D2-1780-28EB-9594-3DEFCE37B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918958" y="866203"/>
              <a:ext cx="1440000" cy="1080000"/>
            </a:xfrm>
            <a:prstGeom prst="rect">
              <a:avLst/>
            </a:prstGeom>
          </p:spPr>
        </p:pic>
        <p:pic>
          <p:nvPicPr>
            <p:cNvPr id="38" name="Picture 37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BF905FB3-B66E-9777-6B59-B035CC550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6" t="41956" r="41956" b="41956"/>
            <a:stretch/>
          </p:blipFill>
          <p:spPr>
            <a:xfrm>
              <a:off x="-11580123" y="2284347"/>
              <a:ext cx="1440000" cy="1080000"/>
            </a:xfrm>
            <a:prstGeom prst="rect">
              <a:avLst/>
            </a:prstGeom>
          </p:spPr>
        </p:pic>
        <p:pic>
          <p:nvPicPr>
            <p:cNvPr id="39" name="Picture 38" descr="A close-up of triangles&#10;&#10;Description automatically generated">
              <a:extLst>
                <a:ext uri="{FF2B5EF4-FFF2-40B4-BE49-F238E27FC236}">
                  <a16:creationId xmlns:a16="http://schemas.microsoft.com/office/drawing/2014/main" id="{C06C6BD0-AFE4-CD41-C3F2-93D9CE900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2" t="41922" r="41922" b="41922"/>
            <a:stretch/>
          </p:blipFill>
          <p:spPr>
            <a:xfrm>
              <a:off x="-9693068" y="2284347"/>
              <a:ext cx="1440000" cy="1080000"/>
            </a:xfrm>
            <a:prstGeom prst="rect">
              <a:avLst/>
            </a:prstGeom>
          </p:spPr>
        </p:pic>
        <p:pic>
          <p:nvPicPr>
            <p:cNvPr id="40" name="Picture 39" descr="A close-up of triangles&#10;&#10;Description automatically generated">
              <a:extLst>
                <a:ext uri="{FF2B5EF4-FFF2-40B4-BE49-F238E27FC236}">
                  <a16:creationId xmlns:a16="http://schemas.microsoft.com/office/drawing/2014/main" id="{8B319042-9BC0-7264-8590-CBA182D8E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5" t="41925" r="41925" b="41925"/>
            <a:stretch/>
          </p:blipFill>
          <p:spPr>
            <a:xfrm>
              <a:off x="-7806013" y="2284347"/>
              <a:ext cx="1440000" cy="1080000"/>
            </a:xfrm>
            <a:prstGeom prst="rect">
              <a:avLst/>
            </a:prstGeom>
          </p:spPr>
        </p:pic>
        <p:pic>
          <p:nvPicPr>
            <p:cNvPr id="41" name="Picture 40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C83FB2EB-460F-A101-3A16-492BAD7D5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32" t="41932" r="41932" b="41932"/>
            <a:stretch/>
          </p:blipFill>
          <p:spPr>
            <a:xfrm>
              <a:off x="-5918958" y="2284347"/>
              <a:ext cx="144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6F2200-D9C7-C7A2-4D3A-EBD60C6F4711}"/>
                </a:ext>
              </a:extLst>
            </p:cNvPr>
            <p:cNvSpPr txBox="1"/>
            <p:nvPr/>
          </p:nvSpPr>
          <p:spPr>
            <a:xfrm>
              <a:off x="-11138743" y="480674"/>
              <a:ext cx="917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Original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9A088F1-C807-6D40-B5C0-860637D5D9B5}"/>
                </a:ext>
              </a:extLst>
            </p:cNvPr>
            <p:cNvSpPr txBox="1"/>
            <p:nvPr/>
          </p:nvSpPr>
          <p:spPr>
            <a:xfrm>
              <a:off x="-9572125" y="480674"/>
              <a:ext cx="1558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Gentle Blurred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A3314B4-1649-6473-0C1C-D99122C9E6D3}"/>
                </a:ext>
              </a:extLst>
            </p:cNvPr>
            <p:cNvSpPr txBox="1"/>
            <p:nvPr/>
          </p:nvSpPr>
          <p:spPr>
            <a:xfrm>
              <a:off x="-7799591" y="480674"/>
              <a:ext cx="17871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Gentle Enhanced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0710B18-7F71-8C27-A65A-76309BECF0A2}"/>
                </a:ext>
              </a:extLst>
            </p:cNvPr>
            <p:cNvSpPr txBox="1"/>
            <p:nvPr/>
          </p:nvSpPr>
          <p:spPr>
            <a:xfrm>
              <a:off x="-5553536" y="480674"/>
              <a:ext cx="10563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Binarized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2CCC4E7-27D3-426E-364B-31FCFE955C3A}"/>
              </a:ext>
            </a:extLst>
          </p:cNvPr>
          <p:cNvSpPr txBox="1"/>
          <p:nvPr/>
        </p:nvSpPr>
        <p:spPr>
          <a:xfrm>
            <a:off x="4038600" y="287999"/>
            <a:ext cx="4133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folder SEM image segmentation.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Took 2 mins to process 4 images.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B9DEAD-89D5-A5C3-83ED-B3D2A46D0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039" y="299613"/>
            <a:ext cx="40877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nb-NO" altLang="en-US" dirty="0">
                <a:hlinkClick r:id="rId7"/>
              </a:rPr>
              <a:t>[OneDrive] Image Seg Demo_480p.mp4</a:t>
            </a:r>
            <a:endParaRPr lang="en-US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05FD4-60B9-8B9F-D755-ADBF063D44D9}"/>
              </a:ext>
            </a:extLst>
          </p:cNvPr>
          <p:cNvSpPr txBox="1"/>
          <p:nvPr/>
        </p:nvSpPr>
        <p:spPr>
          <a:xfrm>
            <a:off x="8172569" y="611164"/>
            <a:ext cx="361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hlinkClick r:id="rId8" action="ppaction://hlinkfile"/>
              </a:rPr>
              <a:t>[Local] Image Seg Demo_1080p.mp4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364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15F9F-AF75-A5B6-C98F-7F2275DE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6393-A632-44F9-875C-D5352E673672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0777B3-2F11-1DFA-3141-6B58B282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54DC5-6F32-9131-466A-100DB236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EC040C-4EE0-D8DF-0563-521702F4C0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63" r="31909"/>
          <a:stretch/>
        </p:blipFill>
        <p:spPr>
          <a:xfrm>
            <a:off x="5812308" y="888019"/>
            <a:ext cx="2880000" cy="28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090A0B-BCB9-3786-5F44-AB75679465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20" t="28041" r="37653" b="43990"/>
          <a:stretch/>
        </p:blipFill>
        <p:spPr>
          <a:xfrm>
            <a:off x="8982953" y="893706"/>
            <a:ext cx="2880000" cy="28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87330E-1B58-8C15-4CD4-29847C6DD464}"/>
              </a:ext>
            </a:extLst>
          </p:cNvPr>
          <p:cNvCxnSpPr>
            <a:cxnSpLocks/>
          </p:cNvCxnSpPr>
          <p:nvPr/>
        </p:nvCxnSpPr>
        <p:spPr>
          <a:xfrm>
            <a:off x="8153400" y="1998702"/>
            <a:ext cx="2095500" cy="231352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175301A-18A9-F91F-4883-71175D460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166" y="4112687"/>
            <a:ext cx="4237787" cy="216000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695898-F64E-9F13-8CDB-C1F3FC357FDD}"/>
              </a:ext>
            </a:extLst>
          </p:cNvPr>
          <p:cNvSpPr/>
          <p:nvPr/>
        </p:nvSpPr>
        <p:spPr>
          <a:xfrm>
            <a:off x="7564456" y="5482279"/>
            <a:ext cx="2092287" cy="405109"/>
          </a:xfrm>
          <a:prstGeom prst="round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E9DB3C5-0DC9-9057-E3DF-E455EA4CC725}"/>
              </a:ext>
            </a:extLst>
          </p:cNvPr>
          <p:cNvSpPr txBox="1">
            <a:spLocks/>
          </p:cNvSpPr>
          <p:nvPr/>
        </p:nvSpPr>
        <p:spPr>
          <a:xfrm>
            <a:off x="360000" y="288000"/>
            <a:ext cx="4320000" cy="648000"/>
          </a:xfrm>
          <a:prstGeom prst="rect">
            <a:avLst/>
          </a:prstGeo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Auto Scale Bar Extraction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C76F24-929C-D429-0C52-E1C91A52708C}"/>
              </a:ext>
            </a:extLst>
          </p:cNvPr>
          <p:cNvCxnSpPr>
            <a:cxnSpLocks/>
          </p:cNvCxnSpPr>
          <p:nvPr/>
        </p:nvCxnSpPr>
        <p:spPr>
          <a:xfrm flipH="1">
            <a:off x="9372600" y="2430194"/>
            <a:ext cx="1244600" cy="2968422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9E156017-DE80-0A53-82DE-4BA6B620C967}"/>
              </a:ext>
            </a:extLst>
          </p:cNvPr>
          <p:cNvSpPr txBox="1">
            <a:spLocks/>
          </p:cNvSpPr>
          <p:nvPr/>
        </p:nvSpPr>
        <p:spPr>
          <a:xfrm>
            <a:off x="360000" y="1078619"/>
            <a:ext cx="5172643" cy="25675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2000" dirty="0"/>
              <a:t>Average pixel in columns</a:t>
            </a:r>
            <a:r>
              <a:rPr lang="en-US" sz="2000" dirty="0"/>
              <a:t> and rows to cut out desired area of scale bar.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/>
              <a:t>Use </a:t>
            </a:r>
            <a:r>
              <a:rPr lang="en-US" sz="2000" dirty="0" err="1">
                <a:solidFill>
                  <a:srgbClr val="4EC9B0"/>
                </a:solidFill>
                <a:latin typeface="Consolas" panose="020B0609020204030204" pitchFamily="49" charset="0"/>
              </a:rPr>
              <a:t>pytesseract</a:t>
            </a:r>
            <a:r>
              <a:rPr lang="en-US" sz="2000" dirty="0">
                <a:solidFill>
                  <a:srgbClr val="4EC9B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/>
              <a:t>to read the number of the scale bar.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/>
              <a:t>The length of scale bar matches the actual pixel checked with Photoshop.</a:t>
            </a:r>
          </a:p>
        </p:txBody>
      </p:sp>
      <p:pic>
        <p:nvPicPr>
          <p:cNvPr id="26" name="Picture 25" descr="A close-up of a microscope&#10;&#10;Description automatically generated">
            <a:extLst>
              <a:ext uri="{FF2B5EF4-FFF2-40B4-BE49-F238E27FC236}">
                <a16:creationId xmlns:a16="http://schemas.microsoft.com/office/drawing/2014/main" id="{DB748E9C-0B47-71C8-46DE-A56FF9E58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50" y="4112687"/>
            <a:ext cx="2880000" cy="2160000"/>
          </a:xfrm>
          <a:prstGeom prst="rect">
            <a:avLst/>
          </a:prstGeom>
        </p:spPr>
      </p:pic>
      <p:pic>
        <p:nvPicPr>
          <p:cNvPr id="27" name="Picture 26" descr="A screenshot of a computer&#10;&#10;Description automatically generated">
            <a:extLst>
              <a:ext uri="{FF2B5EF4-FFF2-40B4-BE49-F238E27FC236}">
                <a16:creationId xmlns:a16="http://schemas.microsoft.com/office/drawing/2014/main" id="{6D4E58C3-F6BD-004D-A473-832D85B0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198" y="4112687"/>
            <a:ext cx="383432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69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60A92-C75A-FE23-2403-A68198D4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lose-up of triangles&#10;&#10;Description automatically generated">
            <a:extLst>
              <a:ext uri="{FF2B5EF4-FFF2-40B4-BE49-F238E27FC236}">
                <a16:creationId xmlns:a16="http://schemas.microsoft.com/office/drawing/2014/main" id="{D9A4E2A2-64DE-7C53-1913-3E1C7A8FE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77" y="3755386"/>
            <a:ext cx="1440000" cy="1080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7C0A697-87D3-6287-E937-663E326298AD}"/>
              </a:ext>
            </a:extLst>
          </p:cNvPr>
          <p:cNvSpPr txBox="1"/>
          <p:nvPr/>
        </p:nvSpPr>
        <p:spPr>
          <a:xfrm>
            <a:off x="360440" y="932296"/>
            <a:ext cx="1431739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Original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 sz="1400"/>
              <a:t>Gentle Blurred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 sz="1400"/>
              <a:t>Gentle Enhanced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 sz="1400"/>
              <a:t>Binarized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E1643A-3263-8DA4-B138-C65BE382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288000"/>
            <a:ext cx="3240000" cy="646331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28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Coverage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65B38B-0B92-F37E-B769-86E2E2EE2AB7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DF9ACC1-A6AB-94AC-D912-CC65CB4AC15D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A3CC3B8-9457-640E-35B9-B70CBECE2969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FF7A99-2ED6-5E34-59AC-A9A593C981DF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4FF0AC3-7C2D-1998-F443-88674DFAF469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A97412A-BDB2-5E00-495D-79DB96FB44A4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BA0EE0C-1652-0E17-A93D-B8B054A0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85AEE64-771A-4E6B-184B-F66943DD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558E53F-549F-6D71-BFC1-343FD5C1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10</a:t>
            </a:fld>
            <a:endParaRPr lang="en-US"/>
          </a:p>
        </p:txBody>
      </p:sp>
      <p:pic>
        <p:nvPicPr>
          <p:cNvPr id="16" name="Picture 15" descr="A close-up of a white surface with triangles&#10;&#10;Description automatically generated">
            <a:extLst>
              <a:ext uri="{FF2B5EF4-FFF2-40B4-BE49-F238E27FC236}">
                <a16:creationId xmlns:a16="http://schemas.microsoft.com/office/drawing/2014/main" id="{5700819B-1A30-CE02-6B54-0A133D5DA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77" y="1185076"/>
            <a:ext cx="1440000" cy="1080000"/>
          </a:xfrm>
          <a:prstGeom prst="rect">
            <a:avLst/>
          </a:prstGeom>
        </p:spPr>
      </p:pic>
      <p:pic>
        <p:nvPicPr>
          <p:cNvPr id="19" name="Picture 18" descr="A close-up of triangles&#10;&#10;Description automatically generated">
            <a:extLst>
              <a:ext uri="{FF2B5EF4-FFF2-40B4-BE49-F238E27FC236}">
                <a16:creationId xmlns:a16="http://schemas.microsoft.com/office/drawing/2014/main" id="{8338A706-FEC8-EFB8-1C29-7FDA2C156C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77" y="2470231"/>
            <a:ext cx="1440000" cy="1080000"/>
          </a:xfrm>
          <a:prstGeom prst="rect">
            <a:avLst/>
          </a:prstGeom>
        </p:spPr>
      </p:pic>
      <p:pic>
        <p:nvPicPr>
          <p:cNvPr id="23" name="Picture 22" descr="A black and white pattern of triangles&#10;&#10;Description automatically generated">
            <a:extLst>
              <a:ext uri="{FF2B5EF4-FFF2-40B4-BE49-F238E27FC236}">
                <a16:creationId xmlns:a16="http://schemas.microsoft.com/office/drawing/2014/main" id="{D52EED7A-966F-403B-97BB-056B02BDB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77" y="5040542"/>
            <a:ext cx="1440000" cy="1080000"/>
          </a:xfrm>
          <a:prstGeom prst="rect">
            <a:avLst/>
          </a:prstGeom>
        </p:spPr>
      </p:pic>
      <p:pic>
        <p:nvPicPr>
          <p:cNvPr id="24" name="Picture 23" descr="A close-up of a white surface with triangles&#10;&#10;Description automatically generated">
            <a:extLst>
              <a:ext uri="{FF2B5EF4-FFF2-40B4-BE49-F238E27FC236}">
                <a16:creationId xmlns:a16="http://schemas.microsoft.com/office/drawing/2014/main" id="{038266CB-6826-B2BE-771B-D60A747FB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56" t="41956" r="41956" b="41956"/>
          <a:stretch/>
        </p:blipFill>
        <p:spPr>
          <a:xfrm>
            <a:off x="2066080" y="1185076"/>
            <a:ext cx="1440000" cy="1080000"/>
          </a:xfrm>
          <a:prstGeom prst="rect">
            <a:avLst/>
          </a:prstGeom>
        </p:spPr>
      </p:pic>
      <p:pic>
        <p:nvPicPr>
          <p:cNvPr id="25" name="Picture 24" descr="A close-up of triangles&#10;&#10;Description automatically generated">
            <a:extLst>
              <a:ext uri="{FF2B5EF4-FFF2-40B4-BE49-F238E27FC236}">
                <a16:creationId xmlns:a16="http://schemas.microsoft.com/office/drawing/2014/main" id="{1774E0D5-8583-5A75-5691-FEB0E1DB56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22" t="41922" r="41922" b="41922"/>
          <a:stretch/>
        </p:blipFill>
        <p:spPr>
          <a:xfrm>
            <a:off x="2066080" y="2470231"/>
            <a:ext cx="1440000" cy="1080000"/>
          </a:xfrm>
          <a:prstGeom prst="rect">
            <a:avLst/>
          </a:prstGeom>
        </p:spPr>
      </p:pic>
      <p:pic>
        <p:nvPicPr>
          <p:cNvPr id="26" name="Picture 25" descr="A close-up of triangles&#10;&#10;Description automatically generated">
            <a:extLst>
              <a:ext uri="{FF2B5EF4-FFF2-40B4-BE49-F238E27FC236}">
                <a16:creationId xmlns:a16="http://schemas.microsoft.com/office/drawing/2014/main" id="{17CD9F18-91D8-8936-66B6-DDF75A4A2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25" t="41925" r="41925" b="41925"/>
          <a:stretch/>
        </p:blipFill>
        <p:spPr>
          <a:xfrm>
            <a:off x="2066080" y="3755386"/>
            <a:ext cx="1440000" cy="1080000"/>
          </a:xfrm>
          <a:prstGeom prst="rect">
            <a:avLst/>
          </a:prstGeom>
        </p:spPr>
      </p:pic>
      <p:pic>
        <p:nvPicPr>
          <p:cNvPr id="27" name="Picture 26" descr="A black and white pattern of triangles&#10;&#10;Description automatically generated">
            <a:extLst>
              <a:ext uri="{FF2B5EF4-FFF2-40B4-BE49-F238E27FC236}">
                <a16:creationId xmlns:a16="http://schemas.microsoft.com/office/drawing/2014/main" id="{CDC0E3DB-028A-42EF-2455-55D9005F98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2" t="41932" r="41932" b="41932"/>
          <a:stretch/>
        </p:blipFill>
        <p:spPr>
          <a:xfrm>
            <a:off x="2066080" y="5040542"/>
            <a:ext cx="1440000" cy="1080000"/>
          </a:xfrm>
          <a:prstGeom prst="rect">
            <a:avLst/>
          </a:prstGeom>
        </p:spPr>
      </p:pic>
      <p:pic>
        <p:nvPicPr>
          <p:cNvPr id="33" name="Picture 32" descr="A graph of a person with a graph&#10;&#10;Description automatically generated with medium confidence">
            <a:extLst>
              <a:ext uri="{FF2B5EF4-FFF2-40B4-BE49-F238E27FC236}">
                <a16:creationId xmlns:a16="http://schemas.microsoft.com/office/drawing/2014/main" id="{315298D3-7CB6-1C80-432A-763D0FE115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820" y="136525"/>
            <a:ext cx="8133453" cy="610008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1DD3B64-337E-3D1A-28D5-0B1CD37AC4F2}"/>
              </a:ext>
            </a:extLst>
          </p:cNvPr>
          <p:cNvGrpSpPr/>
          <p:nvPr/>
        </p:nvGrpSpPr>
        <p:grpSpPr>
          <a:xfrm>
            <a:off x="-11580123" y="480674"/>
            <a:ext cx="7101165" cy="2883673"/>
            <a:chOff x="-11580123" y="480674"/>
            <a:chExt cx="7101165" cy="2883673"/>
          </a:xfrm>
        </p:grpSpPr>
        <p:pic>
          <p:nvPicPr>
            <p:cNvPr id="34" name="Picture 33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B21D8E8F-5909-43FD-07FB-7C9FD0A91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580123" y="866203"/>
              <a:ext cx="1440000" cy="1080000"/>
            </a:xfrm>
            <a:prstGeom prst="rect">
              <a:avLst/>
            </a:prstGeom>
          </p:spPr>
        </p:pic>
        <p:pic>
          <p:nvPicPr>
            <p:cNvPr id="35" name="Picture 34" descr="A close-up of triangles&#10;&#10;Description automatically generated">
              <a:extLst>
                <a:ext uri="{FF2B5EF4-FFF2-40B4-BE49-F238E27FC236}">
                  <a16:creationId xmlns:a16="http://schemas.microsoft.com/office/drawing/2014/main" id="{3AC1BBF2-462B-B5C5-3BC7-DA8C37F57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9693068" y="866203"/>
              <a:ext cx="1440000" cy="1080000"/>
            </a:xfrm>
            <a:prstGeom prst="rect">
              <a:avLst/>
            </a:prstGeom>
          </p:spPr>
        </p:pic>
        <p:pic>
          <p:nvPicPr>
            <p:cNvPr id="36" name="Picture 35" descr="A close-up of triangles&#10;&#10;Description automatically generated">
              <a:extLst>
                <a:ext uri="{FF2B5EF4-FFF2-40B4-BE49-F238E27FC236}">
                  <a16:creationId xmlns:a16="http://schemas.microsoft.com/office/drawing/2014/main" id="{CBB01691-A532-1677-D4B3-78BF18C0D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806013" y="866203"/>
              <a:ext cx="1440000" cy="1080000"/>
            </a:xfrm>
            <a:prstGeom prst="rect">
              <a:avLst/>
            </a:prstGeom>
          </p:spPr>
        </p:pic>
        <p:pic>
          <p:nvPicPr>
            <p:cNvPr id="37" name="Picture 36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C41F4F5C-6C7F-2DB9-00B6-2D39333DE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918958" y="866203"/>
              <a:ext cx="1440000" cy="1080000"/>
            </a:xfrm>
            <a:prstGeom prst="rect">
              <a:avLst/>
            </a:prstGeom>
          </p:spPr>
        </p:pic>
        <p:pic>
          <p:nvPicPr>
            <p:cNvPr id="38" name="Picture 37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9FE96252-76E9-4A8C-EF36-9B2168E39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6" t="41956" r="41956" b="41956"/>
            <a:stretch/>
          </p:blipFill>
          <p:spPr>
            <a:xfrm>
              <a:off x="-11580123" y="2284347"/>
              <a:ext cx="1440000" cy="1080000"/>
            </a:xfrm>
            <a:prstGeom prst="rect">
              <a:avLst/>
            </a:prstGeom>
          </p:spPr>
        </p:pic>
        <p:pic>
          <p:nvPicPr>
            <p:cNvPr id="39" name="Picture 38" descr="A close-up of triangles&#10;&#10;Description automatically generated">
              <a:extLst>
                <a:ext uri="{FF2B5EF4-FFF2-40B4-BE49-F238E27FC236}">
                  <a16:creationId xmlns:a16="http://schemas.microsoft.com/office/drawing/2014/main" id="{8879917F-14FF-433D-7E01-5C362EB88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2" t="41922" r="41922" b="41922"/>
            <a:stretch/>
          </p:blipFill>
          <p:spPr>
            <a:xfrm>
              <a:off x="-9693068" y="2284347"/>
              <a:ext cx="1440000" cy="1080000"/>
            </a:xfrm>
            <a:prstGeom prst="rect">
              <a:avLst/>
            </a:prstGeom>
          </p:spPr>
        </p:pic>
        <p:pic>
          <p:nvPicPr>
            <p:cNvPr id="40" name="Picture 39" descr="A close-up of triangles&#10;&#10;Description automatically generated">
              <a:extLst>
                <a:ext uri="{FF2B5EF4-FFF2-40B4-BE49-F238E27FC236}">
                  <a16:creationId xmlns:a16="http://schemas.microsoft.com/office/drawing/2014/main" id="{9C9A9034-714A-C83E-2CCA-8FFD8A109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5" t="41925" r="41925" b="41925"/>
            <a:stretch/>
          </p:blipFill>
          <p:spPr>
            <a:xfrm>
              <a:off x="-7806013" y="2284347"/>
              <a:ext cx="1440000" cy="1080000"/>
            </a:xfrm>
            <a:prstGeom prst="rect">
              <a:avLst/>
            </a:prstGeom>
          </p:spPr>
        </p:pic>
        <p:pic>
          <p:nvPicPr>
            <p:cNvPr id="41" name="Picture 40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4E338BC4-1964-DD77-BF9E-C86369A78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32" t="41932" r="41932" b="41932"/>
            <a:stretch/>
          </p:blipFill>
          <p:spPr>
            <a:xfrm>
              <a:off x="-5918958" y="2284347"/>
              <a:ext cx="144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01EF0A-EAB9-ADE5-CBC1-1FC6B0CA3F99}"/>
                </a:ext>
              </a:extLst>
            </p:cNvPr>
            <p:cNvSpPr txBox="1"/>
            <p:nvPr/>
          </p:nvSpPr>
          <p:spPr>
            <a:xfrm>
              <a:off x="-11138743" y="480674"/>
              <a:ext cx="917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Original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A554F0-B0B7-79DA-31B1-BA8A6A013054}"/>
                </a:ext>
              </a:extLst>
            </p:cNvPr>
            <p:cNvSpPr txBox="1"/>
            <p:nvPr/>
          </p:nvSpPr>
          <p:spPr>
            <a:xfrm>
              <a:off x="-9572125" y="480674"/>
              <a:ext cx="1558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Gentle Blurred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8E069A-7E95-DC68-F0E2-5D3FDB43CC2C}"/>
                </a:ext>
              </a:extLst>
            </p:cNvPr>
            <p:cNvSpPr txBox="1"/>
            <p:nvPr/>
          </p:nvSpPr>
          <p:spPr>
            <a:xfrm>
              <a:off x="-7799591" y="480674"/>
              <a:ext cx="17871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Gentle Enhanced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FBF00AF-2F4C-7B0D-1208-4482201E468A}"/>
                </a:ext>
              </a:extLst>
            </p:cNvPr>
            <p:cNvSpPr txBox="1"/>
            <p:nvPr/>
          </p:nvSpPr>
          <p:spPr>
            <a:xfrm>
              <a:off x="-5553536" y="480674"/>
              <a:ext cx="10563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Binarized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81E2BC6-A9BD-5C96-AC4E-195299ECC1FE}"/>
              </a:ext>
            </a:extLst>
          </p:cNvPr>
          <p:cNvSpPr txBox="1"/>
          <p:nvPr/>
        </p:nvSpPr>
        <p:spPr>
          <a:xfrm>
            <a:off x="5090647" y="6169580"/>
            <a:ext cx="6449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Otsu's method of thresholding: minimizing the intra-class variance.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CD54BDA-6038-0B94-ECEC-D213751C42AC}"/>
              </a:ext>
            </a:extLst>
          </p:cNvPr>
          <p:cNvSpPr/>
          <p:nvPr/>
        </p:nvSpPr>
        <p:spPr>
          <a:xfrm>
            <a:off x="6781800" y="1189491"/>
            <a:ext cx="646577" cy="646577"/>
          </a:xfrm>
          <a:prstGeom prst="ellipse">
            <a:avLst/>
          </a:prstGeom>
          <a:ln w="63500">
            <a:solidFill>
              <a:srgbClr val="DCDA8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35BFA0-355E-A054-4360-90FEC231C6B5}"/>
                  </a:ext>
                </a:extLst>
              </p:cNvPr>
              <p:cNvSpPr txBox="1"/>
              <p:nvPr/>
            </p:nvSpPr>
            <p:spPr>
              <a:xfrm>
                <a:off x="9178241" y="5833765"/>
                <a:ext cx="2170851" cy="369332"/>
              </a:xfrm>
              <a:prstGeom prst="rect">
                <a:avLst/>
              </a:prstGeom>
              <a:solidFill>
                <a:srgbClr val="DCDA80">
                  <a:alpha val="70000"/>
                </a:srgb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 1, 2, …, 255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35BFA0-355E-A054-4360-90FEC231C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241" y="5833765"/>
                <a:ext cx="217085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DE53B7-3BE2-98A7-D9CD-0D61AD1F3B7C}"/>
              </a:ext>
            </a:extLst>
          </p:cNvPr>
          <p:cNvSpPr txBox="1"/>
          <p:nvPr/>
        </p:nvSpPr>
        <p:spPr>
          <a:xfrm>
            <a:off x="1276688" y="6169580"/>
            <a:ext cx="1522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Ed: TM92_C-Sapp_02</a:t>
            </a:r>
          </a:p>
        </p:txBody>
      </p:sp>
    </p:spTree>
    <p:extLst>
      <p:ext uri="{BB962C8B-B14F-4D97-AF65-F5344CB8AC3E}">
        <p14:creationId xmlns:p14="http://schemas.microsoft.com/office/powerpoint/2010/main" val="1705112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6381-6D99-1520-541B-68CB6EEC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9543-5C57-4BE8-2ECE-19E9519B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000"/>
            <a:ext cx="3240000" cy="648000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457200"/>
            <a:r>
              <a:rPr lang="en-US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Otsu’s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0210E-230E-A13A-F04A-044C840B30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426" y="2609071"/>
                <a:ext cx="5410939" cy="283579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Otsu's method selects a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that </a:t>
                </a:r>
                <a:r>
                  <a:rPr lang="en-US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maximizes the </a:t>
                </a:r>
                <a:r>
                  <a:rPr lang="en-US" sz="2000" b="1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etween-class variance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𝐵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(Or equivalently, minimizing intra-class intensity variance.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𝐵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standard deviation and variance between groups, respectively.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proportion of pixels in background and foreground respectively,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0210E-230E-A13A-F04A-044C840B30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426" y="2609071"/>
                <a:ext cx="5410939" cy="2835798"/>
              </a:xfrm>
              <a:blipFill>
                <a:blip r:embed="rId3"/>
                <a:stretch>
                  <a:fillRect l="-788" t="-1720" r="-901" b="-1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9FE0D1C-B701-783B-1CFE-6110D44B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AF6F3AD-33AE-A699-FD45-2D00DFC4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C45F8EC-3A75-61A4-E486-F272FC93D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69AAA9-0796-C20B-4151-BFBA8608093C}"/>
              </a:ext>
            </a:extLst>
          </p:cNvPr>
          <p:cNvGrpSpPr/>
          <p:nvPr/>
        </p:nvGrpSpPr>
        <p:grpSpPr>
          <a:xfrm>
            <a:off x="-6716985" y="-5738137"/>
            <a:ext cx="25625970" cy="1833427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BAB5B12-0968-1489-0143-C0FDB07C1F9C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6049A07-A4ED-08D7-DD9B-16297823E007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673AE61-2918-52CF-2B42-5781C30DF5B2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D746BF-8D2E-DB18-D7E8-634E89CDE4FE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1596961-ABB0-0AAA-53E6-A6CF6FE1353A}"/>
              </a:ext>
            </a:extLst>
          </p:cNvPr>
          <p:cNvSpPr txBox="1"/>
          <p:nvPr/>
        </p:nvSpPr>
        <p:spPr>
          <a:xfrm>
            <a:off x="360088" y="-729333"/>
            <a:ext cx="1789272" cy="61581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1" dirty="0"/>
              <a:t>Dimension:3, 31.8</a:t>
            </a:r>
          </a:p>
          <a:p>
            <a:r>
              <a:rPr lang="en-US" sz="1701" dirty="0"/>
              <a:t>Position: 1, 0.5 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95FDF5A-29BF-6446-B951-3431686D8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9937" y="758354"/>
            <a:ext cx="5810563" cy="4357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3E1C14-BBEB-5626-ACFC-08F7CBB77140}"/>
                  </a:ext>
                </a:extLst>
              </p:cNvPr>
              <p:cNvSpPr txBox="1"/>
              <p:nvPr/>
            </p:nvSpPr>
            <p:spPr>
              <a:xfrm>
                <a:off x="778139" y="1363321"/>
                <a:ext cx="4844005" cy="818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𝑜𝑝𝑡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𝐵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3E1C14-BBEB-5626-ACFC-08F7CBB77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39" y="1363321"/>
                <a:ext cx="4844005" cy="818429"/>
              </a:xfrm>
              <a:prstGeom prst="rect">
                <a:avLst/>
              </a:prstGeom>
              <a:blipFill>
                <a:blip r:embed="rId5"/>
                <a:stretch>
                  <a:fillRect b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F8F9880-19FA-475A-58AF-4C93D2743B7F}"/>
              </a:ext>
            </a:extLst>
          </p:cNvPr>
          <p:cNvSpPr txBox="1"/>
          <p:nvPr/>
        </p:nvSpPr>
        <p:spPr>
          <a:xfrm>
            <a:off x="778139" y="5516976"/>
            <a:ext cx="9586686" cy="51078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otsu_threshold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arrimg_5bnrz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\</a:t>
            </a:r>
          </a:p>
          <a:p>
            <a:pPr>
              <a:lnSpc>
                <a:spcPts val="1600"/>
              </a:lnSpc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threshold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arr_img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THRESH_BINARY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THRESH_OTSU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6385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51C7741D-87E5-6262-8F26-697690F0B723}"/>
              </a:ext>
            </a:extLst>
          </p:cNvPr>
          <p:cNvSpPr/>
          <p:nvPr/>
        </p:nvSpPr>
        <p:spPr>
          <a:xfrm>
            <a:off x="-6001800" y="1458000"/>
            <a:ext cx="5400000" cy="5400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288000"/>
            <a:ext cx="3240000" cy="648000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457200"/>
            <a:r>
              <a:rPr lang="en-US" altLang="zh-TW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Watershed</a:t>
            </a:r>
            <a:endParaRPr lang="en-US" sz="2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935843"/>
            <a:ext cx="11507959" cy="2170476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Prepare image: grayscale, noise reduction, then binarize.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Identify </a:t>
            </a:r>
            <a:r>
              <a:rPr lang="en-US" sz="1800" b="1" dirty="0"/>
              <a:t>background </a:t>
            </a:r>
            <a:r>
              <a:rPr lang="en-US" sz="1800" dirty="0"/>
              <a:t>by dilating (extend edge a little bit) the binary image.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Apply </a:t>
            </a:r>
            <a:r>
              <a:rPr lang="en-US" sz="1800" b="1" dirty="0"/>
              <a:t>distance transform</a:t>
            </a:r>
            <a:r>
              <a:rPr lang="en-US" sz="1800" dirty="0"/>
              <a:t> that turn none-zero pixel into the distance to nearest black pixel.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Set threshold to make out </a:t>
            </a:r>
            <a:r>
              <a:rPr lang="en-US" sz="1800" b="1" dirty="0"/>
              <a:t>foreground </a:t>
            </a:r>
            <a:r>
              <a:rPr lang="en-US" sz="1800" dirty="0"/>
              <a:t>from the distance transform result.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Subtract foreground from background to create </a:t>
            </a:r>
            <a:r>
              <a:rPr lang="en-US" sz="1800" b="1" dirty="0"/>
              <a:t>unknown</a:t>
            </a:r>
            <a:r>
              <a:rPr lang="en-US" sz="1800" dirty="0"/>
              <a:t> </a:t>
            </a:r>
            <a:r>
              <a:rPr lang="en-US" sz="1800" b="1" dirty="0"/>
              <a:t>regions</a:t>
            </a:r>
            <a:endParaRPr lang="en-US" sz="1800" dirty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Apply </a:t>
            </a:r>
            <a:r>
              <a:rPr lang="en-US" sz="1800" b="1" dirty="0"/>
              <a:t>watershed</a:t>
            </a:r>
            <a:r>
              <a:rPr lang="en-US" sz="1800" dirty="0"/>
              <a:t> by flooding between foreground islands to cut though unknown regions.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E202D6-0A4F-6CF0-D134-1B663A9BD111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F6B5A2-6AC3-ACD1-2C4D-B44B57592A94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417ACA7-B9A4-8366-164D-A595C3B1EF83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CA93B1-7B0A-9A57-E43F-25392A422A83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0062C23-34C6-4704-9187-2487F176C1AF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4CAFF21-DA00-289B-F415-0DF3A2434C51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71CF9B-77D8-34AC-467B-90AFE386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74C9DD1-4B8E-C92E-EE2B-AAAF9E3E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0419B9-C3CE-E05D-CB83-E7A0F9A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12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A1E334-E375-6FB6-BA8A-A59059395CC6}"/>
              </a:ext>
            </a:extLst>
          </p:cNvPr>
          <p:cNvSpPr txBox="1"/>
          <p:nvPr/>
        </p:nvSpPr>
        <p:spPr>
          <a:xfrm>
            <a:off x="1771218" y="-830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solidFill>
                  <a:schemeClr val="bg1">
                    <a:lumMod val="95000"/>
                  </a:schemeClr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分水嶺</a:t>
            </a:r>
            <a:endParaRPr lang="en-US">
              <a:solidFill>
                <a:schemeClr val="bg1">
                  <a:lumMod val="95000"/>
                </a:schemeClr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39" name="Picture 38" descr="A black and white triangle pattern&#10;&#10;Description automatically generated">
            <a:extLst>
              <a:ext uri="{FF2B5EF4-FFF2-40B4-BE49-F238E27FC236}">
                <a16:creationId xmlns:a16="http://schemas.microsoft.com/office/drawing/2014/main" id="{BB9D1107-2CBA-D5CE-4ABC-5DC5D54CF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000" y="3420000"/>
            <a:ext cx="1440000" cy="1440000"/>
          </a:xfrm>
          <a:prstGeom prst="rect">
            <a:avLst/>
          </a:prstGeom>
        </p:spPr>
      </p:pic>
      <p:pic>
        <p:nvPicPr>
          <p:cNvPr id="42" name="Picture 41" descr="A close-up of a black and white background&#10;&#10;Description automatically generated">
            <a:extLst>
              <a:ext uri="{FF2B5EF4-FFF2-40B4-BE49-F238E27FC236}">
                <a16:creationId xmlns:a16="http://schemas.microsoft.com/office/drawing/2014/main" id="{B5A45A0F-124E-3ED5-7D21-971B182CC6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3420000"/>
            <a:ext cx="1440000" cy="14400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DAFD9A3-7119-3D16-7249-7B524489CDC7}"/>
              </a:ext>
            </a:extLst>
          </p:cNvPr>
          <p:cNvSpPr txBox="1"/>
          <p:nvPr/>
        </p:nvSpPr>
        <p:spPr>
          <a:xfrm>
            <a:off x="657961" y="3132033"/>
            <a:ext cx="1665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Prepared image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CA0C12-4E9E-B919-962B-322984FCD474}"/>
              </a:ext>
            </a:extLst>
          </p:cNvPr>
          <p:cNvSpPr txBox="1"/>
          <p:nvPr/>
        </p:nvSpPr>
        <p:spPr>
          <a:xfrm>
            <a:off x="2793635" y="3132033"/>
            <a:ext cx="12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Background</a:t>
            </a:r>
            <a:endParaRPr lang="en-US" dirty="0"/>
          </a:p>
        </p:txBody>
      </p:sp>
      <p:pic>
        <p:nvPicPr>
          <p:cNvPr id="47" name="Picture 46" descr="A black background with white triangles&#10;&#10;Description automatically generated">
            <a:extLst>
              <a:ext uri="{FF2B5EF4-FFF2-40B4-BE49-F238E27FC236}">
                <a16:creationId xmlns:a16="http://schemas.microsoft.com/office/drawing/2014/main" id="{0E807631-A96A-D2A4-DEC6-F5FEE9F2E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000" y="3420000"/>
            <a:ext cx="1440000" cy="14400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860B0F3-9078-BA94-0778-F260A45BA325}"/>
              </a:ext>
            </a:extLst>
          </p:cNvPr>
          <p:cNvSpPr txBox="1"/>
          <p:nvPr/>
        </p:nvSpPr>
        <p:spPr>
          <a:xfrm>
            <a:off x="4256144" y="3132033"/>
            <a:ext cx="1985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Distance Transform</a:t>
            </a:r>
            <a:endParaRPr lang="en-US" dirty="0"/>
          </a:p>
        </p:txBody>
      </p:sp>
      <p:pic>
        <p:nvPicPr>
          <p:cNvPr id="51" name="Picture 50" descr="A black and white background with white triangles&#10;&#10;Description automatically generated">
            <a:extLst>
              <a:ext uri="{FF2B5EF4-FFF2-40B4-BE49-F238E27FC236}">
                <a16:creationId xmlns:a16="http://schemas.microsoft.com/office/drawing/2014/main" id="{7C34C1D8-D00E-8BA3-A6DF-CEBAB5777A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000" y="3420000"/>
            <a:ext cx="1440000" cy="14400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39FA366-A70C-2581-4049-5296DA20D8D5}"/>
              </a:ext>
            </a:extLst>
          </p:cNvPr>
          <p:cNvSpPr txBox="1"/>
          <p:nvPr/>
        </p:nvSpPr>
        <p:spPr>
          <a:xfrm>
            <a:off x="6407441" y="3132033"/>
            <a:ext cx="1274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Foreground</a:t>
            </a:r>
            <a:endParaRPr lang="en-US" dirty="0"/>
          </a:p>
        </p:txBody>
      </p:sp>
      <p:pic>
        <p:nvPicPr>
          <p:cNvPr id="55" name="Picture 54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4E4C23A3-6B14-34A1-A248-82DA178A69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000" y="3420000"/>
            <a:ext cx="1440000" cy="14400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E44CCBE-1303-A9BB-709E-96D18B3A16BA}"/>
              </a:ext>
            </a:extLst>
          </p:cNvPr>
          <p:cNvSpPr txBox="1"/>
          <p:nvPr/>
        </p:nvSpPr>
        <p:spPr>
          <a:xfrm>
            <a:off x="8392727" y="3132033"/>
            <a:ext cx="1087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Unknown</a:t>
            </a:r>
            <a:endParaRPr lang="en-US" dirty="0"/>
          </a:p>
        </p:txBody>
      </p:sp>
      <p:pic>
        <p:nvPicPr>
          <p:cNvPr id="59" name="Picture 58" descr="A black and white triangle pattern&#10;&#10;Description automatically generated">
            <a:extLst>
              <a:ext uri="{FF2B5EF4-FFF2-40B4-BE49-F238E27FC236}">
                <a16:creationId xmlns:a16="http://schemas.microsoft.com/office/drawing/2014/main" id="{2CEE738A-E5D6-75B9-CAD6-B653FD7E9D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000" y="3420000"/>
            <a:ext cx="1440000" cy="14400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C6C5C94C-1ADC-2333-D9A0-AA6F20B32045}"/>
              </a:ext>
            </a:extLst>
          </p:cNvPr>
          <p:cNvSpPr txBox="1"/>
          <p:nvPr/>
        </p:nvSpPr>
        <p:spPr>
          <a:xfrm>
            <a:off x="10191423" y="3132033"/>
            <a:ext cx="1205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Watershed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88227C-BCD4-63C3-A5B1-41649AC21F8B}"/>
              </a:ext>
            </a:extLst>
          </p:cNvPr>
          <p:cNvSpPr txBox="1"/>
          <p:nvPr/>
        </p:nvSpPr>
        <p:spPr>
          <a:xfrm>
            <a:off x="3743658" y="366178"/>
            <a:ext cx="8448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/>
              <a:t>Cut through crystals that sticks together.</a:t>
            </a:r>
          </a:p>
        </p:txBody>
      </p:sp>
      <p:pic>
        <p:nvPicPr>
          <p:cNvPr id="63" name="Picture 62" descr="A black and white triangle pattern&#10;&#10;Description automatically generated">
            <a:extLst>
              <a:ext uri="{FF2B5EF4-FFF2-40B4-BE49-F238E27FC236}">
                <a16:creationId xmlns:a16="http://schemas.microsoft.com/office/drawing/2014/main" id="{6410C7F1-71D8-B3F6-B9D4-8FB015696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2" t="73337" r="39825"/>
          <a:stretch/>
        </p:blipFill>
        <p:spPr>
          <a:xfrm>
            <a:off x="2592000" y="4968000"/>
            <a:ext cx="1440000" cy="1440000"/>
          </a:xfrm>
          <a:prstGeom prst="rect">
            <a:avLst/>
          </a:prstGeom>
        </p:spPr>
      </p:pic>
      <p:pic>
        <p:nvPicPr>
          <p:cNvPr id="64" name="Picture 63" descr="A close-up of a black and white background&#10;&#10;Description automatically generated">
            <a:extLst>
              <a:ext uri="{FF2B5EF4-FFF2-40B4-BE49-F238E27FC236}">
                <a16:creationId xmlns:a16="http://schemas.microsoft.com/office/drawing/2014/main" id="{C637DF0C-5B6D-33AF-AF64-85DA4EA36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1" t="73333" r="40032"/>
          <a:stretch/>
        </p:blipFill>
        <p:spPr>
          <a:xfrm>
            <a:off x="720000" y="4968000"/>
            <a:ext cx="1440000" cy="1440000"/>
          </a:xfrm>
          <a:prstGeom prst="rect">
            <a:avLst/>
          </a:prstGeom>
        </p:spPr>
      </p:pic>
      <p:pic>
        <p:nvPicPr>
          <p:cNvPr id="65" name="Picture 64" descr="A black background with white triangles&#10;&#10;Description automatically generated">
            <a:extLst>
              <a:ext uri="{FF2B5EF4-FFF2-40B4-BE49-F238E27FC236}">
                <a16:creationId xmlns:a16="http://schemas.microsoft.com/office/drawing/2014/main" id="{6F72342B-5052-091D-682D-25B4EB93A4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69" t="73333" r="40064"/>
          <a:stretch/>
        </p:blipFill>
        <p:spPr>
          <a:xfrm>
            <a:off x="4464000" y="4968000"/>
            <a:ext cx="1440000" cy="1440000"/>
          </a:xfrm>
          <a:prstGeom prst="rect">
            <a:avLst/>
          </a:prstGeom>
        </p:spPr>
      </p:pic>
      <p:pic>
        <p:nvPicPr>
          <p:cNvPr id="66" name="Picture 65" descr="A black and white background with white triangles&#10;&#10;Description automatically generated">
            <a:extLst>
              <a:ext uri="{FF2B5EF4-FFF2-40B4-BE49-F238E27FC236}">
                <a16:creationId xmlns:a16="http://schemas.microsoft.com/office/drawing/2014/main" id="{A50BFD1D-ABAC-7ADA-6F79-786E332AFA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35" t="73343" r="39808"/>
          <a:stretch/>
        </p:blipFill>
        <p:spPr>
          <a:xfrm>
            <a:off x="6336000" y="4968000"/>
            <a:ext cx="1440000" cy="1440000"/>
          </a:xfrm>
          <a:prstGeom prst="rect">
            <a:avLst/>
          </a:prstGeom>
        </p:spPr>
      </p:pic>
      <p:pic>
        <p:nvPicPr>
          <p:cNvPr id="67" name="Picture 66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CCB5F189-E2BA-B57B-745A-4755D82727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1" t="73333" r="40032"/>
          <a:stretch/>
        </p:blipFill>
        <p:spPr>
          <a:xfrm>
            <a:off x="8208000" y="4968000"/>
            <a:ext cx="1440000" cy="1440000"/>
          </a:xfrm>
          <a:prstGeom prst="rect">
            <a:avLst/>
          </a:prstGeom>
        </p:spPr>
      </p:pic>
      <p:pic>
        <p:nvPicPr>
          <p:cNvPr id="68" name="Picture 67" descr="A black and white triangle pattern&#10;&#10;Description automatically generated">
            <a:extLst>
              <a:ext uri="{FF2B5EF4-FFF2-40B4-BE49-F238E27FC236}">
                <a16:creationId xmlns:a16="http://schemas.microsoft.com/office/drawing/2014/main" id="{48F0BB2F-CB85-72D4-7EB8-509274E12A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3" t="73442" r="39599"/>
          <a:stretch/>
        </p:blipFill>
        <p:spPr>
          <a:xfrm>
            <a:off x="10080000" y="4968000"/>
            <a:ext cx="1440000" cy="1440000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CE35EEEC-647A-B117-6F10-DB5845202301}"/>
              </a:ext>
            </a:extLst>
          </p:cNvPr>
          <p:cNvSpPr/>
          <p:nvPr/>
        </p:nvSpPr>
        <p:spPr>
          <a:xfrm>
            <a:off x="-6001800" y="4698000"/>
            <a:ext cx="2160000" cy="2160000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88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66B96-AF87-C7A0-2DF1-5B4503EA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FD44-604C-FE91-085C-B8403F1F6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000"/>
            <a:ext cx="3240000" cy="648000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457200"/>
            <a:r>
              <a:rPr lang="en-US" sz="2800" dirty="0">
                <a:solidFill>
                  <a:schemeClr val="bg1"/>
                </a:solidFill>
              </a:rPr>
              <a:t> Distance Transform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553BB-10C2-2C5B-17F8-49F4B5581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080007"/>
            <a:ext cx="5137636" cy="330330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Distance Transform</a:t>
            </a:r>
            <a:r>
              <a:rPr lang="en-US" sz="2400" dirty="0"/>
              <a:t> applied to a binary image so that: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Black (0) regions remain black, representing the background.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White (non-zero) regions are transformed so each pixel's value represents the distance (in pixels) to the nearest black (0) pixel.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8A6F86A-EA68-84C0-7449-42DE02689A91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B887B7-BB3C-368C-02EA-40FF91213ABC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9D718B0-8C59-C2DA-3AC5-E75C59F886C2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4C8FB57-EC9D-965F-40A1-CE12AC5DC525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FF575-C1B3-0258-722A-73EBCFA044CC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9E36A7E-C321-190D-A7A3-63F021AD98EE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2C89390-D2A9-A9A7-42CF-75CFCA2B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856428E-2D5A-2CE9-6130-BF2B124B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6FCA2C4-4F7B-2559-AF32-BEF20476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13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02FD65-4ED1-C51A-D564-F22209D205C9}"/>
              </a:ext>
            </a:extLst>
          </p:cNvPr>
          <p:cNvSpPr txBox="1"/>
          <p:nvPr/>
        </p:nvSpPr>
        <p:spPr>
          <a:xfrm>
            <a:off x="1771218" y="-830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solidFill>
                  <a:schemeClr val="bg1">
                    <a:lumMod val="95000"/>
                  </a:schemeClr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分水嶺</a:t>
            </a:r>
            <a:endParaRPr lang="en-US">
              <a:solidFill>
                <a:schemeClr val="bg1">
                  <a:lumMod val="95000"/>
                </a:schemeClr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26" name="Picture 25" descr="A black background with white dots&#10;&#10;Description automatically generated">
            <a:extLst>
              <a:ext uri="{FF2B5EF4-FFF2-40B4-BE49-F238E27FC236}">
                <a16:creationId xmlns:a16="http://schemas.microsoft.com/office/drawing/2014/main" id="{CD7123B6-AF1A-3FB0-B69A-6FAAC1B15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957" y="541296"/>
            <a:ext cx="2520000" cy="2520000"/>
          </a:xfrm>
          <a:prstGeom prst="rect">
            <a:avLst/>
          </a:prstGeom>
        </p:spPr>
      </p:pic>
      <p:pic>
        <p:nvPicPr>
          <p:cNvPr id="28" name="Picture 27" descr="A black and white polka dot pattern&#10;&#10;Description automatically generated">
            <a:extLst>
              <a:ext uri="{FF2B5EF4-FFF2-40B4-BE49-F238E27FC236}">
                <a16:creationId xmlns:a16="http://schemas.microsoft.com/office/drawing/2014/main" id="{13F15B6F-EF7D-B819-DE2B-00AA4A4D9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803" y="541296"/>
            <a:ext cx="2520000" cy="252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60BC6F5-4474-6C4F-9967-8CCEAE860DA2}"/>
              </a:ext>
            </a:extLst>
          </p:cNvPr>
          <p:cNvSpPr txBox="1"/>
          <p:nvPr/>
        </p:nvSpPr>
        <p:spPr>
          <a:xfrm>
            <a:off x="6941456" y="5823864"/>
            <a:ext cx="1431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/>
              <a:t>Input image</a:t>
            </a:r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620D3A-2AF7-EF85-CC07-C65067BD1F43}"/>
              </a:ext>
            </a:extLst>
          </p:cNvPr>
          <p:cNvSpPr txBox="1"/>
          <p:nvPr/>
        </p:nvSpPr>
        <p:spPr>
          <a:xfrm>
            <a:off x="9002803" y="5858369"/>
            <a:ext cx="2730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/>
              <a:t>After distance transform</a:t>
            </a:r>
            <a:endParaRPr lang="en-US" sz="2000" dirty="0"/>
          </a:p>
        </p:txBody>
      </p:sp>
      <p:pic>
        <p:nvPicPr>
          <p:cNvPr id="33" name="Picture 32" descr="A black background with white triangles&#10;&#10;Description automatically generated">
            <a:extLst>
              <a:ext uri="{FF2B5EF4-FFF2-40B4-BE49-F238E27FC236}">
                <a16:creationId xmlns:a16="http://schemas.microsoft.com/office/drawing/2014/main" id="{4A1115B9-9D86-EE4C-F465-31073ECEF1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957" y="3303864"/>
            <a:ext cx="2520000" cy="2520000"/>
          </a:xfrm>
          <a:prstGeom prst="rect">
            <a:avLst/>
          </a:prstGeom>
        </p:spPr>
      </p:pic>
      <p:pic>
        <p:nvPicPr>
          <p:cNvPr id="35" name="Picture 34" descr="A black and white pattern with white dots&#10;&#10;Description automatically generated">
            <a:extLst>
              <a:ext uri="{FF2B5EF4-FFF2-40B4-BE49-F238E27FC236}">
                <a16:creationId xmlns:a16="http://schemas.microsoft.com/office/drawing/2014/main" id="{7A896A31-359C-8262-09F7-D3399C33F4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803" y="3303864"/>
            <a:ext cx="2520000" cy="2520000"/>
          </a:xfrm>
          <a:prstGeom prst="rect">
            <a:avLst/>
          </a:prstGeom>
        </p:spPr>
      </p:pic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0C9982C-D9AF-DED0-E9D2-4C93DB65A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59" y="4228841"/>
            <a:ext cx="6025563" cy="2127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040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5233-6861-71D5-33B7-C27CCFDC3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5DBB9-2EAF-40F7-9A1F-C8933511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000"/>
            <a:ext cx="11448000" cy="648000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altLang="zh-TW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Watershed Parameter Adjustments</a:t>
            </a:r>
            <a:endParaRPr lang="en-US" sz="2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B150-291D-A575-870D-ABE371099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19612"/>
            <a:ext cx="11448000" cy="428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 err="1"/>
              <a:t>frgd_thrs_ratio</a:t>
            </a:r>
            <a:r>
              <a:rPr lang="en-US" sz="2000" dirty="0"/>
              <a:t> is a parameter between 0 and 1 that controls the erosion from the edge of foreground.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23C542-67BB-95C2-97EF-F02EC5E82247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171E23-32DB-2DFA-5C8A-7E6077253810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46259F0-C1DE-F1B5-5194-F28506DEEF10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C4DD22-C594-48D0-12B3-1186B3CBD477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CE270A1-02ED-4D77-E1AE-D2536C6F9F35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B7BD14A-3095-CDBC-C65F-C761D7CAF6F3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DA52A03-BE1A-43C4-6201-EDC1437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7528414-1558-38A8-3C58-68E603F2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2EA0F45-C0DF-A37D-8A10-4C02AB6EA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14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CA5C7E-66E9-3869-06B4-23B7811863DB}"/>
              </a:ext>
            </a:extLst>
          </p:cNvPr>
          <p:cNvSpPr txBox="1"/>
          <p:nvPr/>
        </p:nvSpPr>
        <p:spPr>
          <a:xfrm>
            <a:off x="1157711" y="34920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0.3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5420F5A-9B58-8F18-629C-188BDF647EAB}"/>
              </a:ext>
            </a:extLst>
          </p:cNvPr>
          <p:cNvSpPr/>
          <p:nvPr/>
        </p:nvSpPr>
        <p:spPr>
          <a:xfrm>
            <a:off x="1459206" y="7926175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359B0C9-7013-B9BA-B890-FC2AF250532A}"/>
              </a:ext>
            </a:extLst>
          </p:cNvPr>
          <p:cNvSpPr/>
          <p:nvPr/>
        </p:nvSpPr>
        <p:spPr>
          <a:xfrm>
            <a:off x="2342474" y="8541681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AFA2F34-1E07-5B47-F79A-8E9F22ED1024}"/>
              </a:ext>
            </a:extLst>
          </p:cNvPr>
          <p:cNvSpPr/>
          <p:nvPr/>
        </p:nvSpPr>
        <p:spPr>
          <a:xfrm>
            <a:off x="14529624" y="6132512"/>
            <a:ext cx="812800" cy="8128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F15C650-A619-E855-FDE0-CC1E8AB8BAF0}"/>
              </a:ext>
            </a:extLst>
          </p:cNvPr>
          <p:cNvSpPr/>
          <p:nvPr/>
        </p:nvSpPr>
        <p:spPr>
          <a:xfrm>
            <a:off x="13670126" y="5726112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and white background with white dots&#10;&#10;Description automatically generated">
            <a:extLst>
              <a:ext uri="{FF2B5EF4-FFF2-40B4-BE49-F238E27FC236}">
                <a16:creationId xmlns:a16="http://schemas.microsoft.com/office/drawing/2014/main" id="{562BC6EF-E80C-BA19-A171-15F775F71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000" y="1332094"/>
            <a:ext cx="2160000" cy="2160000"/>
          </a:xfrm>
          <a:prstGeom prst="rect">
            <a:avLst/>
          </a:prstGeom>
        </p:spPr>
      </p:pic>
      <p:pic>
        <p:nvPicPr>
          <p:cNvPr id="21" name="Picture 20" descr="A black and white background with white spots&#10;&#10;Description automatically generated">
            <a:extLst>
              <a:ext uri="{FF2B5EF4-FFF2-40B4-BE49-F238E27FC236}">
                <a16:creationId xmlns:a16="http://schemas.microsoft.com/office/drawing/2014/main" id="{9B405871-7751-8F56-8BA4-E55AC882BB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332094"/>
            <a:ext cx="2160000" cy="2160000"/>
          </a:xfrm>
          <a:prstGeom prst="rect">
            <a:avLst/>
          </a:prstGeom>
        </p:spPr>
      </p:pic>
      <p:pic>
        <p:nvPicPr>
          <p:cNvPr id="23" name="Picture 22" descr="A black and white background with white spots&#10;&#10;Description automatically generated">
            <a:extLst>
              <a:ext uri="{FF2B5EF4-FFF2-40B4-BE49-F238E27FC236}">
                <a16:creationId xmlns:a16="http://schemas.microsoft.com/office/drawing/2014/main" id="{148F3E1A-05BE-D53A-65BB-CA85EC537E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000" y="1332094"/>
            <a:ext cx="2160000" cy="2160000"/>
          </a:xfrm>
          <a:prstGeom prst="rect">
            <a:avLst/>
          </a:prstGeom>
        </p:spPr>
      </p:pic>
      <p:pic>
        <p:nvPicPr>
          <p:cNvPr id="25" name="Picture 24" descr="A black and white background with white dots&#10;&#10;Description automatically generated">
            <a:extLst>
              <a:ext uri="{FF2B5EF4-FFF2-40B4-BE49-F238E27FC236}">
                <a16:creationId xmlns:a16="http://schemas.microsoft.com/office/drawing/2014/main" id="{ED226E41-0567-2B72-60B8-89FF21DABA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00" y="1332094"/>
            <a:ext cx="2160000" cy="2160000"/>
          </a:xfrm>
          <a:prstGeom prst="rect">
            <a:avLst/>
          </a:prstGeom>
        </p:spPr>
      </p:pic>
      <p:pic>
        <p:nvPicPr>
          <p:cNvPr id="27" name="Picture 26" descr="A black and white background with white dots&#10;&#10;Description automatically generated">
            <a:extLst>
              <a:ext uri="{FF2B5EF4-FFF2-40B4-BE49-F238E27FC236}">
                <a16:creationId xmlns:a16="http://schemas.microsoft.com/office/drawing/2014/main" id="{17F44C6C-F61D-9769-0E26-D86D788E88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000" y="1332094"/>
            <a:ext cx="2160000" cy="2160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B58B0D2-71FA-44C9-0662-278EA8649F12}"/>
              </a:ext>
            </a:extLst>
          </p:cNvPr>
          <p:cNvSpPr txBox="1"/>
          <p:nvPr/>
        </p:nvSpPr>
        <p:spPr>
          <a:xfrm>
            <a:off x="3520985" y="34920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0.4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7A2FCE-60C6-CCB6-15C1-A01AB4553F11}"/>
              </a:ext>
            </a:extLst>
          </p:cNvPr>
          <p:cNvSpPr txBox="1"/>
          <p:nvPr/>
        </p:nvSpPr>
        <p:spPr>
          <a:xfrm>
            <a:off x="5801711" y="34920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122509-A776-9336-5703-6E54E183877F}"/>
              </a:ext>
            </a:extLst>
          </p:cNvPr>
          <p:cNvSpPr txBox="1"/>
          <p:nvPr/>
        </p:nvSpPr>
        <p:spPr>
          <a:xfrm>
            <a:off x="8187005" y="34920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0.6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E139D8-B0DA-7BAA-25E2-D3A730E832F6}"/>
              </a:ext>
            </a:extLst>
          </p:cNvPr>
          <p:cNvSpPr txBox="1"/>
          <p:nvPr/>
        </p:nvSpPr>
        <p:spPr>
          <a:xfrm>
            <a:off x="10445711" y="349209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0.7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0E72EBA-88F9-89A1-49E4-C9B601E8222F}"/>
              </a:ext>
            </a:extLst>
          </p:cNvPr>
          <p:cNvSpPr/>
          <p:nvPr/>
        </p:nvSpPr>
        <p:spPr>
          <a:xfrm>
            <a:off x="11610000" y="2412094"/>
            <a:ext cx="360000" cy="3600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9D04B20-C3C2-C64C-879A-7079F073EAB9}"/>
              </a:ext>
            </a:extLst>
          </p:cNvPr>
          <p:cNvSpPr/>
          <p:nvPr/>
        </p:nvSpPr>
        <p:spPr>
          <a:xfrm>
            <a:off x="1707689" y="2727288"/>
            <a:ext cx="360000" cy="360000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7684AF8-469B-C40F-49D8-E83426903463}"/>
              </a:ext>
            </a:extLst>
          </p:cNvPr>
          <p:cNvSpPr/>
          <p:nvPr/>
        </p:nvSpPr>
        <p:spPr>
          <a:xfrm>
            <a:off x="4029689" y="2727288"/>
            <a:ext cx="360000" cy="360000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792BBD8-4367-A821-4BE9-4C9E61E95CBE}"/>
              </a:ext>
            </a:extLst>
          </p:cNvPr>
          <p:cNvSpPr/>
          <p:nvPr/>
        </p:nvSpPr>
        <p:spPr>
          <a:xfrm>
            <a:off x="3382574" y="2412094"/>
            <a:ext cx="360000" cy="360000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94C1FAC-C214-FBCF-879E-6DEF7B480CFF}"/>
              </a:ext>
            </a:extLst>
          </p:cNvPr>
          <p:cNvSpPr/>
          <p:nvPr/>
        </p:nvSpPr>
        <p:spPr>
          <a:xfrm>
            <a:off x="1024356" y="2412094"/>
            <a:ext cx="360000" cy="360000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BA689A2-0514-9D49-9790-31C96D7D4AF7}"/>
              </a:ext>
            </a:extLst>
          </p:cNvPr>
          <p:cNvSpPr/>
          <p:nvPr/>
        </p:nvSpPr>
        <p:spPr>
          <a:xfrm>
            <a:off x="977711" y="1310752"/>
            <a:ext cx="360000" cy="360000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E6998F1-2A1F-B703-EDA5-1B3500D59259}"/>
              </a:ext>
            </a:extLst>
          </p:cNvPr>
          <p:cNvSpPr/>
          <p:nvPr/>
        </p:nvSpPr>
        <p:spPr>
          <a:xfrm>
            <a:off x="9270900" y="2412094"/>
            <a:ext cx="360000" cy="3600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9F5BEEE-F49A-0099-16FD-01F30BA4C190}"/>
              </a:ext>
            </a:extLst>
          </p:cNvPr>
          <p:cNvSpPr/>
          <p:nvPr/>
        </p:nvSpPr>
        <p:spPr>
          <a:xfrm>
            <a:off x="6885000" y="2412094"/>
            <a:ext cx="360000" cy="3600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778D60D-E0F1-1DDB-2AF1-E4D003E9D24A}"/>
              </a:ext>
            </a:extLst>
          </p:cNvPr>
          <p:cNvSpPr/>
          <p:nvPr/>
        </p:nvSpPr>
        <p:spPr>
          <a:xfrm>
            <a:off x="371264" y="5183357"/>
            <a:ext cx="360000" cy="360000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358734-48BA-1024-D5DE-76AA0FFF210D}"/>
              </a:ext>
            </a:extLst>
          </p:cNvPr>
          <p:cNvSpPr txBox="1"/>
          <p:nvPr/>
        </p:nvSpPr>
        <p:spPr>
          <a:xfrm>
            <a:off x="780973" y="5192889"/>
            <a:ext cx="131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Linked error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2F4DB1-7AF2-E142-76B9-2881326A60F2}"/>
              </a:ext>
            </a:extLst>
          </p:cNvPr>
          <p:cNvSpPr/>
          <p:nvPr/>
        </p:nvSpPr>
        <p:spPr>
          <a:xfrm>
            <a:off x="371264" y="5619185"/>
            <a:ext cx="360000" cy="3600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D8AF55-24BF-F02A-80C2-D7AC4D5BAA9A}"/>
              </a:ext>
            </a:extLst>
          </p:cNvPr>
          <p:cNvSpPr txBox="1"/>
          <p:nvPr/>
        </p:nvSpPr>
        <p:spPr>
          <a:xfrm>
            <a:off x="780973" y="5628717"/>
            <a:ext cx="142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Missing error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4D4E974-4BB2-9599-7D53-FA78B150974C}"/>
              </a:ext>
            </a:extLst>
          </p:cNvPr>
          <p:cNvSpPr/>
          <p:nvPr/>
        </p:nvSpPr>
        <p:spPr>
          <a:xfrm>
            <a:off x="10265711" y="2412094"/>
            <a:ext cx="360000" cy="3600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204F57B-F181-3DFF-514F-76EFBD6596D1}"/>
              </a:ext>
            </a:extLst>
          </p:cNvPr>
          <p:cNvSpPr/>
          <p:nvPr/>
        </p:nvSpPr>
        <p:spPr>
          <a:xfrm>
            <a:off x="10277550" y="1291705"/>
            <a:ext cx="360000" cy="3600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0042855-9CB0-1F6B-24D1-3758E937960B}"/>
              </a:ext>
            </a:extLst>
          </p:cNvPr>
          <p:cNvSpPr/>
          <p:nvPr/>
        </p:nvSpPr>
        <p:spPr>
          <a:xfrm>
            <a:off x="11009389" y="2757433"/>
            <a:ext cx="360000" cy="3600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2130111-243A-B193-5806-B9C54035B44A}"/>
              </a:ext>
            </a:extLst>
          </p:cNvPr>
          <p:cNvGrpSpPr/>
          <p:nvPr/>
        </p:nvGrpSpPr>
        <p:grpSpPr>
          <a:xfrm>
            <a:off x="3897722" y="3972512"/>
            <a:ext cx="2241000" cy="2493551"/>
            <a:chOff x="-2857882" y="3203357"/>
            <a:chExt cx="2241000" cy="2493551"/>
          </a:xfrm>
        </p:grpSpPr>
        <p:pic>
          <p:nvPicPr>
            <p:cNvPr id="61" name="Picture 60" descr="A black and white background with white dots&#10;&#10;Description automatically generated">
              <a:extLst>
                <a:ext uri="{FF2B5EF4-FFF2-40B4-BE49-F238E27FC236}">
                  <a16:creationId xmlns:a16="http://schemas.microsoft.com/office/drawing/2014/main" id="{39AF207F-86D6-F354-BAE1-1B1796507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857882" y="3203357"/>
              <a:ext cx="2160000" cy="216000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4B5C07E-6630-0825-272B-09105F483381}"/>
                </a:ext>
              </a:extLst>
            </p:cNvPr>
            <p:cNvSpPr txBox="1"/>
            <p:nvPr/>
          </p:nvSpPr>
          <p:spPr>
            <a:xfrm>
              <a:off x="-2123489" y="5327576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solidFill>
                    <a:schemeClr val="accent1"/>
                  </a:solidFill>
                  <a:effectLst/>
                  <a:latin typeface="Consolas" panose="020B0609020204030204" pitchFamily="49" charset="0"/>
                </a:rPr>
                <a:t>0.45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6ECDA15-60BF-DF26-E2DA-07EDF845FECF}"/>
                </a:ext>
              </a:extLst>
            </p:cNvPr>
            <p:cNvSpPr/>
            <p:nvPr/>
          </p:nvSpPr>
          <p:spPr>
            <a:xfrm>
              <a:off x="-1518654" y="4634402"/>
              <a:ext cx="360000" cy="360000"/>
            </a:xfrm>
            <a:prstGeom prst="ellipse">
              <a:avLst/>
            </a:prstGeom>
            <a:noFill/>
            <a:ln w="63500">
              <a:solidFill>
                <a:schemeClr val="accent4"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9BD128E-FD69-A02C-1F96-6015C629986C}"/>
                </a:ext>
              </a:extLst>
            </p:cNvPr>
            <p:cNvSpPr/>
            <p:nvPr/>
          </p:nvSpPr>
          <p:spPr>
            <a:xfrm>
              <a:off x="-976882" y="4248224"/>
              <a:ext cx="360000" cy="360000"/>
            </a:xfrm>
            <a:prstGeom prst="ellipse">
              <a:avLst/>
            </a:prstGeom>
            <a:noFill/>
            <a:ln w="63500">
              <a:solidFill>
                <a:srgbClr val="C0000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E652A44-5E54-7438-266F-12844674FB65}"/>
              </a:ext>
            </a:extLst>
          </p:cNvPr>
          <p:cNvSpPr txBox="1"/>
          <p:nvPr/>
        </p:nvSpPr>
        <p:spPr>
          <a:xfrm>
            <a:off x="9900450" y="3816226"/>
            <a:ext cx="1709550" cy="923330"/>
          </a:xfrm>
          <a:prstGeom prst="rect">
            <a:avLst/>
          </a:prstGeom>
          <a:solidFill>
            <a:srgbClr val="C0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Too high, some foregrounds are missing.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5A702-AEB4-B15D-9A86-031615C9ECCC}"/>
              </a:ext>
            </a:extLst>
          </p:cNvPr>
          <p:cNvSpPr txBox="1"/>
          <p:nvPr/>
        </p:nvSpPr>
        <p:spPr>
          <a:xfrm>
            <a:off x="638636" y="3816226"/>
            <a:ext cx="1709550" cy="923330"/>
          </a:xfrm>
          <a:prstGeom prst="rect">
            <a:avLst/>
          </a:prstGeom>
          <a:solidFill>
            <a:schemeClr val="accent4">
              <a:alpha val="2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Too small, some foregrounds are linked together.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D6814-04D3-51CF-059A-B88B375FA497}"/>
              </a:ext>
            </a:extLst>
          </p:cNvPr>
          <p:cNvSpPr txBox="1"/>
          <p:nvPr/>
        </p:nvSpPr>
        <p:spPr>
          <a:xfrm>
            <a:off x="6310172" y="5024741"/>
            <a:ext cx="5389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hard to find a middle ground that both error won’t occur.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Setting suitable for this image might not be suitable for another image.</a:t>
            </a:r>
          </a:p>
        </p:txBody>
      </p:sp>
    </p:spTree>
    <p:extLst>
      <p:ext uri="{BB962C8B-B14F-4D97-AF65-F5344CB8AC3E}">
        <p14:creationId xmlns:p14="http://schemas.microsoft.com/office/powerpoint/2010/main" val="506791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28374-D5AF-F29A-90D4-9833122C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1572-AB3C-4064-E489-1094B2AAD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000"/>
            <a:ext cx="11448000" cy="648000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altLang="zh-TW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Watershed </a:t>
            </a:r>
            <a:r>
              <a:rPr lang="en-US" altLang="zh-TW" sz="2800" dirty="0">
                <a:solidFill>
                  <a:schemeClr val="bg1"/>
                </a:solidFill>
              </a:rPr>
              <a:t>Improvement — Add foreground at local maxima</a:t>
            </a:r>
            <a:endParaRPr lang="en-US" sz="2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79ED27-0E9A-C3E7-B292-36D7E67B5BFF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3D4263-FAD1-3743-0AF0-292EB6BF86F8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BD92A3C-63EB-A83F-F131-7DDF353A25A0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877C942-22AD-55AB-09F6-1828B1A79DD1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C43E1B2-2F8D-378A-900B-0982565D4EFA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FEB5D2B-3B1E-3334-D3B0-3BAB6181745D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FC5E029-35FB-5FCA-DA06-60682212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BDB0FE0-4593-A86F-F9D4-35C7B08B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0132D29-77C5-EE69-B29E-49F2A558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15</a:t>
            </a:fld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C5D2E7C-0C61-8A9A-4AC6-AD4B02E265A2}"/>
              </a:ext>
            </a:extLst>
          </p:cNvPr>
          <p:cNvSpPr/>
          <p:nvPr/>
        </p:nvSpPr>
        <p:spPr>
          <a:xfrm>
            <a:off x="1459206" y="7926175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1DA452A-B46A-4D81-C25D-1BCDA42F9AB8}"/>
              </a:ext>
            </a:extLst>
          </p:cNvPr>
          <p:cNvSpPr/>
          <p:nvPr/>
        </p:nvSpPr>
        <p:spPr>
          <a:xfrm>
            <a:off x="2342474" y="8541681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A8454EC-2A59-9DEA-E1DF-A01704D30FED}"/>
              </a:ext>
            </a:extLst>
          </p:cNvPr>
          <p:cNvSpPr/>
          <p:nvPr/>
        </p:nvSpPr>
        <p:spPr>
          <a:xfrm>
            <a:off x="14529624" y="6132512"/>
            <a:ext cx="812800" cy="812800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E6B0482-CEE4-BF7E-DBC4-52D0A3428957}"/>
              </a:ext>
            </a:extLst>
          </p:cNvPr>
          <p:cNvSpPr/>
          <p:nvPr/>
        </p:nvSpPr>
        <p:spPr>
          <a:xfrm>
            <a:off x="13670126" y="5726112"/>
            <a:ext cx="812800" cy="812800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2FC0B0-E266-C6CC-515A-E5EFC1E1F107}"/>
              </a:ext>
            </a:extLst>
          </p:cNvPr>
          <p:cNvGrpSpPr/>
          <p:nvPr/>
        </p:nvGrpSpPr>
        <p:grpSpPr>
          <a:xfrm>
            <a:off x="2728656" y="1835514"/>
            <a:ext cx="6734687" cy="4734486"/>
            <a:chOff x="5073313" y="1342400"/>
            <a:chExt cx="6734687" cy="4734486"/>
          </a:xfrm>
        </p:grpSpPr>
        <p:pic>
          <p:nvPicPr>
            <p:cNvPr id="22" name="Picture 21" descr="A black background with white dots&#10;&#10;Description automatically generated">
              <a:extLst>
                <a:ext uri="{FF2B5EF4-FFF2-40B4-BE49-F238E27FC236}">
                  <a16:creationId xmlns:a16="http://schemas.microsoft.com/office/drawing/2014/main" id="{B33FAD09-013B-D306-A5D1-6663D0944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687" y="1342400"/>
              <a:ext cx="2160000" cy="2160000"/>
            </a:xfrm>
            <a:prstGeom prst="rect">
              <a:avLst/>
            </a:prstGeom>
          </p:spPr>
        </p:pic>
        <p:pic>
          <p:nvPicPr>
            <p:cNvPr id="46" name="Picture 45" descr="A black background with white dots&#10;&#10;Description automatically generated">
              <a:extLst>
                <a:ext uri="{FF2B5EF4-FFF2-40B4-BE49-F238E27FC236}">
                  <a16:creationId xmlns:a16="http://schemas.microsoft.com/office/drawing/2014/main" id="{1ABFB31D-1E84-EE94-02EC-CEADCB106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8000" y="1342400"/>
              <a:ext cx="2160000" cy="21600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8D33A55-64A7-BC91-4F03-671202CCB9F9}"/>
                </a:ext>
              </a:extLst>
            </p:cNvPr>
            <p:cNvSpPr txBox="1"/>
            <p:nvPr/>
          </p:nvSpPr>
          <p:spPr>
            <a:xfrm>
              <a:off x="7060524" y="5707554"/>
              <a:ext cx="2470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After distance transform</a:t>
              </a:r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90C0082-6095-EAC7-4467-B36BB482E36A}"/>
                </a:ext>
              </a:extLst>
            </p:cNvPr>
            <p:cNvSpPr txBox="1"/>
            <p:nvPr/>
          </p:nvSpPr>
          <p:spPr>
            <a:xfrm>
              <a:off x="5736147" y="5707554"/>
              <a:ext cx="917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Original</a:t>
              </a:r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4AF2218-3EB1-1397-D4E9-106B246FB256}"/>
                </a:ext>
              </a:extLst>
            </p:cNvPr>
            <p:cNvSpPr txBox="1"/>
            <p:nvPr/>
          </p:nvSpPr>
          <p:spPr>
            <a:xfrm>
              <a:off x="9814929" y="5707554"/>
              <a:ext cx="1956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Mark local maxima</a:t>
              </a:r>
              <a:endParaRPr lang="en-US" dirty="0"/>
            </a:p>
          </p:txBody>
        </p:sp>
        <p:pic>
          <p:nvPicPr>
            <p:cNvPr id="67" name="Picture 66" descr="A black background with white triangles&#10;&#10;Description automatically generated">
              <a:extLst>
                <a:ext uri="{FF2B5EF4-FFF2-40B4-BE49-F238E27FC236}">
                  <a16:creationId xmlns:a16="http://schemas.microsoft.com/office/drawing/2014/main" id="{A697EB93-0978-BBA8-48DF-9FB67B7C9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687" y="3566112"/>
              <a:ext cx="2160000" cy="2160000"/>
            </a:xfrm>
            <a:prstGeom prst="rect">
              <a:avLst/>
            </a:prstGeom>
          </p:spPr>
        </p:pic>
        <p:pic>
          <p:nvPicPr>
            <p:cNvPr id="73" name="Picture 72" descr="A black background with white dots&#10;&#10;Description automatically generated">
              <a:extLst>
                <a:ext uri="{FF2B5EF4-FFF2-40B4-BE49-F238E27FC236}">
                  <a16:creationId xmlns:a16="http://schemas.microsoft.com/office/drawing/2014/main" id="{01131D88-29DE-4C7F-24D4-4C2F62A8D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8000" y="3584348"/>
              <a:ext cx="2160000" cy="2160000"/>
            </a:xfrm>
            <a:prstGeom prst="rect">
              <a:avLst/>
            </a:prstGeom>
          </p:spPr>
        </p:pic>
        <p:pic>
          <p:nvPicPr>
            <p:cNvPr id="76" name="Picture 75" descr="A close-up of a grey speckled surface&#10;&#10;Description automatically generated">
              <a:extLst>
                <a:ext uri="{FF2B5EF4-FFF2-40B4-BE49-F238E27FC236}">
                  <a16:creationId xmlns:a16="http://schemas.microsoft.com/office/drawing/2014/main" id="{9B299D3A-4F0D-8947-FDED-CFFC72748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3313" y="1342400"/>
              <a:ext cx="2160000" cy="2160000"/>
            </a:xfrm>
            <a:prstGeom prst="rect">
              <a:avLst/>
            </a:prstGeom>
          </p:spPr>
        </p:pic>
        <p:pic>
          <p:nvPicPr>
            <p:cNvPr id="78" name="Picture 77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3D12BD78-8943-E5DB-4DC9-F87090E3D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3313" y="3584348"/>
              <a:ext cx="2160000" cy="21600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93EB061-F2BA-5583-8F08-519C65503C1D}"/>
              </a:ext>
            </a:extLst>
          </p:cNvPr>
          <p:cNvSpPr txBox="1"/>
          <p:nvPr/>
        </p:nvSpPr>
        <p:spPr>
          <a:xfrm>
            <a:off x="360000" y="1017948"/>
            <a:ext cx="114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Move a searching window through the image to find local maximum.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a maximum is found, mark it with white, so that it will be recognized as a foreground (island) in the later watershed.</a:t>
            </a:r>
          </a:p>
        </p:txBody>
      </p:sp>
    </p:spTree>
    <p:extLst>
      <p:ext uri="{BB962C8B-B14F-4D97-AF65-F5344CB8AC3E}">
        <p14:creationId xmlns:p14="http://schemas.microsoft.com/office/powerpoint/2010/main" val="1252261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288000"/>
            <a:ext cx="5760000" cy="646331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457200"/>
            <a:r>
              <a:rPr lang="en-US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Foreground Sharp Edge Smoothing</a:t>
            </a:r>
            <a:endParaRPr lang="en-US" sz="3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899999"/>
            <a:ext cx="5474128" cy="21824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/>
              <a:t>Some crystal have sharp edge that during foreground extraction, a single crystal will become multiple crystals, causing error in the later watershed.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2000" dirty="0"/>
              <a:t>Solution:</a:t>
            </a:r>
            <a:r>
              <a:rPr lang="zh-TW" altLang="en-US" sz="2000" dirty="0"/>
              <a:t> </a:t>
            </a:r>
            <a:r>
              <a:rPr lang="en-US" altLang="zh-TW" sz="2000" dirty="0"/>
              <a:t>Applied edge smooth to the extracted foreground, then proceed watershed.</a:t>
            </a:r>
            <a:endParaRPr lang="en-U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E202D6-0A4F-6CF0-D134-1B663A9BD111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F6B5A2-6AC3-ACD1-2C4D-B44B57592A94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417ACA7-B9A4-8366-164D-A595C3B1EF83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CA93B1-7B0A-9A57-E43F-25392A422A83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0062C23-34C6-4704-9187-2487F176C1AF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4CAFF21-DA00-289B-F415-0DF3A2434C51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71CF9B-77D8-34AC-467B-90AFE386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74C9DD1-4B8E-C92E-EE2B-AAAF9E3E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0419B9-C3CE-E05D-CB83-E7A0F9A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16</a:t>
            </a:fld>
            <a:endParaRPr lang="en-US"/>
          </a:p>
        </p:txBody>
      </p:sp>
      <p:pic>
        <p:nvPicPr>
          <p:cNvPr id="16" name="Picture 15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6EC609EE-6AB0-79F2-FFE7-4675432BE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000" y="3116350"/>
            <a:ext cx="2880000" cy="2880000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FA11019-12A5-E897-2567-718AB409B7A0}"/>
              </a:ext>
            </a:extLst>
          </p:cNvPr>
          <p:cNvGrpSpPr/>
          <p:nvPr/>
        </p:nvGrpSpPr>
        <p:grpSpPr>
          <a:xfrm>
            <a:off x="6381292" y="2362457"/>
            <a:ext cx="5438836" cy="1440000"/>
            <a:chOff x="6381292" y="2362457"/>
            <a:chExt cx="5438836" cy="1440000"/>
          </a:xfrm>
        </p:grpSpPr>
        <p:pic>
          <p:nvPicPr>
            <p:cNvPr id="6" name="Picture 5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7B9BC321-A614-2A39-FB79-A6797EF92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27" t="46641" r="65673" b="37259"/>
            <a:stretch/>
          </p:blipFill>
          <p:spPr>
            <a:xfrm>
              <a:off x="6381292" y="2362457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0" name="Picture 19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45E5BC1D-D0F2-B3D5-53B7-AB2AE5A0E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8" t="54427" r="69103" b="40404"/>
            <a:stretch/>
          </p:blipFill>
          <p:spPr>
            <a:xfrm>
              <a:off x="8081310" y="2362457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1" name="Picture 20" descr="A black and white triangle pattern&#10;&#10;Description automatically generated">
              <a:extLst>
                <a:ext uri="{FF2B5EF4-FFF2-40B4-BE49-F238E27FC236}">
                  <a16:creationId xmlns:a16="http://schemas.microsoft.com/office/drawing/2014/main" id="{47C0E64B-F84F-D4EB-C343-1DB770CAC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77" t="46703" r="65713" b="37487"/>
            <a:stretch/>
          </p:blipFill>
          <p:spPr>
            <a:xfrm>
              <a:off x="10380128" y="2362457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712F7A3-54BA-3093-B6D9-5413C4D6E3A7}"/>
                </a:ext>
              </a:extLst>
            </p:cNvPr>
            <p:cNvCxnSpPr>
              <a:cxnSpLocks/>
            </p:cNvCxnSpPr>
            <p:nvPr/>
          </p:nvCxnSpPr>
          <p:spPr>
            <a:xfrm>
              <a:off x="9781328" y="3082457"/>
              <a:ext cx="338781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189CAA8-6B0F-504D-7C23-C44526884737}"/>
              </a:ext>
            </a:extLst>
          </p:cNvPr>
          <p:cNvGrpSpPr/>
          <p:nvPr/>
        </p:nvGrpSpPr>
        <p:grpSpPr>
          <a:xfrm>
            <a:off x="6366733" y="180000"/>
            <a:ext cx="5438836" cy="1440000"/>
            <a:chOff x="6366733" y="180000"/>
            <a:chExt cx="5438836" cy="1440000"/>
          </a:xfrm>
          <a:effectLst/>
        </p:grpSpPr>
        <p:pic>
          <p:nvPicPr>
            <p:cNvPr id="22" name="Picture 21" descr="A black and white triangle pattern&#10;&#10;Description automatically generated">
              <a:extLst>
                <a:ext uri="{FF2B5EF4-FFF2-40B4-BE49-F238E27FC236}">
                  <a16:creationId xmlns:a16="http://schemas.microsoft.com/office/drawing/2014/main" id="{FDD8EFA7-3C2D-83A7-7870-54F4A0341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13" t="81793" r="40677" b="2397"/>
            <a:stretch/>
          </p:blipFill>
          <p:spPr>
            <a:xfrm>
              <a:off x="10365569" y="180000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3" name="Picture 22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450B9A35-FF96-7025-610A-10557D0FA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17" t="81459" r="39583" b="2441"/>
            <a:stretch/>
          </p:blipFill>
          <p:spPr>
            <a:xfrm>
              <a:off x="6366733" y="180000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4" name="Picture 23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5365BB65-C8ED-C6B4-CF09-FD1F6E0D3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164" t="88588" r="46667" b="6243"/>
            <a:stretch/>
          </p:blipFill>
          <p:spPr>
            <a:xfrm>
              <a:off x="8066751" y="180000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0A0998E-0C5A-F258-E44B-0B9E85BF981A}"/>
                </a:ext>
              </a:extLst>
            </p:cNvPr>
            <p:cNvCxnSpPr>
              <a:cxnSpLocks/>
            </p:cNvCxnSpPr>
            <p:nvPr/>
          </p:nvCxnSpPr>
          <p:spPr>
            <a:xfrm>
              <a:off x="9766769" y="900000"/>
              <a:ext cx="338781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006F-BAF0-D499-6998-E252B709851A}"/>
              </a:ext>
            </a:extLst>
          </p:cNvPr>
          <p:cNvGrpSpPr/>
          <p:nvPr/>
        </p:nvGrpSpPr>
        <p:grpSpPr>
          <a:xfrm>
            <a:off x="6381292" y="4544914"/>
            <a:ext cx="5438836" cy="1440000"/>
            <a:chOff x="6381292" y="4544914"/>
            <a:chExt cx="5438836" cy="1440000"/>
          </a:xfrm>
        </p:grpSpPr>
        <p:pic>
          <p:nvPicPr>
            <p:cNvPr id="29" name="Picture 28" descr="A black and white triangle pattern&#10;&#10;Description automatically generated">
              <a:extLst>
                <a:ext uri="{FF2B5EF4-FFF2-40B4-BE49-F238E27FC236}">
                  <a16:creationId xmlns:a16="http://schemas.microsoft.com/office/drawing/2014/main" id="{72926D6C-CFF1-3E21-C3C9-3988A43CC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46356" r="65480" b="37002"/>
            <a:stretch/>
          </p:blipFill>
          <p:spPr>
            <a:xfrm>
              <a:off x="10380128" y="4544914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2" name="Picture 31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5188DD50-1266-0CC1-0E76-1859F85A3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93" t="46969" r="65397" b="36923"/>
            <a:stretch/>
          </p:blipFill>
          <p:spPr>
            <a:xfrm>
              <a:off x="6381292" y="4544914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3" name="Picture 32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2DFBCF5C-D215-95C0-0150-C53A8A65B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70" t="54141" r="69548" b="41177"/>
            <a:stretch/>
          </p:blipFill>
          <p:spPr>
            <a:xfrm>
              <a:off x="8081310" y="4544914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22F09D4-C3CB-B255-CC3A-A74208A07A81}"/>
                </a:ext>
              </a:extLst>
            </p:cNvPr>
            <p:cNvCxnSpPr>
              <a:cxnSpLocks/>
            </p:cNvCxnSpPr>
            <p:nvPr/>
          </p:nvCxnSpPr>
          <p:spPr>
            <a:xfrm>
              <a:off x="9781328" y="5264914"/>
              <a:ext cx="338781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Picture 35" descr="A close-up of a grey triangle&#10;&#10;Description automatically generated">
            <a:extLst>
              <a:ext uri="{FF2B5EF4-FFF2-40B4-BE49-F238E27FC236}">
                <a16:creationId xmlns:a16="http://schemas.microsoft.com/office/drawing/2014/main" id="{3240D470-E7D2-DF91-89F9-F8E5DCB81C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91" y="3116350"/>
            <a:ext cx="2880000" cy="2880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284A90A-F93B-FB77-B44F-EEA4DEFCF086}"/>
              </a:ext>
            </a:extLst>
          </p:cNvPr>
          <p:cNvSpPr txBox="1"/>
          <p:nvPr/>
        </p:nvSpPr>
        <p:spPr>
          <a:xfrm>
            <a:off x="1302289" y="602955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Input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33F89D-0510-7F01-64C1-25E5A3CCEEC1}"/>
              </a:ext>
            </a:extLst>
          </p:cNvPr>
          <p:cNvSpPr txBox="1"/>
          <p:nvPr/>
        </p:nvSpPr>
        <p:spPr>
          <a:xfrm>
            <a:off x="3028432" y="6029550"/>
            <a:ext cx="3231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/>
              <a:t>Foreground/Background overlay</a:t>
            </a:r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92F461-957A-C3A8-E6BD-727B89158971}"/>
              </a:ext>
            </a:extLst>
          </p:cNvPr>
          <p:cNvSpPr txBox="1"/>
          <p:nvPr/>
        </p:nvSpPr>
        <p:spPr>
          <a:xfrm>
            <a:off x="7270528" y="1632074"/>
            <a:ext cx="1405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/>
              <a:t>Normal case.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1A2BEF-1E59-00F9-AACC-6DF9A253F473}"/>
              </a:ext>
            </a:extLst>
          </p:cNvPr>
          <p:cNvSpPr txBox="1"/>
          <p:nvPr/>
        </p:nvSpPr>
        <p:spPr>
          <a:xfrm>
            <a:off x="7170342" y="3791522"/>
            <a:ext cx="1606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This issue case.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249018-CE27-59FD-4638-7BACBC211FAD}"/>
              </a:ext>
            </a:extLst>
          </p:cNvPr>
          <p:cNvSpPr txBox="1"/>
          <p:nvPr/>
        </p:nvSpPr>
        <p:spPr>
          <a:xfrm>
            <a:off x="7095102" y="5968802"/>
            <a:ext cx="1756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/>
              <a:t>Corrected result.</a:t>
            </a:r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3DC4DBE-0143-F50D-22CB-8B349F1AB5DD}"/>
              </a:ext>
            </a:extLst>
          </p:cNvPr>
          <p:cNvSpPr/>
          <p:nvPr/>
        </p:nvSpPr>
        <p:spPr>
          <a:xfrm>
            <a:off x="4519616" y="5503942"/>
            <a:ext cx="406029" cy="406029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836577-85D5-37A0-A711-B89D830B88C8}"/>
              </a:ext>
            </a:extLst>
          </p:cNvPr>
          <p:cNvSpPr/>
          <p:nvPr/>
        </p:nvSpPr>
        <p:spPr>
          <a:xfrm>
            <a:off x="3740494" y="4554394"/>
            <a:ext cx="406029" cy="406029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80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60A92-C75A-FE23-2403-A68198D4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F65B38B-0B92-F37E-B769-86E2E2EE2AB7}"/>
              </a:ext>
            </a:extLst>
          </p:cNvPr>
          <p:cNvGrpSpPr/>
          <p:nvPr/>
        </p:nvGrpSpPr>
        <p:grpSpPr>
          <a:xfrm>
            <a:off x="-6717181" y="-5738278"/>
            <a:ext cx="25626363" cy="1833455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DF9ACC1-A6AB-94AC-D912-CC65CB4AC15D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A3CC3B8-9457-640E-35B9-B70CBECE2969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FF7A99-2ED6-5E34-59AC-A9A593C981DF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4FF0AC3-7C2D-1998-F443-88674DFAF469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A97412A-BDB2-5E00-495D-79DB96FB44A4}"/>
              </a:ext>
            </a:extLst>
          </p:cNvPr>
          <p:cNvSpPr txBox="1"/>
          <p:nvPr/>
        </p:nvSpPr>
        <p:spPr>
          <a:xfrm>
            <a:off x="360000" y="-729343"/>
            <a:ext cx="1887055" cy="64633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Dimension:3, 31.8</a:t>
            </a:r>
          </a:p>
          <a:p>
            <a:r>
              <a:rPr lang="en-US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BA0EE0C-1652-0E17-A93D-B8B054A0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85AEE64-771A-4E6B-184B-F66943DD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558E53F-549F-6D71-BFC1-343FD5C1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17</a:t>
            </a:fld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1DD3B64-337E-3D1A-28D5-0B1CD37AC4F2}"/>
              </a:ext>
            </a:extLst>
          </p:cNvPr>
          <p:cNvGrpSpPr/>
          <p:nvPr/>
        </p:nvGrpSpPr>
        <p:grpSpPr>
          <a:xfrm>
            <a:off x="-11580123" y="480674"/>
            <a:ext cx="7101165" cy="2883673"/>
            <a:chOff x="-11580123" y="480674"/>
            <a:chExt cx="7101165" cy="2883673"/>
          </a:xfrm>
        </p:grpSpPr>
        <p:pic>
          <p:nvPicPr>
            <p:cNvPr id="34" name="Picture 33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B21D8E8F-5909-43FD-07FB-7C9FD0A91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580123" y="866203"/>
              <a:ext cx="1440000" cy="1080000"/>
            </a:xfrm>
            <a:prstGeom prst="rect">
              <a:avLst/>
            </a:prstGeom>
          </p:spPr>
        </p:pic>
        <p:pic>
          <p:nvPicPr>
            <p:cNvPr id="35" name="Picture 34" descr="A close-up of triangles&#10;&#10;Description automatically generated">
              <a:extLst>
                <a:ext uri="{FF2B5EF4-FFF2-40B4-BE49-F238E27FC236}">
                  <a16:creationId xmlns:a16="http://schemas.microsoft.com/office/drawing/2014/main" id="{3AC1BBF2-462B-B5C5-3BC7-DA8C37F57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9693068" y="866203"/>
              <a:ext cx="1440000" cy="1080000"/>
            </a:xfrm>
            <a:prstGeom prst="rect">
              <a:avLst/>
            </a:prstGeom>
          </p:spPr>
        </p:pic>
        <p:pic>
          <p:nvPicPr>
            <p:cNvPr id="36" name="Picture 35" descr="A close-up of triangles&#10;&#10;Description automatically generated">
              <a:extLst>
                <a:ext uri="{FF2B5EF4-FFF2-40B4-BE49-F238E27FC236}">
                  <a16:creationId xmlns:a16="http://schemas.microsoft.com/office/drawing/2014/main" id="{CBB01691-A532-1677-D4B3-78BF18C0D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806013" y="866203"/>
              <a:ext cx="1440000" cy="1080000"/>
            </a:xfrm>
            <a:prstGeom prst="rect">
              <a:avLst/>
            </a:prstGeom>
          </p:spPr>
        </p:pic>
        <p:pic>
          <p:nvPicPr>
            <p:cNvPr id="37" name="Picture 36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C41F4F5C-6C7F-2DB9-00B6-2D39333DE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918958" y="866203"/>
              <a:ext cx="1440000" cy="1080000"/>
            </a:xfrm>
            <a:prstGeom prst="rect">
              <a:avLst/>
            </a:prstGeom>
          </p:spPr>
        </p:pic>
        <p:pic>
          <p:nvPicPr>
            <p:cNvPr id="38" name="Picture 37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9FE96252-76E9-4A8C-EF36-9B2168E39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6" t="41956" r="41956" b="41956"/>
            <a:stretch/>
          </p:blipFill>
          <p:spPr>
            <a:xfrm>
              <a:off x="-11580123" y="2284347"/>
              <a:ext cx="1440000" cy="1080000"/>
            </a:xfrm>
            <a:prstGeom prst="rect">
              <a:avLst/>
            </a:prstGeom>
          </p:spPr>
        </p:pic>
        <p:pic>
          <p:nvPicPr>
            <p:cNvPr id="39" name="Picture 38" descr="A close-up of triangles&#10;&#10;Description automatically generated">
              <a:extLst>
                <a:ext uri="{FF2B5EF4-FFF2-40B4-BE49-F238E27FC236}">
                  <a16:creationId xmlns:a16="http://schemas.microsoft.com/office/drawing/2014/main" id="{8879917F-14FF-433D-7E01-5C362EB88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2" t="41922" r="41922" b="41922"/>
            <a:stretch/>
          </p:blipFill>
          <p:spPr>
            <a:xfrm>
              <a:off x="-9693068" y="2284347"/>
              <a:ext cx="1440000" cy="1080000"/>
            </a:xfrm>
            <a:prstGeom prst="rect">
              <a:avLst/>
            </a:prstGeom>
          </p:spPr>
        </p:pic>
        <p:pic>
          <p:nvPicPr>
            <p:cNvPr id="40" name="Picture 39" descr="A close-up of triangles&#10;&#10;Description automatically generated">
              <a:extLst>
                <a:ext uri="{FF2B5EF4-FFF2-40B4-BE49-F238E27FC236}">
                  <a16:creationId xmlns:a16="http://schemas.microsoft.com/office/drawing/2014/main" id="{9C9A9034-714A-C83E-2CCA-8FFD8A109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5" t="41925" r="41925" b="41925"/>
            <a:stretch/>
          </p:blipFill>
          <p:spPr>
            <a:xfrm>
              <a:off x="-7806013" y="2284347"/>
              <a:ext cx="1440000" cy="1080000"/>
            </a:xfrm>
            <a:prstGeom prst="rect">
              <a:avLst/>
            </a:prstGeom>
          </p:spPr>
        </p:pic>
        <p:pic>
          <p:nvPicPr>
            <p:cNvPr id="41" name="Picture 40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4E338BC4-1964-DD77-BF9E-C86369A78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32" t="41932" r="41932" b="41932"/>
            <a:stretch/>
          </p:blipFill>
          <p:spPr>
            <a:xfrm>
              <a:off x="-5918958" y="2284347"/>
              <a:ext cx="144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01EF0A-EAB9-ADE5-CBC1-1FC6B0CA3F99}"/>
                </a:ext>
              </a:extLst>
            </p:cNvPr>
            <p:cNvSpPr txBox="1"/>
            <p:nvPr/>
          </p:nvSpPr>
          <p:spPr>
            <a:xfrm>
              <a:off x="-11138743" y="480674"/>
              <a:ext cx="917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Original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A554F0-B0B7-79DA-31B1-BA8A6A013054}"/>
                </a:ext>
              </a:extLst>
            </p:cNvPr>
            <p:cNvSpPr txBox="1"/>
            <p:nvPr/>
          </p:nvSpPr>
          <p:spPr>
            <a:xfrm>
              <a:off x="-9572125" y="480674"/>
              <a:ext cx="1558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Gentle Blurred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8E069A-7E95-DC68-F0E2-5D3FDB43CC2C}"/>
                </a:ext>
              </a:extLst>
            </p:cNvPr>
            <p:cNvSpPr txBox="1"/>
            <p:nvPr/>
          </p:nvSpPr>
          <p:spPr>
            <a:xfrm>
              <a:off x="-7799591" y="480674"/>
              <a:ext cx="17871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Gentle Enhanced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FBF00AF-2F4C-7B0D-1208-4482201E468A}"/>
                </a:ext>
              </a:extLst>
            </p:cNvPr>
            <p:cNvSpPr txBox="1"/>
            <p:nvPr/>
          </p:nvSpPr>
          <p:spPr>
            <a:xfrm>
              <a:off x="-5553536" y="480674"/>
              <a:ext cx="10563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Binarized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81E2BC6-A9BD-5C96-AC4E-195299ECC1FE}"/>
              </a:ext>
            </a:extLst>
          </p:cNvPr>
          <p:cNvSpPr txBox="1"/>
          <p:nvPr/>
        </p:nvSpPr>
        <p:spPr>
          <a:xfrm>
            <a:off x="324000" y="1364264"/>
            <a:ext cx="67695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(a) Image process: Crop, enlarge, blur, enhance, and watershed.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(b) Before segmenting (last of image process).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(c) Segmentation result (layer by layer).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(d) Segmentation result (overlap).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(e) </a:t>
            </a:r>
            <a:r>
              <a:rPr lang="en-US" sz="1400" err="1"/>
              <a:t>Precessing</a:t>
            </a:r>
            <a:r>
              <a:rPr lang="en-US" sz="1400"/>
              <a:t> terminal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F1EEE5-146D-A170-8380-C972705D2854}"/>
              </a:ext>
            </a:extLst>
          </p:cNvPr>
          <p:cNvSpPr txBox="1">
            <a:spLocks/>
          </p:cNvSpPr>
          <p:nvPr/>
        </p:nvSpPr>
        <p:spPr>
          <a:xfrm>
            <a:off x="324000" y="180000"/>
            <a:ext cx="11448000" cy="1080000"/>
          </a:xfrm>
          <a:prstGeom prst="rect">
            <a:avLst/>
          </a:prstGeo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zh-TW" sz="3200" dirty="0"/>
              <a:t>Segmentation</a:t>
            </a:r>
            <a:br>
              <a:rPr lang="en-US" sz="2400" dirty="0"/>
            </a:br>
            <a:r>
              <a:rPr lang="en-US" sz="2400" dirty="0"/>
              <a:t>Approach with more reliable traditional segmentation process.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9EB0220-0662-F631-364A-611AD143A248}"/>
              </a:ext>
            </a:extLst>
          </p:cNvPr>
          <p:cNvGrpSpPr/>
          <p:nvPr/>
        </p:nvGrpSpPr>
        <p:grpSpPr>
          <a:xfrm>
            <a:off x="417470" y="2572076"/>
            <a:ext cx="5264275" cy="3706088"/>
            <a:chOff x="417470" y="2775797"/>
            <a:chExt cx="5264275" cy="3706088"/>
          </a:xfrm>
        </p:grpSpPr>
        <p:pic>
          <p:nvPicPr>
            <p:cNvPr id="4" name="Picture 3" descr="A black background with white triangles&#10;&#10;Description automatically generated">
              <a:extLst>
                <a:ext uri="{FF2B5EF4-FFF2-40B4-BE49-F238E27FC236}">
                  <a16:creationId xmlns:a16="http://schemas.microsoft.com/office/drawing/2014/main" id="{F480814B-82B1-E0BA-F3A5-9D9EE17F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600" y="3704065"/>
              <a:ext cx="1440000" cy="1440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0C7835B-FDF1-5F80-57D3-4665F2CC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0600" y="5371780"/>
              <a:ext cx="1800000" cy="111010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CAD2412-FF0C-3EDB-E7E8-7FAA211DB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9396" y="2787938"/>
              <a:ext cx="4320000" cy="765422"/>
            </a:xfrm>
            <a:prstGeom prst="rect">
              <a:avLst/>
            </a:prstGeom>
          </p:spPr>
        </p:pic>
        <p:pic>
          <p:nvPicPr>
            <p:cNvPr id="6" name="Picture 5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6079F48B-C108-6F02-0A8C-C287BD8F6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1745" y="3601885"/>
              <a:ext cx="2880000" cy="28800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15A542-973E-5E6B-2833-F2199F62C8A6}"/>
                </a:ext>
              </a:extLst>
            </p:cNvPr>
            <p:cNvSpPr txBox="1"/>
            <p:nvPr/>
          </p:nvSpPr>
          <p:spPr>
            <a:xfrm>
              <a:off x="423080" y="2775797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(a)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D303A0E-4EDC-EFA7-6348-890A3295F831}"/>
                </a:ext>
              </a:extLst>
            </p:cNvPr>
            <p:cNvSpPr txBox="1"/>
            <p:nvPr/>
          </p:nvSpPr>
          <p:spPr>
            <a:xfrm>
              <a:off x="417470" y="3661890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(b)</a:t>
              </a:r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25BA08-00CB-29C7-1D1F-077FD0ED8B8D}"/>
                </a:ext>
              </a:extLst>
            </p:cNvPr>
            <p:cNvSpPr txBox="1"/>
            <p:nvPr/>
          </p:nvSpPr>
          <p:spPr>
            <a:xfrm>
              <a:off x="429492" y="5371780"/>
              <a:ext cx="423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(c)</a:t>
              </a:r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8D63D4-7B64-9746-3CB6-277604D8B6ED}"/>
                </a:ext>
              </a:extLst>
            </p:cNvPr>
            <p:cNvSpPr txBox="1"/>
            <p:nvPr/>
          </p:nvSpPr>
          <p:spPr>
            <a:xfrm>
              <a:off x="2378843" y="3661890"/>
              <a:ext cx="4235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/>
                <a:t>(d)</a:t>
              </a:r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B5EFAE7C-D016-CE05-F079-E2258806741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73572"/>
          <a:stretch/>
        </p:blipFill>
        <p:spPr>
          <a:xfrm>
            <a:off x="7352145" y="5639620"/>
            <a:ext cx="3600000" cy="8992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BD490EE-CFEE-F094-2F2B-B9CFC7B67C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56319" y="4452794"/>
            <a:ext cx="3600000" cy="117818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C022101-987E-A824-0D18-8D880C3F5F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2146" y="1451847"/>
            <a:ext cx="4532459" cy="2880000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E0FAE1D-C0A9-07E9-A1A1-AAC2135EC4EC}"/>
              </a:ext>
            </a:extLst>
          </p:cNvPr>
          <p:cNvSpPr/>
          <p:nvPr/>
        </p:nvSpPr>
        <p:spPr>
          <a:xfrm>
            <a:off x="7093526" y="3113398"/>
            <a:ext cx="3060000" cy="252000"/>
          </a:xfrm>
          <a:prstGeom prst="roundRect">
            <a:avLst/>
          </a:prstGeom>
          <a:noFill/>
          <a:ln w="38100">
            <a:solidFill>
              <a:schemeClr val="accent4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A382462-57CA-A5F8-3CBB-106BBB69DB90}"/>
              </a:ext>
            </a:extLst>
          </p:cNvPr>
          <p:cNvSpPr/>
          <p:nvPr/>
        </p:nvSpPr>
        <p:spPr>
          <a:xfrm>
            <a:off x="7093526" y="2037509"/>
            <a:ext cx="3780000" cy="252000"/>
          </a:xfrm>
          <a:prstGeom prst="roundRect">
            <a:avLst/>
          </a:prstGeom>
          <a:noFill/>
          <a:ln w="38100">
            <a:solidFill>
              <a:schemeClr val="accent4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19985B3-0F73-DDC4-B2A3-472E3355BC14}"/>
              </a:ext>
            </a:extLst>
          </p:cNvPr>
          <p:cNvSpPr/>
          <p:nvPr/>
        </p:nvSpPr>
        <p:spPr>
          <a:xfrm>
            <a:off x="7093526" y="3528398"/>
            <a:ext cx="3060000" cy="252000"/>
          </a:xfrm>
          <a:prstGeom prst="roundRect">
            <a:avLst/>
          </a:prstGeom>
          <a:noFill/>
          <a:ln w="38100">
            <a:solidFill>
              <a:schemeClr val="accent4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8B3B56-BF0B-5F43-562B-2B93B5B287D7}"/>
              </a:ext>
            </a:extLst>
          </p:cNvPr>
          <p:cNvSpPr txBox="1"/>
          <p:nvPr/>
        </p:nvSpPr>
        <p:spPr>
          <a:xfrm>
            <a:off x="6568632" y="1387959"/>
            <a:ext cx="42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(e)</a:t>
            </a:r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F7E684-8224-D359-C865-CF70F842912A}"/>
              </a:ext>
            </a:extLst>
          </p:cNvPr>
          <p:cNvSpPr txBox="1"/>
          <p:nvPr/>
        </p:nvSpPr>
        <p:spPr>
          <a:xfrm>
            <a:off x="6568632" y="4425120"/>
            <a:ext cx="42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(f)</a:t>
            </a:r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3F49BF-427A-9F21-E566-87CA8D19FA0D}"/>
              </a:ext>
            </a:extLst>
          </p:cNvPr>
          <p:cNvSpPr txBox="1"/>
          <p:nvPr/>
        </p:nvSpPr>
        <p:spPr>
          <a:xfrm>
            <a:off x="6568632" y="5639620"/>
            <a:ext cx="42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(g)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26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9DF3-E0E5-56CB-7FDC-F821A6690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D69F-E3FD-3646-4DF0-7DA30BA1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84" y="190545"/>
            <a:ext cx="11429516" cy="657929"/>
          </a:xfrm>
          <a:solidFill>
            <a:srgbClr val="A31F34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6D849-B6C4-8457-19B6-8295CC83B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84" y="977975"/>
            <a:ext cx="11429516" cy="514328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the watershed function to better adapt to SEM images in various condition.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Obtain device data from Jiadi or Yixuan to correlate the numerical representations of SEM images with device performance.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 literature research on the feasibility of using machine learning models to embed SEM images into dense array representations.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5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5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7841A7D-5497-B532-B53D-1161ECEB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7C6E94E-1D07-B847-6AAE-4DC9D3EA1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BB36652-4432-0DAF-7135-01F55839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18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700219F-82A5-22D2-3CF7-043A53DD204B}"/>
              </a:ext>
            </a:extLst>
          </p:cNvPr>
          <p:cNvGrpSpPr/>
          <p:nvPr/>
        </p:nvGrpSpPr>
        <p:grpSpPr>
          <a:xfrm>
            <a:off x="-6716985" y="-5738137"/>
            <a:ext cx="25625970" cy="1833427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F0498A4-CBAD-1997-F54D-3BA52B31234E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A0C3946-96CA-26C8-D87D-599F01CF0C16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AC07BF4-2E7C-D88F-D303-93455D0E78C4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74AFF6-0135-FD33-308F-9AF21C046428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BB5EFD7-7F0A-FE73-0F35-4747D815E39C}"/>
              </a:ext>
            </a:extLst>
          </p:cNvPr>
          <p:cNvSpPr txBox="1"/>
          <p:nvPr/>
        </p:nvSpPr>
        <p:spPr>
          <a:xfrm>
            <a:off x="360088" y="-729333"/>
            <a:ext cx="1789272" cy="61581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1" dirty="0"/>
              <a:t>Dimension:3, 31.8</a:t>
            </a:r>
          </a:p>
          <a:p>
            <a:r>
              <a:rPr lang="en-US" sz="1701" dirty="0"/>
              <a:t>Position: 1, 0.5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77A74F-5E6A-0BD3-0598-D39A45AF6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717341"/>
              </p:ext>
            </p:extLst>
          </p:nvPr>
        </p:nvGraphicFramePr>
        <p:xfrm>
          <a:off x="13090782" y="4767625"/>
          <a:ext cx="6095905" cy="1483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81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4F8E5B79-B9B5-B0FF-6521-6F664CB2BFF8}"/>
              </a:ext>
            </a:extLst>
          </p:cNvPr>
          <p:cNvGrpSpPr/>
          <p:nvPr/>
        </p:nvGrpSpPr>
        <p:grpSpPr>
          <a:xfrm>
            <a:off x="908903" y="2560751"/>
            <a:ext cx="10374194" cy="3690210"/>
            <a:chOff x="1281512" y="1863194"/>
            <a:chExt cx="10374194" cy="369021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DA5A108-780A-4657-AA8F-4A697212930A}"/>
                </a:ext>
              </a:extLst>
            </p:cNvPr>
            <p:cNvSpPr/>
            <p:nvPr/>
          </p:nvSpPr>
          <p:spPr>
            <a:xfrm>
              <a:off x="1281512" y="2296438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Recipe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532BA3E-CE51-95CB-3CA3-23A24D9A3D94}"/>
                </a:ext>
              </a:extLst>
            </p:cNvPr>
            <p:cNvGrpSpPr/>
            <p:nvPr/>
          </p:nvGrpSpPr>
          <p:grpSpPr>
            <a:xfrm>
              <a:off x="2115599" y="2636059"/>
              <a:ext cx="1800000" cy="432000"/>
              <a:chOff x="2103474" y="2128175"/>
              <a:chExt cx="1800000" cy="432000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9C3CE57-7C0D-7DC4-0AC1-DA4106E2C3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2236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4FD8BCCB-6A80-CF9F-7B09-40A11C2E9863}"/>
                  </a:ext>
                </a:extLst>
              </p:cNvPr>
              <p:cNvSpPr/>
              <p:nvPr/>
            </p:nvSpPr>
            <p:spPr>
              <a:xfrm>
                <a:off x="2103474" y="2128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Synthesis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8FBF222-8F36-9F22-8A3D-C90B63675607}"/>
                </a:ext>
              </a:extLst>
            </p:cNvPr>
            <p:cNvSpPr/>
            <p:nvPr/>
          </p:nvSpPr>
          <p:spPr>
            <a:xfrm>
              <a:off x="1281512" y="3011680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Sample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8EBAE5C-0245-D4B9-F785-DAAF33AD54A5}"/>
                </a:ext>
              </a:extLst>
            </p:cNvPr>
            <p:cNvSpPr/>
            <p:nvPr/>
          </p:nvSpPr>
          <p:spPr>
            <a:xfrm>
              <a:off x="1281512" y="3726922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chemeClr val="tx1"/>
                  </a:solidFill>
                </a:rPr>
                <a:t>SEM</a:t>
              </a:r>
              <a:r>
                <a:rPr lang="zh-TW" altLang="en-US" sz="2000" b="1" dirty="0">
                  <a:solidFill>
                    <a:schemeClr val="tx1"/>
                  </a:solidFill>
                </a:rPr>
                <a:t> </a:t>
              </a:r>
              <a:r>
                <a:rPr lang="en-US" altLang="zh-TW" sz="2000" b="1" dirty="0">
                  <a:solidFill>
                    <a:schemeClr val="tx1"/>
                  </a:solidFill>
                </a:rPr>
                <a:t>Image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BB52ADB-32C0-F81E-9F6C-1C076E951C1E}"/>
                </a:ext>
              </a:extLst>
            </p:cNvPr>
            <p:cNvGrpSpPr/>
            <p:nvPr/>
          </p:nvGrpSpPr>
          <p:grpSpPr>
            <a:xfrm>
              <a:off x="2115599" y="3351301"/>
              <a:ext cx="1800000" cy="432000"/>
              <a:chOff x="2103474" y="3136175"/>
              <a:chExt cx="1800000" cy="43200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69073315-9634-30D2-10CA-971524457AAD}"/>
                  </a:ext>
                </a:extLst>
              </p:cNvPr>
              <p:cNvSpPr/>
              <p:nvPr/>
            </p:nvSpPr>
            <p:spPr>
              <a:xfrm>
                <a:off x="2103474" y="3136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Characterization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1D2A36D-73B0-2AA1-32D0-86A89964D1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3244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FD381DA-4C20-38EB-7E43-BFC16A14691A}"/>
                </a:ext>
              </a:extLst>
            </p:cNvPr>
            <p:cNvSpPr/>
            <p:nvPr/>
          </p:nvSpPr>
          <p:spPr>
            <a:xfrm>
              <a:off x="1281512" y="4442164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Device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99D9A29-7E8D-DF06-FCD6-4F5688D4DBC8}"/>
                </a:ext>
              </a:extLst>
            </p:cNvPr>
            <p:cNvGrpSpPr/>
            <p:nvPr/>
          </p:nvGrpSpPr>
          <p:grpSpPr>
            <a:xfrm>
              <a:off x="2115599" y="4066543"/>
              <a:ext cx="1800000" cy="432000"/>
              <a:chOff x="2103474" y="4144175"/>
              <a:chExt cx="1800000" cy="432000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F9166AC0-4B3D-8237-1C4C-36B3DF042210}"/>
                  </a:ext>
                </a:extLst>
              </p:cNvPr>
              <p:cNvSpPr/>
              <p:nvPr/>
            </p:nvSpPr>
            <p:spPr>
              <a:xfrm>
                <a:off x="2103474" y="4144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b="1" dirty="0">
                    <a:solidFill>
                      <a:schemeClr val="tx1"/>
                    </a:solidFill>
                  </a:rPr>
                  <a:t>Fabrication</a:t>
                </a:r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11F96FB-A5DD-7E39-723C-D4A30D8717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4252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C53F14C-5360-A7E0-B105-47038A8767CA}"/>
                </a:ext>
              </a:extLst>
            </p:cNvPr>
            <p:cNvSpPr/>
            <p:nvPr/>
          </p:nvSpPr>
          <p:spPr>
            <a:xfrm>
              <a:off x="1281512" y="5157404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Performance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4C21940-907A-0635-A421-38682DFDAB8A}"/>
                </a:ext>
              </a:extLst>
            </p:cNvPr>
            <p:cNvGrpSpPr/>
            <p:nvPr/>
          </p:nvGrpSpPr>
          <p:grpSpPr>
            <a:xfrm>
              <a:off x="2115599" y="4781785"/>
              <a:ext cx="1800000" cy="432000"/>
              <a:chOff x="2103474" y="5152175"/>
              <a:chExt cx="1800000" cy="432000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DDD3579-ED0F-23F4-6D12-1B1344158BC8}"/>
                  </a:ext>
                </a:extLst>
              </p:cNvPr>
              <p:cNvSpPr/>
              <p:nvPr/>
            </p:nvSpPr>
            <p:spPr>
              <a:xfrm>
                <a:off x="2103474" y="5152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Measurement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17E6FBA-25DD-FF87-F70C-9EF928AFA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5260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C96B948-E2D7-9F9B-EB8E-A3BEC1720D84}"/>
                </a:ext>
              </a:extLst>
            </p:cNvPr>
            <p:cNvSpPr/>
            <p:nvPr/>
          </p:nvSpPr>
          <p:spPr>
            <a:xfrm>
              <a:off x="6295821" y="2296438"/>
              <a:ext cx="5359885" cy="3256964"/>
            </a:xfrm>
            <a:prstGeom prst="roundRect">
              <a:avLst>
                <a:gd name="adj" fmla="val 7434"/>
              </a:avLst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600"/>
                </a:lnSpc>
              </a:pPr>
              <a:r>
                <a:rPr lang="en-US" altLang="zh-TW" sz="2400" b="1" dirty="0">
                  <a:solidFill>
                    <a:schemeClr val="tx1"/>
                  </a:solidFill>
                </a:rPr>
                <a:t>SEM Image</a:t>
              </a:r>
              <a:r>
                <a:rPr lang="zh-TW" altLang="en-US" sz="2400" b="1" dirty="0">
                  <a:solidFill>
                    <a:schemeClr val="tx1"/>
                  </a:solidFill>
                </a:rPr>
                <a:t> </a:t>
              </a:r>
              <a:r>
                <a:rPr lang="en-US" altLang="zh-TW" sz="2400" b="1" dirty="0">
                  <a:solidFill>
                    <a:schemeClr val="tx1"/>
                  </a:solidFill>
                </a:rPr>
                <a:t>Numerical </a:t>
              </a:r>
              <a:r>
                <a:rPr lang="en-US" sz="2400" b="1" dirty="0">
                  <a:solidFill>
                    <a:schemeClr val="tx1"/>
                  </a:solidFill>
                </a:rPr>
                <a:t>Representation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Coverage calculation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Scale mark extraction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Average grain size calculation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Nucleation density calculation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Circumference calculation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  <a:p>
              <a:pPr marL="342900" indent="-342900" algn="l">
                <a:lnSpc>
                  <a:spcPts val="16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Background noise representation </a:t>
              </a:r>
              <a:r>
                <a:rPr lang="en-US" dirty="0">
                  <a:solidFill>
                    <a:srgbClr val="00B050"/>
                  </a:solidFill>
                </a:rPr>
                <a:t>✓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172DE48E-A722-4CF0-ECDD-8EB1747CED24}"/>
                </a:ext>
              </a:extLst>
            </p:cNvPr>
            <p:cNvSpPr/>
            <p:nvPr/>
          </p:nvSpPr>
          <p:spPr>
            <a:xfrm>
              <a:off x="3626356" y="3659073"/>
              <a:ext cx="2449243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Computer Vision</a:t>
              </a:r>
            </a:p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Analysis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EFC36A2-4BE8-544D-3F00-2B075484DE78}"/>
                </a:ext>
              </a:extLst>
            </p:cNvPr>
            <p:cNvSpPr/>
            <p:nvPr/>
          </p:nvSpPr>
          <p:spPr>
            <a:xfrm>
              <a:off x="3950977" y="4962353"/>
              <a:ext cx="1800000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Prediction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0FF2812-CB49-D6CC-F609-DE157E05E1F1}"/>
                </a:ext>
              </a:extLst>
            </p:cNvPr>
            <p:cNvSpPr/>
            <p:nvPr/>
          </p:nvSpPr>
          <p:spPr>
            <a:xfrm>
              <a:off x="3273951" y="2078106"/>
              <a:ext cx="3154052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chemeClr val="tx1"/>
                  </a:solidFill>
                </a:rPr>
                <a:t>Recipe Optimization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0255FC-86AE-41B6-7A0A-49217AE62B26}"/>
                </a:ext>
              </a:extLst>
            </p:cNvPr>
            <p:cNvSpPr txBox="1"/>
            <p:nvPr/>
          </p:nvSpPr>
          <p:spPr>
            <a:xfrm flipH="1">
              <a:off x="5896180" y="3472103"/>
              <a:ext cx="4073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✓</a:t>
              </a:r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DCCA95F-58E9-7EAD-0782-414C7E801B9E}"/>
                </a:ext>
              </a:extLst>
            </p:cNvPr>
            <p:cNvSpPr txBox="1"/>
            <p:nvPr/>
          </p:nvSpPr>
          <p:spPr>
            <a:xfrm>
              <a:off x="5896353" y="4941673"/>
              <a:ext cx="656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</a:rPr>
                <a:t>△</a:t>
              </a:r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CC98885-66DE-75BD-3E45-B76D36383F42}"/>
                </a:ext>
              </a:extLst>
            </p:cNvPr>
            <p:cNvSpPr txBox="1"/>
            <p:nvPr/>
          </p:nvSpPr>
          <p:spPr>
            <a:xfrm>
              <a:off x="5896353" y="1863194"/>
              <a:ext cx="656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</a:rPr>
                <a:t>△</a:t>
              </a:r>
              <a:endParaRPr lang="en-US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5E720E-7DC2-95DC-3925-2B3591B3B07D}"/>
                </a:ext>
              </a:extLst>
            </p:cNvPr>
            <p:cNvCxnSpPr>
              <a:cxnSpLocks/>
            </p:cNvCxnSpPr>
            <p:nvPr/>
          </p:nvCxnSpPr>
          <p:spPr>
            <a:xfrm>
              <a:off x="3590977" y="3904102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D630815-05AE-52FF-6897-D6A1160BAA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0977" y="5347156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97E32BA-257B-2990-8E3B-B99EF96B71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0977" y="2484081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7110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84" y="190545"/>
            <a:ext cx="11429516" cy="1066755"/>
          </a:xfrm>
          <a:solidFill>
            <a:srgbClr val="FFBCBC">
              <a:alpha val="40000"/>
            </a:srgbClr>
          </a:solidFill>
          <a:ln w="38100">
            <a:solidFill>
              <a:srgbClr val="BEBEBE"/>
            </a:solidFill>
          </a:ln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z="3387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32-36, Bold (H=2.8, W=30, x=1, y=0.5) </a:t>
            </a:r>
            <a:br>
              <a:rPr lang="en-US" sz="3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117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20-24 Normal</a:t>
            </a:r>
            <a:r>
              <a:rPr lang="en-US" sz="2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84" y="1447792"/>
            <a:ext cx="11429516" cy="49527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Calibri, 16-24, Normal </a:t>
            </a:r>
            <a:r>
              <a:rPr lang="pl-PL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(H=</a:t>
            </a: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r>
            <a:r>
              <a:rPr lang="pl-PL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W=30, x=1, y=</a:t>
            </a: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3.8</a:t>
            </a:r>
            <a:r>
              <a:rPr lang="pl-PL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25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Calibri, 16-24, Normal  (H=13, W=30, x=1, y=3.8)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71CF9B-77D8-34AC-467B-90AFE386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74C9DD1-4B8E-C92E-EE2B-AAAF9E3E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0419B9-C3CE-E05D-CB83-E7A0F9A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E202D6-0A4F-6CF0-D134-1B663A9BD111}"/>
              </a:ext>
            </a:extLst>
          </p:cNvPr>
          <p:cNvGrpSpPr/>
          <p:nvPr/>
        </p:nvGrpSpPr>
        <p:grpSpPr>
          <a:xfrm>
            <a:off x="-6716985" y="-5738137"/>
            <a:ext cx="25625970" cy="1833427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F6B5A2-6AC3-ACD1-2C4D-B44B57592A94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417ACA7-B9A4-8366-164D-A595C3B1EF83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CA93B1-7B0A-9A57-E43F-25392A422A83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0062C23-34C6-4704-9187-2487F176C1AF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4CAFF21-DA00-289B-F415-0DF3A2434C51}"/>
              </a:ext>
            </a:extLst>
          </p:cNvPr>
          <p:cNvSpPr txBox="1"/>
          <p:nvPr/>
        </p:nvSpPr>
        <p:spPr>
          <a:xfrm>
            <a:off x="360088" y="-729333"/>
            <a:ext cx="1789272" cy="61581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1" dirty="0"/>
              <a:t>Dimension:3, 31.8</a:t>
            </a:r>
          </a:p>
          <a:p>
            <a:r>
              <a:rPr lang="en-US" sz="1701" dirty="0"/>
              <a:t>Position: 1, 0.5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857BA0-E874-A9AF-014F-08FE1EB2B00D}"/>
              </a:ext>
            </a:extLst>
          </p:cNvPr>
          <p:cNvGraphicFramePr>
            <a:graphicFrameLocks noGrp="1"/>
          </p:cNvGraphicFramePr>
          <p:nvPr/>
        </p:nvGraphicFramePr>
        <p:xfrm>
          <a:off x="9780423" y="4617154"/>
          <a:ext cx="6095905" cy="1483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81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530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3FAE909-0941-9400-18AD-AA9E1045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35C5-2AF6-22D2-60E5-EDBDC118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84" y="190545"/>
            <a:ext cx="11429516" cy="1066755"/>
          </a:xfrm>
          <a:solidFill>
            <a:srgbClr val="FFBCBC">
              <a:alpha val="40000"/>
            </a:srgbClr>
          </a:solidFill>
          <a:ln w="38100">
            <a:solidFill>
              <a:srgbClr val="BEBEBE"/>
            </a:solidFill>
          </a:ln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z="3387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32-36, Bold (H=2.8, W=30, x=1, y=0.5) </a:t>
            </a:r>
            <a:br>
              <a:rPr lang="en-US" sz="3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117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20-24 Normal</a:t>
            </a:r>
            <a:r>
              <a:rPr lang="en-US" sz="2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A17C2-B13E-A87C-D331-A45C2953F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84" y="1447792"/>
            <a:ext cx="11429516" cy="49527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Calibri, 16-24, Normal </a:t>
            </a:r>
            <a:r>
              <a:rPr lang="pl-PL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(H=</a:t>
            </a: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r>
            <a:r>
              <a:rPr lang="pl-PL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W=30, x=1, y=</a:t>
            </a: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3.8</a:t>
            </a:r>
            <a:r>
              <a:rPr lang="pl-PL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25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Calibri, 16-24, Normal  (H=13, W=30, x=1, y=3.8)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DC40EEC-D83F-3741-1133-2676E213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904D06E-6B05-F924-F947-559A81861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4CF9307-5B34-F8B0-FE76-A198309E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20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58D5B8-C221-8DA5-EFB6-AD6CC7CD8AC0}"/>
              </a:ext>
            </a:extLst>
          </p:cNvPr>
          <p:cNvGrpSpPr/>
          <p:nvPr/>
        </p:nvGrpSpPr>
        <p:grpSpPr>
          <a:xfrm>
            <a:off x="-6716985" y="-5738137"/>
            <a:ext cx="25625970" cy="1833427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484C82-EE73-EB5C-2D55-1EAC115F4B44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F15B344-E478-5205-1AA3-67CC47186F70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7108AA3-C3DB-E33E-9744-232E64A46290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F5E475-ACE0-BF9E-3154-FF91B7BC9945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0DF6A30-9561-37C7-84CE-62FE46C464B0}"/>
              </a:ext>
            </a:extLst>
          </p:cNvPr>
          <p:cNvSpPr txBox="1"/>
          <p:nvPr/>
        </p:nvSpPr>
        <p:spPr>
          <a:xfrm>
            <a:off x="360088" y="-729333"/>
            <a:ext cx="1789272" cy="61581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1" dirty="0"/>
              <a:t>Dimension:3, 31.8</a:t>
            </a:r>
          </a:p>
          <a:p>
            <a:r>
              <a:rPr lang="en-US" sz="1701" dirty="0"/>
              <a:t>Position: 1, 0.5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274135-25C1-DA2A-0BA4-B43046BDEAFE}"/>
              </a:ext>
            </a:extLst>
          </p:cNvPr>
          <p:cNvGraphicFramePr>
            <a:graphicFrameLocks noGrp="1"/>
          </p:cNvGraphicFramePr>
          <p:nvPr/>
        </p:nvGraphicFramePr>
        <p:xfrm>
          <a:off x="9780423" y="4617154"/>
          <a:ext cx="6095905" cy="1483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81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176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BD2B3-3C30-F28D-6D0E-1238D7E4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6393-A632-44F9-875C-D5352E673672}" type="datetime4">
              <a:rPr lang="en-US" smtClean="0"/>
              <a:t>January 29,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3F662-B36C-232D-469B-6C1F1B42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1E5C3-996B-A306-DA51-B5CF61AA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21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9734F1-B2FD-741C-93AE-CD959F5AA919}"/>
              </a:ext>
            </a:extLst>
          </p:cNvPr>
          <p:cNvGrpSpPr/>
          <p:nvPr/>
        </p:nvGrpSpPr>
        <p:grpSpPr>
          <a:xfrm>
            <a:off x="-6716985" y="-5738137"/>
            <a:ext cx="25625970" cy="18334277"/>
            <a:chOff x="-8267163" y="-8024700"/>
            <a:chExt cx="25626363" cy="1833455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9CB630C-B997-E1D2-C3FE-F7DF66984261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4EC06DA-4D0D-DEAD-23E4-D07266D4A4A9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CCE2C0-B0BC-EDD8-8FB5-BEBAD5BC5A79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D446E1E-1424-DCCA-B42E-1991F6CD23FA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B6C2851-BDD4-C4AB-127F-4273BB88841B}"/>
              </a:ext>
            </a:extLst>
          </p:cNvPr>
          <p:cNvSpPr/>
          <p:nvPr/>
        </p:nvSpPr>
        <p:spPr>
          <a:xfrm>
            <a:off x="1435100" y="1355725"/>
            <a:ext cx="1843200" cy="1843200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2Righ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2D988-64F4-B02B-65D4-88229C4F3F89}"/>
              </a:ext>
            </a:extLst>
          </p:cNvPr>
          <p:cNvSpPr txBox="1"/>
          <p:nvPr/>
        </p:nvSpPr>
        <p:spPr>
          <a:xfrm>
            <a:off x="1435100" y="986393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512x512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CDB188-F49A-FBE2-28F0-8E59416A1FCD}"/>
              </a:ext>
            </a:extLst>
          </p:cNvPr>
          <p:cNvSpPr/>
          <p:nvPr/>
        </p:nvSpPr>
        <p:spPr>
          <a:xfrm>
            <a:off x="2749342" y="3198925"/>
            <a:ext cx="921600" cy="921600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2Righ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1028D9-C137-2785-3DCB-DABAE0364559}"/>
              </a:ext>
            </a:extLst>
          </p:cNvPr>
          <p:cNvSpPr txBox="1"/>
          <p:nvPr/>
        </p:nvSpPr>
        <p:spPr>
          <a:xfrm>
            <a:off x="2616616" y="2759803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128x128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8CB35A-68BD-82EB-4812-FDA9F7960D93}"/>
              </a:ext>
            </a:extLst>
          </p:cNvPr>
          <p:cNvSpPr/>
          <p:nvPr/>
        </p:nvSpPr>
        <p:spPr>
          <a:xfrm>
            <a:off x="3581400" y="4216040"/>
            <a:ext cx="460800" cy="460800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2Righ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67A650-6117-A3B0-E4F9-8475B9C362F1}"/>
              </a:ext>
            </a:extLst>
          </p:cNvPr>
          <p:cNvSpPr txBox="1"/>
          <p:nvPr/>
        </p:nvSpPr>
        <p:spPr>
          <a:xfrm>
            <a:off x="3506900" y="3659725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32x32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0782C8-553A-65A3-5E11-4CC8CF71DB45}"/>
              </a:ext>
            </a:extLst>
          </p:cNvPr>
          <p:cNvSpPr/>
          <p:nvPr/>
        </p:nvSpPr>
        <p:spPr>
          <a:xfrm>
            <a:off x="4081635" y="482923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2Righ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12EF8D-B0F9-3E61-7633-BBAF0E4ECDDC}"/>
              </a:ext>
            </a:extLst>
          </p:cNvPr>
          <p:cNvSpPr txBox="1"/>
          <p:nvPr/>
        </p:nvSpPr>
        <p:spPr>
          <a:xfrm>
            <a:off x="4038600" y="4403023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8x8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B38840-BA2C-8740-5830-A02E039A1754}"/>
              </a:ext>
            </a:extLst>
          </p:cNvPr>
          <p:cNvSpPr/>
          <p:nvPr/>
        </p:nvSpPr>
        <p:spPr>
          <a:xfrm>
            <a:off x="8339596" y="1355725"/>
            <a:ext cx="1843200" cy="1843200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1Lef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A76E0D-FDD4-4AC9-FA3C-8A7ACC0EFBB6}"/>
              </a:ext>
            </a:extLst>
          </p:cNvPr>
          <p:cNvSpPr/>
          <p:nvPr/>
        </p:nvSpPr>
        <p:spPr>
          <a:xfrm>
            <a:off x="7878796" y="3198925"/>
            <a:ext cx="921600" cy="921600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1Lef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F37F48-C8E7-51F3-169B-56DC58FB2FE5}"/>
              </a:ext>
            </a:extLst>
          </p:cNvPr>
          <p:cNvSpPr/>
          <p:nvPr/>
        </p:nvSpPr>
        <p:spPr>
          <a:xfrm>
            <a:off x="7587731" y="4216040"/>
            <a:ext cx="460800" cy="460800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1Lef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A06C09-2B53-CDA1-9121-69636E849DAD}"/>
              </a:ext>
            </a:extLst>
          </p:cNvPr>
          <p:cNvSpPr/>
          <p:nvPr/>
        </p:nvSpPr>
        <p:spPr>
          <a:xfrm>
            <a:off x="7335731" y="4829239"/>
            <a:ext cx="252000" cy="252000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1Lef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346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60ED0-AF95-2A5B-F807-0934188F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9614-1E12-35A0-E615-C421DD3EB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84" y="190545"/>
            <a:ext cx="11429516" cy="1066755"/>
          </a:xfrm>
          <a:solidFill>
            <a:srgbClr val="FFBCBC">
              <a:alpha val="40000"/>
            </a:srgbClr>
          </a:solidFill>
          <a:ln w="38100">
            <a:solidFill>
              <a:srgbClr val="BEBEBE"/>
            </a:solidFill>
          </a:ln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z="3387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Future Work</a:t>
            </a:r>
            <a:br>
              <a:rPr lang="en-US" sz="3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117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20-24 Normal</a:t>
            </a:r>
            <a:r>
              <a:rPr lang="en-US" sz="2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7A845-96E6-B71B-8B59-9D805416A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84" y="1447792"/>
            <a:ext cx="11429516" cy="49527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Crystal Violet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Mobility data (B620 ~B640)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5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5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7C10265-0CD6-DDEC-967B-43145D0B5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B2AC621-66B9-D4AB-98DE-7BC1185D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8697A9D-0314-D093-7FBB-98B6EE31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22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E548057-29F2-30CD-8105-625CB5975E08}"/>
              </a:ext>
            </a:extLst>
          </p:cNvPr>
          <p:cNvGrpSpPr/>
          <p:nvPr/>
        </p:nvGrpSpPr>
        <p:grpSpPr>
          <a:xfrm>
            <a:off x="-6716985" y="-5738137"/>
            <a:ext cx="25625970" cy="1833427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65C7BC6-E419-CAA7-3F3B-0AD71DE5BCCF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99E5F57-97D4-6826-45F1-661ED578661F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3F0663-769B-148A-D63C-76ED17802C62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24425D-4D27-CC46-75EB-A99C36E2FDA0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7591365-45AD-87E9-964B-2B72D9A434D8}"/>
              </a:ext>
            </a:extLst>
          </p:cNvPr>
          <p:cNvSpPr txBox="1"/>
          <p:nvPr/>
        </p:nvSpPr>
        <p:spPr>
          <a:xfrm>
            <a:off x="360088" y="-729333"/>
            <a:ext cx="1789272" cy="61581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1" dirty="0"/>
              <a:t>Dimension:3, 31.8</a:t>
            </a:r>
          </a:p>
          <a:p>
            <a:r>
              <a:rPr lang="en-US" sz="1701" dirty="0"/>
              <a:t>Position: 1, 0.5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B6BDD5-9296-75B5-9328-8207347E158B}"/>
              </a:ext>
            </a:extLst>
          </p:cNvPr>
          <p:cNvGraphicFramePr>
            <a:graphicFrameLocks noGrp="1"/>
          </p:cNvGraphicFramePr>
          <p:nvPr/>
        </p:nvGraphicFramePr>
        <p:xfrm>
          <a:off x="9780423" y="4617154"/>
          <a:ext cx="6095905" cy="1483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81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330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564E-BEFE-0303-A602-0B3165BC2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3EAB-A7D8-5630-ADFB-8A8C1C77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84" y="190545"/>
            <a:ext cx="11429516" cy="1066755"/>
          </a:xfrm>
          <a:solidFill>
            <a:srgbClr val="F5F5DC"/>
          </a:solidFill>
          <a:ln w="38100">
            <a:noFill/>
          </a:ln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z="3387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Future Work</a:t>
            </a:r>
            <a:br>
              <a:rPr lang="en-US" sz="3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117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20-24 Normal</a:t>
            </a:r>
            <a:r>
              <a:rPr lang="en-US" sz="2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B6AF5-AC0D-AE4A-59D6-24E43215C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84" y="1447792"/>
            <a:ext cx="11429516" cy="49527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Crystal Violet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5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Mobility data (B620 ~B640)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5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54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C7E4B5A-48C8-5D3F-8BDE-6912FC2C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2025-01-29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E509BBC-DA39-C003-1E7F-406D067C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39D0125-B8FA-15FD-B441-D8CD4F2A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23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A7C60F-524E-3B6A-097E-862AAA78F3D9}"/>
              </a:ext>
            </a:extLst>
          </p:cNvPr>
          <p:cNvGrpSpPr/>
          <p:nvPr/>
        </p:nvGrpSpPr>
        <p:grpSpPr>
          <a:xfrm>
            <a:off x="-6716985" y="-5738137"/>
            <a:ext cx="25625970" cy="18334277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A25AB69-C18B-077E-1743-C49D399BD57F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B3C965-D579-8A80-87BA-83A769283056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F666E5B-4989-FDA1-D07A-A41D02213DB6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E6807F1-2907-E53B-F3D2-A739E206884D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31CBE48-E28E-0AF0-13B6-67475FA08F37}"/>
              </a:ext>
            </a:extLst>
          </p:cNvPr>
          <p:cNvSpPr txBox="1"/>
          <p:nvPr/>
        </p:nvSpPr>
        <p:spPr>
          <a:xfrm>
            <a:off x="360088" y="-729333"/>
            <a:ext cx="1789272" cy="61581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701" dirty="0"/>
              <a:t>Dimension:3, 31.8</a:t>
            </a:r>
          </a:p>
          <a:p>
            <a:r>
              <a:rPr lang="en-US" sz="1701" dirty="0"/>
              <a:t>Position: 1, 0.5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8D8E2F-9D72-7CCE-5159-FDD3AE25D022}"/>
              </a:ext>
            </a:extLst>
          </p:cNvPr>
          <p:cNvGraphicFramePr>
            <a:graphicFrameLocks noGrp="1"/>
          </p:cNvGraphicFramePr>
          <p:nvPr/>
        </p:nvGraphicFramePr>
        <p:xfrm>
          <a:off x="9780423" y="4617154"/>
          <a:ext cx="6095905" cy="1483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81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219181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ED54808-3018-01E9-6AC0-84BC386628A3}"/>
              </a:ext>
            </a:extLst>
          </p:cNvPr>
          <p:cNvGrpSpPr/>
          <p:nvPr/>
        </p:nvGrpSpPr>
        <p:grpSpPr>
          <a:xfrm>
            <a:off x="4809137" y="1969630"/>
            <a:ext cx="4079547" cy="2918740"/>
            <a:chOff x="-8267163" y="-8024700"/>
            <a:chExt cx="25626363" cy="1833455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0695A1A-052B-22A4-68C8-635B087CA4D4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8C845F3-0D30-CA99-8143-B4A90C4DF9CC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95EEB5-E03B-B54F-F506-7B2665C1112B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1FF246A-A396-97FD-9E3F-8FDCBC63183B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1"/>
            </a:p>
          </p:txBody>
        </p:sp>
      </p:grpSp>
    </p:spTree>
    <p:extLst>
      <p:ext uri="{BB962C8B-B14F-4D97-AF65-F5344CB8AC3E}">
        <p14:creationId xmlns:p14="http://schemas.microsoft.com/office/powerpoint/2010/main" val="2685915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2433</TotalTime>
  <Words>2197</Words>
  <Application>Microsoft Office PowerPoint</Application>
  <PresentationFormat>Widescreen</PresentationFormat>
  <Paragraphs>402</Paragraphs>
  <Slides>23</Slides>
  <Notes>21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Noto Sans Symbols</vt:lpstr>
      <vt:lpstr>芫荽</vt:lpstr>
      <vt:lpstr>Aptos Narrow</vt:lpstr>
      <vt:lpstr>Arial</vt:lpstr>
      <vt:lpstr>Calibri</vt:lpstr>
      <vt:lpstr>Calibri Light</vt:lpstr>
      <vt:lpstr>Cambria Math</vt:lpstr>
      <vt:lpstr>Consolas</vt:lpstr>
      <vt:lpstr>Times New Roman</vt:lpstr>
      <vt:lpstr>Office Theme</vt:lpstr>
      <vt:lpstr>Machine Learning Examples in 2D Material Development</vt:lpstr>
      <vt:lpstr>Project Control Table</vt:lpstr>
      <vt:lpstr>PowerPoint Presentation</vt:lpstr>
      <vt:lpstr>How to describe an SEM image of a 2D material?</vt:lpstr>
      <vt:lpstr>How to get these information?</vt:lpstr>
      <vt:lpstr>Execution Steps</vt:lpstr>
      <vt:lpstr>How are these measurements relating to devise performance? </vt:lpstr>
      <vt:lpstr>Demo Video</vt:lpstr>
      <vt:lpstr>PowerPoint Presentation</vt:lpstr>
      <vt:lpstr>Coverage</vt:lpstr>
      <vt:lpstr>Otsu’s Method</vt:lpstr>
      <vt:lpstr>Watershed</vt:lpstr>
      <vt:lpstr> Distance Transform </vt:lpstr>
      <vt:lpstr>Watershed Parameter Adjustments</vt:lpstr>
      <vt:lpstr>Watershed Improvement — Add foreground at local maxima</vt:lpstr>
      <vt:lpstr>Foreground Sharp Edge Smoothing</vt:lpstr>
      <vt:lpstr>PowerPoint Presentation</vt:lpstr>
      <vt:lpstr>Future Work</vt:lpstr>
      <vt:lpstr>Calibri Light, 32-36, Bold (H=2.8, W=30, x=1, y=0.5)  Calibri Light, 20-24 Normal </vt:lpstr>
      <vt:lpstr>Calibri Light, 32-36, Bold (H=2.8, W=30, x=1, y=0.5)  Calibri Light, 20-24 Normal </vt:lpstr>
      <vt:lpstr>PowerPoint Presentation</vt:lpstr>
      <vt:lpstr>Future Work Calibri Light, 20-24 Normal </vt:lpstr>
      <vt:lpstr>Future Work Calibri Light, 20-24 Normal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01_Progress report</dc:title>
  <dc:creator>Meng-Chi Chen</dc:creator>
  <cp:lastModifiedBy>Ed Chen</cp:lastModifiedBy>
  <cp:revision>24</cp:revision>
  <dcterms:created xsi:type="dcterms:W3CDTF">2018-02-26T00:11:07Z</dcterms:created>
  <dcterms:modified xsi:type="dcterms:W3CDTF">2025-01-30T03:37:29Z</dcterms:modified>
</cp:coreProperties>
</file>