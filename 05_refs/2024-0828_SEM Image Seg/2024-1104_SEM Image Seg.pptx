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3"/>
  </p:notesMasterIdLst>
  <p:sldIdLst>
    <p:sldId id="591" r:id="rId2"/>
    <p:sldId id="620" r:id="rId3"/>
    <p:sldId id="737" r:id="rId4"/>
    <p:sldId id="735" r:id="rId5"/>
    <p:sldId id="728" r:id="rId6"/>
    <p:sldId id="740" r:id="rId7"/>
    <p:sldId id="730" r:id="rId8"/>
    <p:sldId id="723" r:id="rId9"/>
    <p:sldId id="717" r:id="rId10"/>
    <p:sldId id="729" r:id="rId11"/>
    <p:sldId id="633" r:id="rId12"/>
    <p:sldId id="733" r:id="rId13"/>
    <p:sldId id="732" r:id="rId14"/>
    <p:sldId id="734" r:id="rId15"/>
    <p:sldId id="720" r:id="rId16"/>
    <p:sldId id="724" r:id="rId17"/>
    <p:sldId id="726" r:id="rId18"/>
    <p:sldId id="739" r:id="rId19"/>
    <p:sldId id="731" r:id="rId20"/>
    <p:sldId id="641" r:id="rId21"/>
    <p:sldId id="727" r:id="rId22"/>
  </p:sldIdLst>
  <p:sldSz cx="11520488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141E"/>
    <a:srgbClr val="C2C0BF"/>
    <a:srgbClr val="F5F5DC"/>
    <a:srgbClr val="DCDA80"/>
    <a:srgbClr val="A31F34"/>
    <a:srgbClr val="F5C5C5"/>
    <a:srgbClr val="FFCCCC"/>
    <a:srgbClr val="FEF5BC"/>
    <a:srgbClr val="594C56"/>
    <a:srgbClr val="E9E8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8015" autoAdjust="0"/>
  </p:normalViewPr>
  <p:slideViewPr>
    <p:cSldViewPr snapToGrid="0">
      <p:cViewPr varScale="1">
        <p:scale>
          <a:sx n="100" d="100"/>
          <a:sy n="100" d="100"/>
        </p:scale>
        <p:origin x="1164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163DFC-F11F-4511-9AA9-F682134604B2}" type="datetimeFigureOut">
              <a:rPr lang="en-US" smtClean="0"/>
              <a:t>2026-06-18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9A7466-6554-4EB6-A5F6-6028A412BE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1pPr>
    <a:lvl2pPr marL="432008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2pPr>
    <a:lvl3pPr marL="864017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3pPr>
    <a:lvl4pPr marL="1296025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4pPr>
    <a:lvl5pPr marL="1728033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5pPr>
    <a:lvl6pPr marL="2160041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6pPr>
    <a:lvl7pPr marL="2592050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7pPr>
    <a:lvl8pPr marL="3024058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8pPr>
    <a:lvl9pPr marL="3456066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exploration of two-dimensional (2D) materials for next-generation semiconductors begins with recipe optimization to synthesize high-quality 2D materials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followed by characterization such as optical microscopy, Raman spectroscopy, atomic force microscopy (AFM), and scanning electron microscopy (SEM).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Samples with promising quality proceed to device fabrication and performance testing.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 experience, we (Jiadi) find that scanning electron microscopy (SEM) images strongly correlate with device outcomes.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However, a systematic numerical description of SEM results is lacking.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Here, we present an algorithm that leverages machine learning and computer vision to provide a numerical representation (NR) of SEM images of 2D MoS₂, </a:t>
            </a:r>
            <a:r>
              <a:rPr lang="en-US" sz="1800" dirty="0">
                <a:effectLst/>
                <a:highlight>
                  <a:srgbClr val="FF00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correlating this NR with device performance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</a:t>
            </a:r>
            <a:r>
              <a:rPr lang="en-US" sz="1800" dirty="0">
                <a:effectLst/>
                <a:highlight>
                  <a:srgbClr val="FF00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using the desired NR for recipe optimization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800" dirty="0"/>
              <a:t>This research is ongoing, with a green checkmark indicating completed functions and a yellow triangle highlighting areas still under development.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800" dirty="0"/>
              <a:t>Today, I would like to show you the current stage of this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A7466-6554-4EB6-A5F6-6028A412BE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46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F9F29-CFE4-FC82-0248-356F56650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07498A-446A-6522-28A6-C251F4C4D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31BD1C-DD82-B990-3B5B-09AD6AE31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FC614-C65B-B484-0C8D-2AAE10FE74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83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2024-12-02</a:t>
            </a:r>
          </a:p>
          <a:p>
            <a:r>
              <a:rPr lang="en-US" dirty="0"/>
              <a:t>Consider other factors.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9A7466-6554-4EB6-A5F6-6028A412BEC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39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68333-C12C-11FE-B0B0-DAA06F0E5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ECEA70-16C6-B7EF-22A9-E8E1F4994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232585-57D5-CB43-3C3F-1D59CCE06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 we usually describe an SEM image of a 2D material?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74D317-C5E1-C651-2209-88E604F58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405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1582F-C3E5-2FA4-7D47-C156B9B2D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DCF190-D544-39B3-406D-8B53B4601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F7FF0-81D2-EFCC-D435-DADEAD138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1D3DB-ECEA-168A-A86C-18E6ADC4BE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554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BD2AF-F390-3963-B436-1904CB54A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97A65-9076-C25F-EA25-9CD8F7B29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4B492A-6F23-8921-4C24-73633FD1B8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79570-A1A0-9D1A-B695-D71CF9273B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1135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751B2-7134-C1FB-CA07-9163BF248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684502-B39F-209B-B032-3C049473F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D5B458-4D61-A202-7DB8-0DB61AF9A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CF2C2-020F-C8B4-52A7-280F0B11B8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858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F9F29-CFE4-FC82-0248-356F56650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07498A-446A-6522-28A6-C251F4C4D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31BD1C-DD82-B990-3B5B-09AD6AE31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FC614-C65B-B484-0C8D-2AAE10FE74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05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63EC1-FB24-E1C5-E44C-F459FA035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1A25F-A4FE-6E77-B055-33893F122E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00A831-6811-278A-FE45-B9460A631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4E2B0-F86D-D935-0233-C5824D09F7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494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041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9250B-7BA2-81DC-1B28-43169E82B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2EA5FF-5F6B-14CD-175B-F3F3FEE30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6DC3F9-38C9-A0BF-D43E-8675D5B0D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50DEF-5BA5-8BC3-ED3D-36309D0750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6955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32BDC-B614-4378-9399-C0C15323F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2657C-B340-A498-150D-FD46CE7F10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A3A35B-4551-F68E-495E-18DE14A02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F1C82-07B0-DD07-3DF8-1EE5D045D7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027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B62A6-B22C-2F22-EAB3-6F129331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A49E5A-FD51-F7A4-6DDF-EAAAF87EF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9D2DC6-0B62-A1FD-A583-2B336E989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A2213-A28E-13FB-FD6D-C3E59344FC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6920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2448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F9F29-CFE4-FC82-0248-356F56650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07498A-446A-6522-28A6-C251F4C4D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31BD1C-DD82-B990-3B5B-09AD6AE31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FC614-C65B-B484-0C8D-2AAE10FE74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6690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FC08E-36CA-3408-F0A5-E10C3020A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FFD348-771B-081F-17D8-DE61EBBA0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4BF64D-ED13-D85A-94AF-A2D917823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618CC-1B76-C2D3-A9A0-99815CF263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4003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6D65C-F598-2137-BD7C-959AE31C2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EF3FE5-F72D-D1AD-21BD-440482A47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4EA6EB-3878-223E-E029-95A589DA6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7DE0B-91BA-3C0E-2380-7FC1314F9B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1654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6363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6DB1E-CB0E-DB00-4269-D94F21D65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A478E1-B4A6-DA34-D0A6-C8A5CA026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E2233-2B5E-F151-558A-6E29612B3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E27175-B557-C73E-F19E-AB3C86C4C4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CA803C-5A74-446F-A5B1-0DED5E7510C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60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0061" y="1060529"/>
            <a:ext cx="8640366" cy="2256061"/>
          </a:xfrm>
        </p:spPr>
        <p:txBody>
          <a:bodyPr anchor="b"/>
          <a:lstStyle>
            <a:lvl1pPr algn="ctr">
              <a:defRPr sz="56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061" y="3403592"/>
            <a:ext cx="8640366" cy="1564542"/>
          </a:xfrm>
        </p:spPr>
        <p:txBody>
          <a:bodyPr/>
          <a:lstStyle>
            <a:lvl1pPr marL="0" indent="0" algn="ctr">
              <a:buNone/>
              <a:defRPr sz="2268"/>
            </a:lvl1pPr>
            <a:lvl2pPr marL="432008" indent="0" algn="ctr">
              <a:buNone/>
              <a:defRPr sz="1890"/>
            </a:lvl2pPr>
            <a:lvl3pPr marL="864017" indent="0" algn="ctr">
              <a:buNone/>
              <a:defRPr sz="1701"/>
            </a:lvl3pPr>
            <a:lvl4pPr marL="1296025" indent="0" algn="ctr">
              <a:buNone/>
              <a:defRPr sz="1512"/>
            </a:lvl4pPr>
            <a:lvl5pPr marL="1728033" indent="0" algn="ctr">
              <a:buNone/>
              <a:defRPr sz="1512"/>
            </a:lvl5pPr>
            <a:lvl6pPr marL="2160041" indent="0" algn="ctr">
              <a:buNone/>
              <a:defRPr sz="1512"/>
            </a:lvl6pPr>
            <a:lvl7pPr marL="2592050" indent="0" algn="ctr">
              <a:buNone/>
              <a:defRPr sz="1512"/>
            </a:lvl7pPr>
            <a:lvl8pPr marL="3024058" indent="0" algn="ctr">
              <a:buNone/>
              <a:defRPr sz="1512"/>
            </a:lvl8pPr>
            <a:lvl9pPr marL="3456066" indent="0" algn="ctr">
              <a:buNone/>
              <a:defRPr sz="151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EE92-4AF3-4D1C-A7C3-8EED02A3C521}" type="datetime4">
              <a:rPr lang="en-US" smtClean="0"/>
              <a:t>June 18,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53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7F88C-8C21-45A1-B151-A4816695990A}" type="datetime4">
              <a:rPr lang="en-US" smtClean="0"/>
              <a:t>June 18,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09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033" y="1615545"/>
            <a:ext cx="9936421" cy="269557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6033" y="4336618"/>
            <a:ext cx="9936421" cy="1417538"/>
          </a:xfrm>
        </p:spPr>
        <p:txBody>
          <a:bodyPr/>
          <a:lstStyle>
            <a:lvl1pPr marL="0" indent="0">
              <a:buNone/>
              <a:defRPr sz="2268">
                <a:solidFill>
                  <a:schemeClr val="tx1">
                    <a:tint val="75000"/>
                  </a:schemeClr>
                </a:solidFill>
              </a:defRPr>
            </a:lvl1pPr>
            <a:lvl2pPr marL="432008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864017" indent="0">
              <a:buNone/>
              <a:defRPr sz="1701">
                <a:solidFill>
                  <a:schemeClr val="tx1">
                    <a:tint val="75000"/>
                  </a:schemeClr>
                </a:solidFill>
              </a:defRPr>
            </a:lvl3pPr>
            <a:lvl4pPr marL="1296025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4pPr>
            <a:lvl5pPr marL="172803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5pPr>
            <a:lvl6pPr marL="2160041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6pPr>
            <a:lvl7pPr marL="259205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7pPr>
            <a:lvl8pPr marL="3024058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8pPr>
            <a:lvl9pPr marL="345606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C6EB3-CE21-4811-B05E-164EC6F7BFD0}" type="datetime4">
              <a:rPr lang="en-US" smtClean="0"/>
              <a:t>June 18,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86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034" y="1725046"/>
            <a:ext cx="4896207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32247" y="1725046"/>
            <a:ext cx="4896207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B3CEB-5625-460D-8411-4BDC0E32BD23}" type="datetime4">
              <a:rPr lang="en-US" smtClean="0"/>
              <a:t>June 18,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84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4" y="345010"/>
            <a:ext cx="9936421" cy="1252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3535" y="1588543"/>
            <a:ext cx="4873706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3535" y="2367064"/>
            <a:ext cx="4873706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2247" y="1588543"/>
            <a:ext cx="4897708" cy="778521"/>
          </a:xfrm>
        </p:spPr>
        <p:txBody>
          <a:bodyPr anchor="b"/>
          <a:lstStyle>
            <a:lvl1pPr marL="0" indent="0">
              <a:buNone/>
              <a:defRPr sz="2268" b="1"/>
            </a:lvl1pPr>
            <a:lvl2pPr marL="432008" indent="0">
              <a:buNone/>
              <a:defRPr sz="1890" b="1"/>
            </a:lvl2pPr>
            <a:lvl3pPr marL="864017" indent="0">
              <a:buNone/>
              <a:defRPr sz="1701" b="1"/>
            </a:lvl3pPr>
            <a:lvl4pPr marL="1296025" indent="0">
              <a:buNone/>
              <a:defRPr sz="1512" b="1"/>
            </a:lvl4pPr>
            <a:lvl5pPr marL="1728033" indent="0">
              <a:buNone/>
              <a:defRPr sz="1512" b="1"/>
            </a:lvl5pPr>
            <a:lvl6pPr marL="2160041" indent="0">
              <a:buNone/>
              <a:defRPr sz="1512" b="1"/>
            </a:lvl6pPr>
            <a:lvl7pPr marL="2592050" indent="0">
              <a:buNone/>
              <a:defRPr sz="1512" b="1"/>
            </a:lvl7pPr>
            <a:lvl8pPr marL="3024058" indent="0">
              <a:buNone/>
              <a:defRPr sz="1512" b="1"/>
            </a:lvl8pPr>
            <a:lvl9pPr marL="3456066" indent="0">
              <a:buNone/>
              <a:defRPr sz="15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32247" y="2367064"/>
            <a:ext cx="4897708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AE11D-279F-464B-AE25-98859C1ECB30}" type="datetime4">
              <a:rPr lang="en-US" smtClean="0"/>
              <a:t>June 18,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08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5ABA3-9AEF-4825-A155-2E50DD0E41C3}" type="datetime4">
              <a:rPr lang="en-US" smtClean="0"/>
              <a:t>June 18,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335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F6393-A632-44F9-875C-D5352E673672}" type="datetime4">
              <a:rPr lang="en-US" smtClean="0"/>
              <a:t>June 18,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976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7708" y="933026"/>
            <a:ext cx="5832247" cy="4605124"/>
          </a:xfrm>
        </p:spPr>
        <p:txBody>
          <a:bodyPr/>
          <a:lstStyle>
            <a:lvl1pPr>
              <a:defRPr sz="3024"/>
            </a:lvl1pPr>
            <a:lvl2pPr>
              <a:defRPr sz="2646"/>
            </a:lvl2pPr>
            <a:lvl3pPr>
              <a:defRPr sz="2268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12B41-9644-4D49-8E49-FFEBF3D2ACC2}" type="datetime4">
              <a:rPr lang="en-US" smtClean="0"/>
              <a:t>June 18,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15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3535" y="432012"/>
            <a:ext cx="3715657" cy="1512041"/>
          </a:xfrm>
        </p:spPr>
        <p:txBody>
          <a:bodyPr anchor="b"/>
          <a:lstStyle>
            <a:lvl1pPr>
              <a:defRPr sz="30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97708" y="933026"/>
            <a:ext cx="5832247" cy="4605124"/>
          </a:xfrm>
        </p:spPr>
        <p:txBody>
          <a:bodyPr anchor="t"/>
          <a:lstStyle>
            <a:lvl1pPr marL="0" indent="0">
              <a:buNone/>
              <a:defRPr sz="3024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3535" y="1944052"/>
            <a:ext cx="3715657" cy="3601598"/>
          </a:xfrm>
        </p:spPr>
        <p:txBody>
          <a:bodyPr/>
          <a:lstStyle>
            <a:lvl1pPr marL="0" indent="0">
              <a:buNone/>
              <a:defRPr sz="1512"/>
            </a:lvl1pPr>
            <a:lvl2pPr marL="432008" indent="0">
              <a:buNone/>
              <a:defRPr sz="1323"/>
            </a:lvl2pPr>
            <a:lvl3pPr marL="864017" indent="0">
              <a:buNone/>
              <a:defRPr sz="1134"/>
            </a:lvl3pPr>
            <a:lvl4pPr marL="1296025" indent="0">
              <a:buNone/>
              <a:defRPr sz="945"/>
            </a:lvl4pPr>
            <a:lvl5pPr marL="1728033" indent="0">
              <a:buNone/>
              <a:defRPr sz="945"/>
            </a:lvl5pPr>
            <a:lvl6pPr marL="2160041" indent="0">
              <a:buNone/>
              <a:defRPr sz="945"/>
            </a:lvl6pPr>
            <a:lvl7pPr marL="2592050" indent="0">
              <a:buNone/>
              <a:defRPr sz="945"/>
            </a:lvl7pPr>
            <a:lvl8pPr marL="3024058" indent="0">
              <a:buNone/>
              <a:defRPr sz="945"/>
            </a:lvl8pPr>
            <a:lvl9pPr marL="3456066" indent="0">
              <a:buNone/>
              <a:defRPr sz="9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BB68-8E84-46E9-8DA2-CE92D9FC94E8}" type="datetime4">
              <a:rPr lang="en-US" smtClean="0"/>
              <a:t>June 18,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250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B4A8F-FF59-44C2-9790-501FE01E8130}" type="datetime4">
              <a:rPr lang="en-US" smtClean="0"/>
              <a:t>June 18,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558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44349" y="345009"/>
            <a:ext cx="2484105" cy="54916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033" y="345009"/>
            <a:ext cx="7308310" cy="54916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6FBEC-96F8-4B69-8AED-B1FA2A421011}" type="datetime4">
              <a:rPr lang="en-US" smtClean="0"/>
              <a:t>June 18,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640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34" y="345010"/>
            <a:ext cx="9936421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034" y="1725046"/>
            <a:ext cx="9936421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2033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01336-EC5A-43BC-8623-7E3D722401A7}" type="datetime4">
              <a:rPr lang="en-US" smtClean="0"/>
              <a:t>June 18,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6162" y="6006163"/>
            <a:ext cx="3888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edchen93@mit.edu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36345" y="6006163"/>
            <a:ext cx="2592110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534D1-4299-41A8-9387-6DA1E0F8FD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350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864017" rtl="0" eaLnBrk="1" latinLnBrk="0" hangingPunct="1">
        <a:lnSpc>
          <a:spcPct val="90000"/>
        </a:lnSpc>
        <a:spcBef>
          <a:spcPct val="0"/>
        </a:spcBef>
        <a:buNone/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4" indent="-216004" algn="l" defTabSz="864017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1pPr>
      <a:lvl2pPr marL="64801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cl/fo/36wrwwr47m0vifwe8wvnu/AF0F0pOW3Z0kwe34LtRxTuM?rlkey=2v16wbs3bq6vu81e4fph4nnok&amp;st=ibc5brxd&amp;dl=0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itprod-my.sharepoint.com/:p:/g/personal/edchen93_mit_edu/EeBhIB1nFoVAlkqaQcClEtsBsYqwneUawGiF3oEFSIJpbg?e=pXUIMv" TargetMode="External"/><Relationship Id="rId4" Type="http://schemas.openxmlformats.org/officeDocument/2006/relationships/hyperlink" Target="https://docs.google.com/spreadsheets/d/1oJ1RdsqrisFb9jxFJyc4TyQTLStmKBVbRIwYu-NxrmI/edit?usp=sharing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file:///D:\03_Temporary%20Locations\05_Output\Image%20Seg%20Demo_1080p.mp4" TargetMode="External"/><Relationship Id="rId3" Type="http://schemas.openxmlformats.org/officeDocument/2006/relationships/image" Target="../media/image7.jpeg"/><Relationship Id="rId7" Type="http://schemas.openxmlformats.org/officeDocument/2006/relationships/hyperlink" Target="https://mitprod-my.sharepoint.com/:v:/g/personal/edchen93_mit_edu/EdLUAkMSnYlMtWSVRGX-xPUBTkQq_P5VeEwHplmuaEPHXA?e=gp4frA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gif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9.jpeg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7.gi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3" Type="http://schemas.openxmlformats.org/officeDocument/2006/relationships/image" Target="../media/image18.jpg"/><Relationship Id="rId7" Type="http://schemas.openxmlformats.org/officeDocument/2006/relationships/image" Target="../media/image2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7" Type="http://schemas.openxmlformats.org/officeDocument/2006/relationships/image" Target="../media/image28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g"/><Relationship Id="rId3" Type="http://schemas.openxmlformats.org/officeDocument/2006/relationships/image" Target="../media/image29.jpg"/><Relationship Id="rId7" Type="http://schemas.openxmlformats.org/officeDocument/2006/relationships/image" Target="../media/image3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g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g"/><Relationship Id="rId3" Type="http://schemas.openxmlformats.org/officeDocument/2006/relationships/image" Target="../media/image24.jpg"/><Relationship Id="rId7" Type="http://schemas.openxmlformats.org/officeDocument/2006/relationships/image" Target="../media/image3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g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7" Type="http://schemas.openxmlformats.org/officeDocument/2006/relationships/image" Target="../media/image4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49.png"/><Relationship Id="rId3" Type="http://schemas.openxmlformats.org/officeDocument/2006/relationships/image" Target="../media/image7.jpeg"/><Relationship Id="rId7" Type="http://schemas.openxmlformats.org/officeDocument/2006/relationships/image" Target="../media/image45.jpe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47.png"/><Relationship Id="rId5" Type="http://schemas.openxmlformats.org/officeDocument/2006/relationships/image" Target="../media/image10.jpeg"/><Relationship Id="rId10" Type="http://schemas.openxmlformats.org/officeDocument/2006/relationships/image" Target="../media/image5.jpeg"/><Relationship Id="rId4" Type="http://schemas.openxmlformats.org/officeDocument/2006/relationships/image" Target="../media/image9.jpeg"/><Relationship Id="rId9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01400-E215-410A-BA10-189A09156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709" y="436615"/>
            <a:ext cx="8153071" cy="680333"/>
          </a:xfrm>
        </p:spPr>
        <p:txBody>
          <a:bodyPr>
            <a:noAutofit/>
          </a:bodyPr>
          <a:lstStyle/>
          <a:p>
            <a:r>
              <a:rPr lang="en-US" altLang="zh-TW" sz="2646" b="1" dirty="0">
                <a:solidFill>
                  <a:schemeClr val="bg1"/>
                </a:solidFill>
              </a:rPr>
              <a:t>Machine Learning</a:t>
            </a:r>
            <a:r>
              <a:rPr lang="zh-TW" altLang="en-US" sz="2646" b="1" dirty="0">
                <a:solidFill>
                  <a:schemeClr val="bg1"/>
                </a:solidFill>
              </a:rPr>
              <a:t> </a:t>
            </a:r>
            <a:r>
              <a:rPr lang="en-US" altLang="zh-TW" sz="2646" b="1" dirty="0">
                <a:solidFill>
                  <a:schemeClr val="bg1"/>
                </a:solidFill>
              </a:rPr>
              <a:t>Examples in 2D Material Development</a:t>
            </a:r>
            <a:endParaRPr lang="en-US" sz="2646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6C2BF9-8D3A-4CF7-A5DC-0265C76A6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933" y="1273501"/>
            <a:ext cx="10794622" cy="53821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r>
              <a:rPr lang="en-US" altLang="zh-TW" sz="1890" dirty="0"/>
              <a:t>Collaboration - 02</a:t>
            </a:r>
            <a:r>
              <a:rPr lang="zh-TW" altLang="en-US" sz="1890" dirty="0"/>
              <a:t>　　　　</a:t>
            </a:r>
            <a:r>
              <a:rPr lang="en-US" altLang="zh-TW" sz="1890" dirty="0"/>
              <a:t>Meng-Chi (Ed) Chen</a:t>
            </a:r>
            <a:r>
              <a:rPr lang="zh-TW" altLang="en-US" sz="1890" dirty="0"/>
              <a:t>　　　　</a:t>
            </a:r>
            <a:r>
              <a:rPr lang="en-US" altLang="zh-TW" sz="1890" dirty="0"/>
              <a:t>NMEG, </a:t>
            </a:r>
            <a:fld id="{1EA241EC-0C85-4923-95D8-36E7DCB186C6}" type="datetime1">
              <a:rPr lang="en-US" sz="1890"/>
              <a:pPr>
                <a:lnSpc>
                  <a:spcPct val="100000"/>
                </a:lnSpc>
                <a:spcBef>
                  <a:spcPts val="567"/>
                </a:spcBef>
                <a:spcAft>
                  <a:spcPts val="567"/>
                </a:spcAft>
              </a:pPr>
              <a:t>2026-06-18</a:t>
            </a:fld>
            <a:endParaRPr lang="en-US" sz="1890" dirty="0"/>
          </a:p>
          <a:p>
            <a:pPr algn="l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</a:pPr>
            <a:endParaRPr lang="en-US" sz="1890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668A4C8-E9CE-7165-2561-1EF30BE11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3D171-76CC-4847-896C-FFFFD0A8EAA8}" type="datetime1">
              <a:rPr lang="en-US" smtClean="0"/>
              <a:t>2026-06-18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6A6C35B-3DC4-0B0A-84D1-179B2F1F0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BE874AC-9C96-A995-8FF9-71B752354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1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38034B-F66C-4EF9-B820-5F97E89A87EA}"/>
              </a:ext>
            </a:extLst>
          </p:cNvPr>
          <p:cNvSpPr/>
          <p:nvPr/>
        </p:nvSpPr>
        <p:spPr>
          <a:xfrm>
            <a:off x="360000" y="180000"/>
            <a:ext cx="10800000" cy="972000"/>
          </a:xfrm>
          <a:prstGeom prst="rect">
            <a:avLst/>
          </a:prstGeom>
          <a:solidFill>
            <a:srgbClr val="6414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Machine-Learning-Driven Numerical Analysis of SEM Images </a:t>
            </a:r>
          </a:p>
          <a:p>
            <a:pPr algn="ctr"/>
            <a:r>
              <a:rPr lang="en-US" sz="2800" dirty="0"/>
              <a:t>for Optimizing MOCVD-Grown MoS₂ Device Performance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168BC42-34C5-8A59-CAB0-DBBE9418245B}"/>
              </a:ext>
            </a:extLst>
          </p:cNvPr>
          <p:cNvGrpSpPr/>
          <p:nvPr/>
        </p:nvGrpSpPr>
        <p:grpSpPr>
          <a:xfrm>
            <a:off x="-6347025" y="-5422142"/>
            <a:ext cx="24214540" cy="17324459"/>
            <a:chOff x="-8267163" y="-8024700"/>
            <a:chExt cx="25626363" cy="18334557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9E4F0C3-0631-EC01-8B12-23F94CDC4097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B16896E-7A4D-65AF-8F95-188FDE66C77C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8A869C4-912F-9684-4695-ADE3141224E2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1FB2208-6418-E554-C77D-846143FD6B35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D0E1DCD-AC92-9F9F-62E1-2C3AA2B164B0}"/>
              </a:ext>
            </a:extLst>
          </p:cNvPr>
          <p:cNvSpPr/>
          <p:nvPr/>
        </p:nvSpPr>
        <p:spPr>
          <a:xfrm>
            <a:off x="9299678" y="-689162"/>
            <a:ext cx="1428700" cy="238117"/>
          </a:xfrm>
          <a:prstGeom prst="roundRect">
            <a:avLst/>
          </a:prstGeom>
          <a:noFill/>
          <a:ln w="63500">
            <a:solidFill>
              <a:srgbClr val="FFFF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1C7A98C-CE04-C604-B77E-3932ADC05833}"/>
              </a:ext>
            </a:extLst>
          </p:cNvPr>
          <p:cNvSpPr/>
          <p:nvPr/>
        </p:nvSpPr>
        <p:spPr>
          <a:xfrm>
            <a:off x="4019866" y="-689162"/>
            <a:ext cx="2662003" cy="238117"/>
          </a:xfrm>
          <a:prstGeom prst="roundRect">
            <a:avLst/>
          </a:prstGeom>
          <a:noFill/>
          <a:ln w="63500">
            <a:solidFill>
              <a:srgbClr val="FFFF00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0C545B-B0A5-FCEE-3DAF-7B0CCA6D90BD}"/>
              </a:ext>
            </a:extLst>
          </p:cNvPr>
          <p:cNvSpPr txBox="1"/>
          <p:nvPr/>
        </p:nvSpPr>
        <p:spPr>
          <a:xfrm>
            <a:off x="340256" y="-689162"/>
            <a:ext cx="1858201" cy="58695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7"/>
              <a:t>Dimension:2.4, 31.5</a:t>
            </a:r>
          </a:p>
          <a:p>
            <a:r>
              <a:rPr lang="en-US" sz="1607"/>
              <a:t>Position: 1, 0.5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C423A4-98CD-C718-BB97-8E7FF4D0A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96697" y="1273500"/>
            <a:ext cx="5239436" cy="446412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9CF329C-35F3-8EFC-D84B-D0B1E3ED76AC}"/>
              </a:ext>
            </a:extLst>
          </p:cNvPr>
          <p:cNvGrpSpPr/>
          <p:nvPr/>
        </p:nvGrpSpPr>
        <p:grpSpPr>
          <a:xfrm>
            <a:off x="1210999" y="1760545"/>
            <a:ext cx="9802653" cy="3486907"/>
            <a:chOff x="1281512" y="1863194"/>
            <a:chExt cx="10374194" cy="369021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0CE5F29-3B06-3CFA-398D-1FE62D6E4278}"/>
                </a:ext>
              </a:extLst>
            </p:cNvPr>
            <p:cNvSpPr/>
            <p:nvPr/>
          </p:nvSpPr>
          <p:spPr>
            <a:xfrm>
              <a:off x="1281512" y="2296438"/>
              <a:ext cx="2160000" cy="396000"/>
            </a:xfrm>
            <a:prstGeom prst="roundRect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90" b="1" dirty="0">
                  <a:solidFill>
                    <a:schemeClr val="tx1"/>
                  </a:solidFill>
                </a:rPr>
                <a:t>Recipe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4DA82A9-A0EE-4C6D-7B76-D2C47D2A9276}"/>
                </a:ext>
              </a:extLst>
            </p:cNvPr>
            <p:cNvGrpSpPr/>
            <p:nvPr/>
          </p:nvGrpSpPr>
          <p:grpSpPr>
            <a:xfrm>
              <a:off x="2115599" y="2636059"/>
              <a:ext cx="1800000" cy="432000"/>
              <a:chOff x="2103474" y="2128175"/>
              <a:chExt cx="1800000" cy="432000"/>
            </a:xfrm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48210DCE-A99E-0413-A3E0-CE24EB66C8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3474" y="2236175"/>
                <a:ext cx="0" cy="216000"/>
              </a:xfrm>
              <a:prstGeom prst="line">
                <a:avLst/>
              </a:prstGeom>
              <a:ln w="50800">
                <a:solidFill>
                  <a:srgbClr val="C2C0BF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D103E60E-5ED1-6F24-E6CC-742C396F6349}"/>
                  </a:ext>
                </a:extLst>
              </p:cNvPr>
              <p:cNvSpPr/>
              <p:nvPr/>
            </p:nvSpPr>
            <p:spPr>
              <a:xfrm>
                <a:off x="2103474" y="2128175"/>
                <a:ext cx="1800000" cy="43200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512" dirty="0">
                    <a:solidFill>
                      <a:schemeClr val="tx1"/>
                    </a:solidFill>
                  </a:rPr>
                  <a:t>Synthesis</a:t>
                </a:r>
                <a:endParaRPr lang="en-US" sz="1512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4150E339-3068-D889-5B33-4EF830A6EEC8}"/>
                </a:ext>
              </a:extLst>
            </p:cNvPr>
            <p:cNvSpPr/>
            <p:nvPr/>
          </p:nvSpPr>
          <p:spPr>
            <a:xfrm>
              <a:off x="1281512" y="3011680"/>
              <a:ext cx="2160000" cy="396000"/>
            </a:xfrm>
            <a:prstGeom prst="roundRect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90" b="1" dirty="0">
                  <a:solidFill>
                    <a:schemeClr val="tx1"/>
                  </a:solidFill>
                </a:rPr>
                <a:t>Sample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8C188FE-16B9-BCDE-7C23-CAE6B86CA063}"/>
                </a:ext>
              </a:extLst>
            </p:cNvPr>
            <p:cNvSpPr/>
            <p:nvPr/>
          </p:nvSpPr>
          <p:spPr>
            <a:xfrm>
              <a:off x="1281512" y="3726922"/>
              <a:ext cx="2160000" cy="396000"/>
            </a:xfrm>
            <a:prstGeom prst="roundRect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890" b="1" dirty="0">
                  <a:solidFill>
                    <a:schemeClr val="tx1"/>
                  </a:solidFill>
                </a:rPr>
                <a:t>SEM</a:t>
              </a:r>
              <a:r>
                <a:rPr lang="zh-TW" altLang="en-US" sz="1890" b="1" dirty="0">
                  <a:solidFill>
                    <a:schemeClr val="tx1"/>
                  </a:solidFill>
                </a:rPr>
                <a:t> </a:t>
              </a:r>
              <a:r>
                <a:rPr lang="en-US" altLang="zh-TW" sz="1890" b="1" dirty="0">
                  <a:solidFill>
                    <a:schemeClr val="tx1"/>
                  </a:solidFill>
                </a:rPr>
                <a:t>Image</a:t>
              </a:r>
              <a:endParaRPr lang="en-US" sz="1890" b="1" dirty="0">
                <a:solidFill>
                  <a:schemeClr val="tx1"/>
                </a:solidFill>
              </a:endParaRP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5BAC93C-0A90-6D0A-7C4B-CF2684D52E2F}"/>
                </a:ext>
              </a:extLst>
            </p:cNvPr>
            <p:cNvGrpSpPr/>
            <p:nvPr/>
          </p:nvGrpSpPr>
          <p:grpSpPr>
            <a:xfrm>
              <a:off x="2115599" y="3351301"/>
              <a:ext cx="1800000" cy="432000"/>
              <a:chOff x="2103474" y="3136175"/>
              <a:chExt cx="1800000" cy="432000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9E460B26-83E1-A3A0-6759-66F726084823}"/>
                  </a:ext>
                </a:extLst>
              </p:cNvPr>
              <p:cNvSpPr/>
              <p:nvPr/>
            </p:nvSpPr>
            <p:spPr>
              <a:xfrm>
                <a:off x="2103474" y="3136175"/>
                <a:ext cx="1800000" cy="43200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512" dirty="0">
                    <a:solidFill>
                      <a:schemeClr val="tx1"/>
                    </a:solidFill>
                  </a:rPr>
                  <a:t>Characterization</a:t>
                </a:r>
                <a:endParaRPr lang="en-US" sz="1512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1EDF6A8C-487B-CF94-971A-C151189E09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3474" y="3244175"/>
                <a:ext cx="0" cy="216000"/>
              </a:xfrm>
              <a:prstGeom prst="line">
                <a:avLst/>
              </a:prstGeom>
              <a:ln w="50800">
                <a:solidFill>
                  <a:srgbClr val="C2C0BF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9EC90B55-6F3A-F3F4-5EFA-D8CC5A32C6FC}"/>
                </a:ext>
              </a:extLst>
            </p:cNvPr>
            <p:cNvSpPr/>
            <p:nvPr/>
          </p:nvSpPr>
          <p:spPr>
            <a:xfrm>
              <a:off x="1281512" y="4442164"/>
              <a:ext cx="2160000" cy="396000"/>
            </a:xfrm>
            <a:prstGeom prst="roundRect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90" b="1" dirty="0">
                  <a:solidFill>
                    <a:schemeClr val="tx1"/>
                  </a:solidFill>
                </a:rPr>
                <a:t>Device</a:t>
              </a: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66AE043-D861-41AF-D8F3-2FD9276772A9}"/>
                </a:ext>
              </a:extLst>
            </p:cNvPr>
            <p:cNvGrpSpPr/>
            <p:nvPr/>
          </p:nvGrpSpPr>
          <p:grpSpPr>
            <a:xfrm>
              <a:off x="2115599" y="4066543"/>
              <a:ext cx="1800000" cy="432000"/>
              <a:chOff x="2103474" y="4144175"/>
              <a:chExt cx="1800000" cy="432000"/>
            </a:xfrm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2AFC250E-D0B6-873E-A669-761AE986AE41}"/>
                  </a:ext>
                </a:extLst>
              </p:cNvPr>
              <p:cNvSpPr/>
              <p:nvPr/>
            </p:nvSpPr>
            <p:spPr>
              <a:xfrm>
                <a:off x="2103474" y="4144175"/>
                <a:ext cx="1800000" cy="43200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512" b="1" dirty="0">
                    <a:solidFill>
                      <a:schemeClr val="tx1"/>
                    </a:solidFill>
                  </a:rPr>
                  <a:t>Fabrication</a:t>
                </a:r>
                <a:endParaRPr lang="en-US" sz="1512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18C16BF1-AD6C-60AE-D39E-81F599AF15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3474" y="4252175"/>
                <a:ext cx="0" cy="216000"/>
              </a:xfrm>
              <a:prstGeom prst="line">
                <a:avLst/>
              </a:prstGeom>
              <a:ln w="50800">
                <a:solidFill>
                  <a:srgbClr val="C2C0BF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8034DF26-9E06-1219-7B33-7EB0B72D8EBA}"/>
                </a:ext>
              </a:extLst>
            </p:cNvPr>
            <p:cNvSpPr/>
            <p:nvPr/>
          </p:nvSpPr>
          <p:spPr>
            <a:xfrm>
              <a:off x="1281512" y="5157404"/>
              <a:ext cx="2160000" cy="396000"/>
            </a:xfrm>
            <a:prstGeom prst="roundRect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90" b="1" dirty="0">
                  <a:solidFill>
                    <a:schemeClr val="tx1"/>
                  </a:solidFill>
                </a:rPr>
                <a:t>Performance</a:t>
              </a: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2BE076E-FB60-0FFA-E6D3-07102FA09242}"/>
                </a:ext>
              </a:extLst>
            </p:cNvPr>
            <p:cNvGrpSpPr/>
            <p:nvPr/>
          </p:nvGrpSpPr>
          <p:grpSpPr>
            <a:xfrm>
              <a:off x="2115599" y="4781785"/>
              <a:ext cx="1800000" cy="432000"/>
              <a:chOff x="2103474" y="5152175"/>
              <a:chExt cx="1800000" cy="432000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1699D8C9-00BB-895E-3B74-D0080026E0E7}"/>
                  </a:ext>
                </a:extLst>
              </p:cNvPr>
              <p:cNvSpPr/>
              <p:nvPr/>
            </p:nvSpPr>
            <p:spPr>
              <a:xfrm>
                <a:off x="2103474" y="5152175"/>
                <a:ext cx="1800000" cy="43200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512" dirty="0">
                    <a:solidFill>
                      <a:schemeClr val="tx1"/>
                    </a:solidFill>
                  </a:rPr>
                  <a:t>Measurement</a:t>
                </a:r>
                <a:endParaRPr lang="en-US" sz="1512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E7B6B80-CCE7-E2CC-684C-3239E5AF10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3474" y="5260175"/>
                <a:ext cx="0" cy="216000"/>
              </a:xfrm>
              <a:prstGeom prst="line">
                <a:avLst/>
              </a:prstGeom>
              <a:ln w="50800">
                <a:solidFill>
                  <a:srgbClr val="C2C0BF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F43D52D0-DF50-F52F-9FC2-03C1B712B7CF}"/>
                </a:ext>
              </a:extLst>
            </p:cNvPr>
            <p:cNvSpPr/>
            <p:nvPr/>
          </p:nvSpPr>
          <p:spPr>
            <a:xfrm>
              <a:off x="6295821" y="2296438"/>
              <a:ext cx="5359885" cy="3256964"/>
            </a:xfrm>
            <a:prstGeom prst="roundRect">
              <a:avLst>
                <a:gd name="adj" fmla="val 7434"/>
              </a:avLst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512"/>
                </a:lnSpc>
              </a:pPr>
              <a:r>
                <a:rPr lang="en-US" altLang="zh-TW" sz="2268" b="1" dirty="0">
                  <a:solidFill>
                    <a:schemeClr val="tx1"/>
                  </a:solidFill>
                </a:rPr>
                <a:t>SEM Image</a:t>
              </a:r>
              <a:r>
                <a:rPr lang="zh-TW" altLang="en-US" sz="2268" b="1" dirty="0">
                  <a:solidFill>
                    <a:schemeClr val="tx1"/>
                  </a:solidFill>
                </a:rPr>
                <a:t> </a:t>
              </a:r>
              <a:r>
                <a:rPr lang="en-US" altLang="zh-TW" sz="2268" b="1" dirty="0">
                  <a:solidFill>
                    <a:schemeClr val="tx1"/>
                  </a:solidFill>
                </a:rPr>
                <a:t>Numerical </a:t>
              </a:r>
              <a:r>
                <a:rPr lang="en-US" sz="2268" b="1" dirty="0">
                  <a:solidFill>
                    <a:schemeClr val="tx1"/>
                  </a:solidFill>
                </a:rPr>
                <a:t>Representation</a:t>
              </a:r>
            </a:p>
            <a:p>
              <a:pPr marL="324006" indent="-324006">
                <a:lnSpc>
                  <a:spcPts val="1512"/>
                </a:lnSpc>
                <a:spcBef>
                  <a:spcPts val="567"/>
                </a:spcBef>
                <a:buFont typeface="Arial" panose="020B0604020202020204" pitchFamily="34" charset="0"/>
                <a:buChar char="•"/>
              </a:pPr>
              <a:r>
                <a:rPr lang="en-US" sz="1607" dirty="0">
                  <a:solidFill>
                    <a:schemeClr val="tx1"/>
                  </a:solidFill>
                </a:rPr>
                <a:t>Coverage calculation </a:t>
              </a:r>
              <a:r>
                <a:rPr lang="en-US" sz="1607" dirty="0">
                  <a:solidFill>
                    <a:srgbClr val="00B050"/>
                  </a:solidFill>
                </a:rPr>
                <a:t>✓</a:t>
              </a:r>
            </a:p>
            <a:p>
              <a:pPr marL="324006" indent="-324006">
                <a:lnSpc>
                  <a:spcPts val="1512"/>
                </a:lnSpc>
                <a:spcBef>
                  <a:spcPts val="567"/>
                </a:spcBef>
                <a:buFont typeface="Arial" panose="020B0604020202020204" pitchFamily="34" charset="0"/>
                <a:buChar char="•"/>
              </a:pPr>
              <a:r>
                <a:rPr lang="en-US" sz="1607" dirty="0">
                  <a:solidFill>
                    <a:schemeClr val="tx1"/>
                  </a:solidFill>
                </a:rPr>
                <a:t>Scale mark extraction </a:t>
              </a:r>
              <a:r>
                <a:rPr lang="en-US" sz="1607" dirty="0">
                  <a:solidFill>
                    <a:srgbClr val="00B050"/>
                  </a:solidFill>
                </a:rPr>
                <a:t>✓</a:t>
              </a:r>
            </a:p>
            <a:p>
              <a:pPr marL="324006" indent="-324006">
                <a:lnSpc>
                  <a:spcPts val="1512"/>
                </a:lnSpc>
                <a:spcBef>
                  <a:spcPts val="567"/>
                </a:spcBef>
                <a:buFont typeface="Arial" panose="020B0604020202020204" pitchFamily="34" charset="0"/>
                <a:buChar char="•"/>
              </a:pPr>
              <a:r>
                <a:rPr lang="en-US" sz="1607" dirty="0">
                  <a:solidFill>
                    <a:schemeClr val="tx1"/>
                  </a:solidFill>
                </a:rPr>
                <a:t>Average grain size calculation </a:t>
              </a:r>
              <a:r>
                <a:rPr lang="en-US" sz="1607" dirty="0">
                  <a:solidFill>
                    <a:srgbClr val="00B050"/>
                  </a:solidFill>
                </a:rPr>
                <a:t>✓</a:t>
              </a:r>
            </a:p>
            <a:p>
              <a:pPr marL="324006" indent="-324006">
                <a:lnSpc>
                  <a:spcPts val="1512"/>
                </a:lnSpc>
                <a:spcBef>
                  <a:spcPts val="567"/>
                </a:spcBef>
                <a:buFont typeface="Arial" panose="020B0604020202020204" pitchFamily="34" charset="0"/>
                <a:buChar char="•"/>
              </a:pPr>
              <a:r>
                <a:rPr lang="en-US" sz="1607" dirty="0">
                  <a:solidFill>
                    <a:schemeClr val="tx1"/>
                  </a:solidFill>
                </a:rPr>
                <a:t>Nucleation density calculation </a:t>
              </a:r>
              <a:r>
                <a:rPr lang="en-US" sz="1607" dirty="0">
                  <a:solidFill>
                    <a:srgbClr val="00B050"/>
                  </a:solidFill>
                </a:rPr>
                <a:t>✓</a:t>
              </a:r>
            </a:p>
            <a:p>
              <a:pPr marL="324006" indent="-324006">
                <a:lnSpc>
                  <a:spcPts val="1512"/>
                </a:lnSpc>
                <a:spcBef>
                  <a:spcPts val="567"/>
                </a:spcBef>
                <a:buFont typeface="Arial" panose="020B0604020202020204" pitchFamily="34" charset="0"/>
                <a:buChar char="•"/>
              </a:pPr>
              <a:r>
                <a:rPr lang="en-US" sz="1607" dirty="0">
                  <a:solidFill>
                    <a:schemeClr val="tx1"/>
                  </a:solidFill>
                </a:rPr>
                <a:t>Circumference calculation </a:t>
              </a:r>
              <a:r>
                <a:rPr lang="en-US" sz="1607" dirty="0">
                  <a:solidFill>
                    <a:srgbClr val="00B050"/>
                  </a:solidFill>
                </a:rPr>
                <a:t>✓</a:t>
              </a:r>
            </a:p>
            <a:p>
              <a:pPr marL="324006" indent="-324006">
                <a:lnSpc>
                  <a:spcPts val="1512"/>
                </a:lnSpc>
                <a:spcBef>
                  <a:spcPts val="567"/>
                </a:spcBef>
                <a:buFont typeface="Arial" panose="020B0604020202020204" pitchFamily="34" charset="0"/>
                <a:buChar char="•"/>
              </a:pPr>
              <a:r>
                <a:rPr lang="en-US" sz="1607" dirty="0">
                  <a:solidFill>
                    <a:schemeClr val="tx1"/>
                  </a:solidFill>
                </a:rPr>
                <a:t>Background noise representation </a:t>
              </a:r>
              <a:r>
                <a:rPr lang="en-US" sz="1607" dirty="0">
                  <a:solidFill>
                    <a:srgbClr val="00B050"/>
                  </a:solidFill>
                </a:rPr>
                <a:t>✓</a:t>
              </a: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55E735A2-8911-A44E-52B6-6E4A5A96220F}"/>
                </a:ext>
              </a:extLst>
            </p:cNvPr>
            <p:cNvSpPr/>
            <p:nvPr/>
          </p:nvSpPr>
          <p:spPr>
            <a:xfrm>
              <a:off x="3626356" y="3659073"/>
              <a:ext cx="2449243" cy="432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268" b="1" dirty="0">
                  <a:solidFill>
                    <a:schemeClr val="tx1"/>
                  </a:solidFill>
                </a:rPr>
                <a:t>Computer Vision</a:t>
              </a:r>
            </a:p>
            <a:p>
              <a:pPr algn="ctr"/>
              <a:r>
                <a:rPr lang="en-US" sz="2268" b="1" dirty="0">
                  <a:solidFill>
                    <a:schemeClr val="tx1"/>
                  </a:solidFill>
                </a:rPr>
                <a:t>Analysis</a:t>
              </a: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B8B1AAA1-7BFD-B426-1885-784558EDAC48}"/>
                </a:ext>
              </a:extLst>
            </p:cNvPr>
            <p:cNvSpPr/>
            <p:nvPr/>
          </p:nvSpPr>
          <p:spPr>
            <a:xfrm>
              <a:off x="3950977" y="4962353"/>
              <a:ext cx="1800000" cy="432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268" b="1" dirty="0">
                  <a:solidFill>
                    <a:schemeClr val="tx1"/>
                  </a:solidFill>
                </a:rPr>
                <a:t>Prediction</a:t>
              </a:r>
              <a:endParaRPr lang="en-US" sz="2268" b="1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A933D808-B8F3-F917-9F8A-98F63F1B0B26}"/>
                </a:ext>
              </a:extLst>
            </p:cNvPr>
            <p:cNvSpPr/>
            <p:nvPr/>
          </p:nvSpPr>
          <p:spPr>
            <a:xfrm>
              <a:off x="3273951" y="2078106"/>
              <a:ext cx="3154052" cy="432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268" b="1" dirty="0">
                  <a:solidFill>
                    <a:schemeClr val="tx1"/>
                  </a:solidFill>
                </a:rPr>
                <a:t>Recipe Optimization</a:t>
              </a:r>
              <a:endParaRPr lang="en-US" sz="2268" b="1" dirty="0">
                <a:solidFill>
                  <a:schemeClr val="tx1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FDB7F2A-06F1-365C-4C4C-BCFCDAC1DB02}"/>
                </a:ext>
              </a:extLst>
            </p:cNvPr>
            <p:cNvSpPr txBox="1"/>
            <p:nvPr/>
          </p:nvSpPr>
          <p:spPr>
            <a:xfrm flipH="1">
              <a:off x="5896180" y="3472103"/>
              <a:ext cx="407356" cy="3594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7" dirty="0">
                  <a:solidFill>
                    <a:srgbClr val="00B050"/>
                  </a:solidFill>
                </a:rPr>
                <a:t>✓</a:t>
              </a:r>
              <a:endParaRPr lang="en-US" sz="1607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2129A58-240A-ABC2-1B61-4CD3FDCBA251}"/>
                </a:ext>
              </a:extLst>
            </p:cNvPr>
            <p:cNvSpPr txBox="1"/>
            <p:nvPr/>
          </p:nvSpPr>
          <p:spPr>
            <a:xfrm>
              <a:off x="5896353" y="4941673"/>
              <a:ext cx="656290" cy="3747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FFC000"/>
                  </a:solidFill>
                </a:rPr>
                <a:t>△</a:t>
              </a:r>
              <a:endParaRPr lang="en-US" sz="1607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DD410D9-B03D-B772-6B65-ADE1C5E03843}"/>
                </a:ext>
              </a:extLst>
            </p:cNvPr>
            <p:cNvSpPr txBox="1"/>
            <p:nvPr/>
          </p:nvSpPr>
          <p:spPr>
            <a:xfrm>
              <a:off x="5896353" y="1863194"/>
              <a:ext cx="656290" cy="3747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FFC000"/>
                  </a:solidFill>
                </a:rPr>
                <a:t>△</a:t>
              </a:r>
              <a:endParaRPr lang="en-US" sz="1607" dirty="0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6F81F76-91C9-F9E0-4C2E-8750242FF28F}"/>
                </a:ext>
              </a:extLst>
            </p:cNvPr>
            <p:cNvCxnSpPr>
              <a:cxnSpLocks/>
            </p:cNvCxnSpPr>
            <p:nvPr/>
          </p:nvCxnSpPr>
          <p:spPr>
            <a:xfrm>
              <a:off x="3590977" y="3904102"/>
              <a:ext cx="25200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18461E6-FB7E-C7F4-7DB9-CCD077B8B2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0977" y="5347156"/>
              <a:ext cx="25200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3361C25-18C5-151A-B0C8-53A9CB345D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90977" y="2484081"/>
              <a:ext cx="25200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331336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E660A92-C75A-FE23-2403-A68198D48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1643A-3263-8DA4-B138-C65BE3829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255" y="170083"/>
            <a:ext cx="3401667" cy="610723"/>
          </a:xfrm>
          <a:solidFill>
            <a:srgbClr val="F5C5C5">
              <a:alpha val="29804"/>
            </a:srgbClr>
          </a:solidFill>
          <a:ln w="38100">
            <a:solidFill>
              <a:srgbClr val="BEBEBE"/>
            </a:solidFill>
          </a:ln>
        </p:spPr>
        <p:txBody>
          <a:bodyPr vert="horz" lIns="86402" tIns="43201" rIns="86402" bIns="43201" rtlCol="0" anchor="ctr">
            <a:noAutofit/>
          </a:bodyPr>
          <a:lstStyle/>
          <a:p>
            <a:pPr algn="ctr"/>
            <a:r>
              <a:rPr lang="en-US" sz="2646" b="1"/>
              <a:t>Project Control Table</a:t>
            </a:r>
            <a:endParaRPr lang="en-US" sz="1701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21FBF-6A71-91A7-A80E-BC5F02295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255" y="1360666"/>
            <a:ext cx="10817300" cy="4762333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Bef>
                <a:spcPts val="1134"/>
              </a:spcBef>
              <a:spcAft>
                <a:spcPts val="567"/>
              </a:spcAft>
              <a:buNone/>
            </a:pPr>
            <a:r>
              <a:rPr lang="en-US" sz="1323">
                <a:latin typeface="Noto Sans Symbols"/>
                <a:ea typeface="Noto Sans Symbols"/>
                <a:cs typeface="Noto Sans Symbols"/>
              </a:rPr>
              <a:t>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BA0EE0C-1652-0E17-A93D-B8B054A02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2026-06-18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585AEE64-771A-4E6B-184B-F66943DDE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558E53F-549F-6D71-BFC1-343FD5C19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2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F65B38B-0B92-F37E-B769-86E2E2EE2AB7}"/>
              </a:ext>
            </a:extLst>
          </p:cNvPr>
          <p:cNvGrpSpPr/>
          <p:nvPr/>
        </p:nvGrpSpPr>
        <p:grpSpPr>
          <a:xfrm>
            <a:off x="-6347025" y="-5422142"/>
            <a:ext cx="24214540" cy="17324459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DF9ACC1-A6AB-94AC-D912-CC65CB4AC15D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A3CC3B8-9457-640E-35B9-B70CBECE2969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FF7A99-2ED6-5E34-59AC-A9A593C981DF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4FF0AC3-7C2D-1998-F443-88674DFAF469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A97412A-BDB2-5E00-495D-79DB96FB44A4}"/>
              </a:ext>
            </a:extLst>
          </p:cNvPr>
          <p:cNvSpPr txBox="1"/>
          <p:nvPr/>
        </p:nvSpPr>
        <p:spPr>
          <a:xfrm>
            <a:off x="340255" y="-689162"/>
            <a:ext cx="1702710" cy="58695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7"/>
              <a:t>Dimension:3, 31.8</a:t>
            </a:r>
          </a:p>
          <a:p>
            <a:r>
              <a:rPr lang="en-US" sz="1607"/>
              <a:t>Position: 1, 0.5 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C3EFB3F-24DD-5015-9434-4CDFF93E32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286247"/>
              </p:ext>
            </p:extLst>
          </p:nvPr>
        </p:nvGraphicFramePr>
        <p:xfrm>
          <a:off x="657744" y="1029328"/>
          <a:ext cx="10205000" cy="3823278"/>
        </p:xfrm>
        <a:graphic>
          <a:graphicData uri="http://schemas.openxmlformats.org/drawingml/2006/table">
            <a:tbl>
              <a:tblPr/>
              <a:tblGrid>
                <a:gridCol w="3401667">
                  <a:extLst>
                    <a:ext uri="{9D8B030D-6E8A-4147-A177-3AD203B41FA5}">
                      <a16:colId xmlns:a16="http://schemas.microsoft.com/office/drawing/2014/main" val="3569255531"/>
                    </a:ext>
                  </a:extLst>
                </a:gridCol>
                <a:gridCol w="2381167">
                  <a:extLst>
                    <a:ext uri="{9D8B030D-6E8A-4147-A177-3AD203B41FA5}">
                      <a16:colId xmlns:a16="http://schemas.microsoft.com/office/drawing/2014/main" val="2686735159"/>
                    </a:ext>
                  </a:extLst>
                </a:gridCol>
                <a:gridCol w="1020500">
                  <a:extLst>
                    <a:ext uri="{9D8B030D-6E8A-4147-A177-3AD203B41FA5}">
                      <a16:colId xmlns:a16="http://schemas.microsoft.com/office/drawing/2014/main" val="2985722879"/>
                    </a:ext>
                  </a:extLst>
                </a:gridCol>
                <a:gridCol w="3401667">
                  <a:extLst>
                    <a:ext uri="{9D8B030D-6E8A-4147-A177-3AD203B41FA5}">
                      <a16:colId xmlns:a16="http://schemas.microsoft.com/office/drawing/2014/main" val="3867348836"/>
                    </a:ext>
                  </a:extLst>
                </a:gridCol>
              </a:tblGrid>
              <a:tr h="408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1"/>
                        <a:t>Content</a:t>
                      </a:r>
                    </a:p>
                  </a:txBody>
                  <a:tcPr marL="2526" marR="2526" marT="25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1"/>
                        <a:t>Brief</a:t>
                      </a:r>
                    </a:p>
                  </a:txBody>
                  <a:tcPr marL="2526" marR="2526" marT="25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1"/>
                        <a:t>Type</a:t>
                      </a:r>
                    </a:p>
                  </a:txBody>
                  <a:tcPr marL="2526" marR="2526" marT="25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1"/>
                        <a:t>Link</a:t>
                      </a:r>
                    </a:p>
                  </a:txBody>
                  <a:tcPr marL="2526" marR="2526" marT="25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638756"/>
                  </a:ext>
                </a:extLst>
              </a:tr>
              <a:tr h="5442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TMD CV Analysis</a:t>
                      </a:r>
                    </a:p>
                  </a:txBody>
                  <a:tcPr marL="2526" marR="2526" marT="25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SEM data</a:t>
                      </a:r>
                    </a:p>
                  </a:txBody>
                  <a:tcPr marL="2526" marR="2526" marT="25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85FFD"/>
                          </a:highlight>
                          <a:latin typeface="Arial" panose="020B0604020202020204" pitchFamily="34" charset="0"/>
                        </a:rPr>
                        <a:t>Dropbox</a:t>
                      </a:r>
                    </a:p>
                  </a:txBody>
                  <a:tcPr marL="2526" marR="2526" marT="25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5FF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sng" strike="noStrike" dirty="0">
                          <a:solidFill>
                            <a:srgbClr val="467886"/>
                          </a:solidFill>
                          <a:effectLst/>
                          <a:latin typeface="Aptos Narrow" panose="020B0004020202020204" pitchFamily="34" charset="0"/>
                          <a:hlinkClick r:id="rId3"/>
                        </a:rPr>
                        <a:t>https://www.dropbox.com/scl/fo/36wrwwr47m0vifwe8wvnu/AF0F0pOW3Z0kwe34LtRxTuM?rlkey=2v16wbs3bq6vu81e4fph4nnok&amp;st=ibc5brxd&amp;dl=0</a:t>
                      </a:r>
                      <a:endParaRPr lang="en-US" sz="1100" b="0" i="0" u="sng" strike="noStrike" dirty="0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6" marR="2526" marT="2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956948"/>
                  </a:ext>
                </a:extLst>
              </a:tr>
              <a:tr h="5442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MoS2 Material and Performance Characterization </a:t>
                      </a:r>
                    </a:p>
                  </a:txBody>
                  <a:tcPr marL="2526" marR="2526" marT="25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 recipe</a:t>
                      </a:r>
                    </a:p>
                  </a:txBody>
                  <a:tcPr marL="2526" marR="2526" marT="25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D58"/>
                          </a:highlight>
                          <a:latin typeface="Arial" panose="020B0604020202020204" pitchFamily="34" charset="0"/>
                        </a:rPr>
                        <a:t>Google Sheet</a:t>
                      </a:r>
                    </a:p>
                  </a:txBody>
                  <a:tcPr marL="2526" marR="2526" marT="25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D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https://docs.google.com/spreadsheets/d/1oJ1RdsqrisFb9jxFJyc4TyQTLStmKBVbRIwYu-NxrmI/edit?usp=sharing</a:t>
                      </a:r>
                      <a:endParaRPr 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b"/>
                      <a:endParaRPr lang="en-US" sz="1100" b="0" i="0" u="sng" strike="noStrike" dirty="0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6" marR="2526" marT="2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964672"/>
                  </a:ext>
                </a:extLst>
              </a:tr>
              <a:tr h="6937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2024-0828_SEM Image Seg</a:t>
                      </a:r>
                    </a:p>
                  </a:txBody>
                  <a:tcPr marL="2526" marR="2526" marT="25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Presentation</a:t>
                      </a:r>
                    </a:p>
                  </a:txBody>
                  <a:tcPr marL="2526" marR="2526" marT="25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D35230"/>
                          </a:highlight>
                          <a:latin typeface="Aptos Narrow" panose="020B0004020202020204" pitchFamily="34" charset="0"/>
                        </a:rPr>
                        <a:t>.pptx</a:t>
                      </a:r>
                    </a:p>
                  </a:txBody>
                  <a:tcPr marL="2526" marR="2526" marT="25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523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dirty="0">
                          <a:hlinkClick r:id="rId5"/>
                        </a:rPr>
                        <a:t>https://mitprod-my.sharepoint.com/:p:/g/personal/edchen93_mit_edu/EeBhIB1nFoVAlkqaQcClEtsBsYqwneUawGiF3oEFSIJpbg?e=pXUIMv</a:t>
                      </a:r>
                      <a:endParaRPr lang="en-US" sz="1100" b="0" i="0" u="sng" strike="noStrike" dirty="0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6" marR="2526" marT="2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714733"/>
                  </a:ext>
                </a:extLst>
              </a:tr>
              <a:tr h="544267"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6" marR="2526" marT="25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6" marR="2526" marT="25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300" b="1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085FFD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2526" marR="2526" marT="25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5FF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6" marR="2526" marT="2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189484"/>
                  </a:ext>
                </a:extLst>
              </a:tr>
              <a:tr h="544267"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6" marR="2526" marT="25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6" marR="2526" marT="25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300" b="1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085FFD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2526" marR="2526" marT="25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5FF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sng" strike="noStrike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6" marR="2526" marT="252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239728"/>
                  </a:ext>
                </a:extLst>
              </a:tr>
              <a:tr h="544267"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6" marR="2526" marT="25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526" marR="2526" marT="25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1">
                        <a:solidFill>
                          <a:schemeClr val="bg1"/>
                        </a:solidFill>
                      </a:endParaRPr>
                    </a:p>
                  </a:txBody>
                  <a:tcPr marL="2526" marR="2526" marT="252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64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sng" strike="noStrike" dirty="0">
                        <a:solidFill>
                          <a:srgbClr val="467886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00" marR="9000" marT="900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25207"/>
                  </a:ext>
                </a:extLst>
              </a:tr>
            </a:tbl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A01DB549-2D55-E85B-600B-9800B3AB3465}"/>
              </a:ext>
            </a:extLst>
          </p:cNvPr>
          <p:cNvSpPr/>
          <p:nvPr/>
        </p:nvSpPr>
        <p:spPr>
          <a:xfrm>
            <a:off x="12355368" y="2289107"/>
            <a:ext cx="1108830" cy="4075633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</p:spTree>
    <p:extLst>
      <p:ext uri="{BB962C8B-B14F-4D97-AF65-F5344CB8AC3E}">
        <p14:creationId xmlns:p14="http://schemas.microsoft.com/office/powerpoint/2010/main" val="888270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B57C71-D298-2FE8-6E04-0620E4831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F6393-A632-44F9-875C-D5352E673672}" type="datetime4">
              <a:rPr lang="en-US" smtClean="0"/>
              <a:t>June 18,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25DCD3-D4AE-2325-EC1F-DF6A1E1D5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404A0-1DBE-D70B-3089-F71B58712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DC8D15C0-4C92-7DC7-9CBC-255D554C7D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138" y="648017"/>
            <a:ext cx="9518213" cy="424819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15D0C7D-A464-DC69-87AE-705F5262BFA3}"/>
              </a:ext>
            </a:extLst>
          </p:cNvPr>
          <p:cNvCxnSpPr/>
          <p:nvPr/>
        </p:nvCxnSpPr>
        <p:spPr>
          <a:xfrm>
            <a:off x="5940249" y="297008"/>
            <a:ext cx="0" cy="50041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6AB77BC-3459-0B54-46D7-444C246D79F8}"/>
              </a:ext>
            </a:extLst>
          </p:cNvPr>
          <p:cNvSpPr txBox="1"/>
          <p:nvPr/>
        </p:nvSpPr>
        <p:spPr>
          <a:xfrm>
            <a:off x="6048252" y="299033"/>
            <a:ext cx="516488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7" dirty="0"/>
              <a:t>3</a:t>
            </a:r>
            <a:r>
              <a:rPr lang="zh-TW" altLang="en-US" sz="1607" dirty="0"/>
              <a:t> </a:t>
            </a:r>
            <a:r>
              <a:rPr lang="en-US" altLang="zh-TW" sz="1607" dirty="0" err="1"/>
              <a:t>hr</a:t>
            </a:r>
            <a:endParaRPr lang="en-US" sz="1607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FBE2C7-198D-A154-C9C8-EE13940D86FC}"/>
              </a:ext>
            </a:extLst>
          </p:cNvPr>
          <p:cNvSpPr txBox="1"/>
          <p:nvPr/>
        </p:nvSpPr>
        <p:spPr>
          <a:xfrm>
            <a:off x="1098198" y="299033"/>
            <a:ext cx="516488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7" dirty="0"/>
              <a:t>1</a:t>
            </a:r>
            <a:r>
              <a:rPr lang="zh-TW" altLang="en-US" sz="1607" dirty="0"/>
              <a:t> </a:t>
            </a:r>
            <a:r>
              <a:rPr lang="en-US" altLang="zh-TW" sz="1607" dirty="0" err="1"/>
              <a:t>hr</a:t>
            </a:r>
            <a:endParaRPr lang="en-US" sz="1607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3E238C-B4FE-9E73-7D4F-C2C8ED80E069}"/>
              </a:ext>
            </a:extLst>
          </p:cNvPr>
          <p:cNvSpPr txBox="1"/>
          <p:nvPr/>
        </p:nvSpPr>
        <p:spPr>
          <a:xfrm>
            <a:off x="256940" y="3253063"/>
            <a:ext cx="723788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7" dirty="0"/>
              <a:t>Ignore</a:t>
            </a:r>
            <a:endParaRPr lang="en-US" sz="1607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1D0651-9690-A362-B49E-3BB15774D8A9}"/>
              </a:ext>
            </a:extLst>
          </p:cNvPr>
          <p:cNvSpPr txBox="1"/>
          <p:nvPr/>
        </p:nvSpPr>
        <p:spPr>
          <a:xfrm>
            <a:off x="10630921" y="2904078"/>
            <a:ext cx="488852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7" dirty="0"/>
              <a:t>NA.</a:t>
            </a:r>
            <a:endParaRPr lang="en-US" sz="1607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5EA9E36-BFAC-D8E9-1BAE-4FE5A95BB188}"/>
              </a:ext>
            </a:extLst>
          </p:cNvPr>
          <p:cNvSpPr/>
          <p:nvPr/>
        </p:nvSpPr>
        <p:spPr>
          <a:xfrm>
            <a:off x="629039" y="648017"/>
            <a:ext cx="10099333" cy="2784075"/>
          </a:xfrm>
          <a:prstGeom prst="roundRect">
            <a:avLst/>
          </a:prstGeom>
          <a:noFill/>
          <a:ln w="635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</p:spTree>
    <p:extLst>
      <p:ext uri="{BB962C8B-B14F-4D97-AF65-F5344CB8AC3E}">
        <p14:creationId xmlns:p14="http://schemas.microsoft.com/office/powerpoint/2010/main" val="1259571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D1D45-2500-356A-40A9-4DAB414B8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D42C7-E8FD-6EF5-B5A2-4E9F8AFC6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52000"/>
            <a:ext cx="10800000" cy="432000"/>
          </a:xfrm>
          <a:solidFill>
            <a:srgbClr val="6414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defTabSz="457200"/>
            <a:r>
              <a:rPr lang="en-US" altLang="zh-TW" sz="2400" dirty="0"/>
              <a:t>How to describe an SEM image of a 2D material?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16">
                <a:extLst>
                  <a:ext uri="{FF2B5EF4-FFF2-40B4-BE49-F238E27FC236}">
                    <a16:creationId xmlns:a16="http://schemas.microsoft.com/office/drawing/2014/main" id="{F260FEA5-76D4-AEFA-AA57-D1C4465E9B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000" y="828000"/>
                <a:ext cx="10017385" cy="4946271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b="1" dirty="0"/>
                  <a:t>Coverage</a:t>
                </a:r>
                <a:r>
                  <a:rPr lang="en-US" sz="2000" dirty="0"/>
                  <a:t>: Percentage of area covered by crystal.</a:t>
                </a:r>
                <a:r>
                  <a:rPr lang="en-US" sz="2000" dirty="0">
                    <a:solidFill>
                      <a:schemeClr val="bg1">
                        <a:lumMod val="75000"/>
                      </a:schemeClr>
                    </a:solidFill>
                  </a:rPr>
                  <a:t> (Unit: %)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b="1" dirty="0"/>
                  <a:t>Grain size</a:t>
                </a:r>
                <a:r>
                  <a:rPr lang="en-US" sz="2000" dirty="0"/>
                  <a:t>: Size of individual crystal. </a:t>
                </a:r>
                <a:r>
                  <a:rPr lang="en-US" sz="2000" dirty="0">
                    <a:solidFill>
                      <a:schemeClr val="bg1">
                        <a:lumMod val="75000"/>
                      </a:schemeClr>
                    </a:solidFill>
                  </a:rPr>
                  <a:t>(Unit: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bg1">
                        <a:lumMod val="75000"/>
                      </a:schemeClr>
                    </a:solidFill>
                  </a:rPr>
                  <a:t>)</a:t>
                </a:r>
                <a:endParaRPr lang="en-US" sz="2000" b="1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b="1" dirty="0"/>
                  <a:t>Nucleation density</a:t>
                </a:r>
                <a:r>
                  <a:rPr lang="en-US" sz="2000" dirty="0"/>
                  <a:t>: Number of crystal in unit area.</a:t>
                </a:r>
                <a:r>
                  <a:rPr lang="en-US" sz="2000" dirty="0">
                    <a:solidFill>
                      <a:schemeClr val="bg1">
                        <a:lumMod val="75000"/>
                      </a:schemeClr>
                    </a:solidFill>
                  </a:rPr>
                  <a:t> (Unit: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i="1" smtClean="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000" i="1">
                            <a:solidFill>
                              <a:schemeClr val="bg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sSupPr>
                            <m:ctrlPr>
                              <a:rPr lang="en-US" sz="2000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en-US" sz="2000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bg1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>
                    <a:solidFill>
                      <a:schemeClr val="bg1">
                        <a:lumMod val="75000"/>
                      </a:schemeClr>
                    </a:solidFill>
                  </a:rPr>
                  <a:t>)</a:t>
                </a:r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b="1" dirty="0"/>
                  <a:t>Shape</a:t>
                </a:r>
                <a:r>
                  <a:rPr lang="en-US" sz="2000" dirty="0"/>
                  <a:t>: Shape of crystal.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b="1" dirty="0"/>
                  <a:t>Impurity</a:t>
                </a:r>
                <a:r>
                  <a:rPr lang="en-US" sz="2000" dirty="0"/>
                  <a:t>: Precursor residuals or other small crystals.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b="1" dirty="0"/>
                  <a:t>Orientation</a:t>
                </a:r>
                <a:r>
                  <a:rPr lang="en-US" sz="2000" dirty="0"/>
                  <a:t>: Direction of crystals.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bg1">
                        <a:lumMod val="75000"/>
                      </a:schemeClr>
                    </a:solidFill>
                  </a:rPr>
                  <a:t>… More</a:t>
                </a:r>
              </a:p>
            </p:txBody>
          </p:sp>
        </mc:Choice>
        <mc:Fallback xmlns="">
          <p:sp>
            <p:nvSpPr>
              <p:cNvPr id="17" name="Content Placeholder 16">
                <a:extLst>
                  <a:ext uri="{FF2B5EF4-FFF2-40B4-BE49-F238E27FC236}">
                    <a16:creationId xmlns:a16="http://schemas.microsoft.com/office/drawing/2014/main" id="{F260FEA5-76D4-AEFA-AA57-D1C4465E9B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00" y="828000"/>
                <a:ext cx="10017385" cy="4946271"/>
              </a:xfrm>
              <a:blipFill>
                <a:blip r:embed="rId3"/>
                <a:stretch>
                  <a:fillRect l="-548" t="-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352F445-3E71-4C55-73D7-42D28FE99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2026-06-18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A93E67F-A9C4-045A-F70C-4F4B7B2E1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BEE833D-6E3C-0C87-9EED-EC0BD195A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4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ECDCCDA-BB7E-B074-1C20-336EE4828B70}"/>
              </a:ext>
            </a:extLst>
          </p:cNvPr>
          <p:cNvGrpSpPr/>
          <p:nvPr/>
        </p:nvGrpSpPr>
        <p:grpSpPr>
          <a:xfrm>
            <a:off x="-6347025" y="-5422142"/>
            <a:ext cx="24214540" cy="17324459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F149842-6CC6-03EF-8937-031057F1A910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1335AC2-6F87-6CC5-A6EB-41B515599E8D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63A4945-B0E0-AA98-5537-E88105A3DE13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9CBC2C8-88A9-B7A1-6A90-A69B908B996C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2B22D9A-98ED-3D07-2DAB-46D833FA9206}"/>
              </a:ext>
            </a:extLst>
          </p:cNvPr>
          <p:cNvSpPr txBox="1"/>
          <p:nvPr/>
        </p:nvSpPr>
        <p:spPr>
          <a:xfrm>
            <a:off x="340255" y="-689162"/>
            <a:ext cx="1702710" cy="58695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7"/>
              <a:t>Dimension:3, 31.8</a:t>
            </a:r>
          </a:p>
          <a:p>
            <a:r>
              <a:rPr lang="en-US" sz="1607"/>
              <a:t>Position: 1, 0.5 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001D3E9-CD8C-D12F-68CA-8C542C198217}"/>
              </a:ext>
            </a:extLst>
          </p:cNvPr>
          <p:cNvSpPr/>
          <p:nvPr/>
        </p:nvSpPr>
        <p:spPr>
          <a:xfrm>
            <a:off x="1378903" y="7489501"/>
            <a:ext cx="768021" cy="768021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20549E1-1F4C-B3C2-476D-3B11788E8DCC}"/>
              </a:ext>
            </a:extLst>
          </p:cNvPr>
          <p:cNvSpPr/>
          <p:nvPr/>
        </p:nvSpPr>
        <p:spPr>
          <a:xfrm>
            <a:off x="2213509" y="8071098"/>
            <a:ext cx="768021" cy="768021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33E6B81-E33B-858F-1443-CF09ABE0BF7E}"/>
              </a:ext>
            </a:extLst>
          </p:cNvPr>
          <p:cNvSpPr/>
          <p:nvPr/>
        </p:nvSpPr>
        <p:spPr>
          <a:xfrm>
            <a:off x="13729326" y="5794655"/>
            <a:ext cx="768021" cy="768021"/>
          </a:xfrm>
          <a:prstGeom prst="ellipse">
            <a:avLst/>
          </a:prstGeom>
          <a:noFill/>
          <a:ln w="63500">
            <a:solidFill>
              <a:srgbClr val="C0000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905DF83-F1C6-72D9-29EB-8F17D88FA998}"/>
              </a:ext>
            </a:extLst>
          </p:cNvPr>
          <p:cNvSpPr/>
          <p:nvPr/>
        </p:nvSpPr>
        <p:spPr>
          <a:xfrm>
            <a:off x="12917180" y="5410645"/>
            <a:ext cx="768021" cy="768021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22" name="Content Placeholder 16">
            <a:extLst>
              <a:ext uri="{FF2B5EF4-FFF2-40B4-BE49-F238E27FC236}">
                <a16:creationId xmlns:a16="http://schemas.microsoft.com/office/drawing/2014/main" id="{E0557948-747A-615A-C6B3-FD7036544FAA}"/>
              </a:ext>
            </a:extLst>
          </p:cNvPr>
          <p:cNvSpPr txBox="1">
            <a:spLocks/>
          </p:cNvSpPr>
          <p:nvPr/>
        </p:nvSpPr>
        <p:spPr>
          <a:xfrm>
            <a:off x="340255" y="4404269"/>
            <a:ext cx="10817300" cy="1601893"/>
          </a:xfrm>
          <a:prstGeom prst="rect">
            <a:avLst/>
          </a:prstGeom>
        </p:spPr>
        <p:txBody>
          <a:bodyPr vert="horz" lIns="86402" tIns="43201" rIns="86402" bIns="4320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</a:pPr>
            <a:endParaRPr lang="en-US" sz="2646" dirty="0"/>
          </a:p>
          <a:p>
            <a:pPr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</a:pPr>
            <a:endParaRPr lang="en-US" sz="2646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934D3AF-DD69-C1B7-2773-B1483DBAA3F0}"/>
              </a:ext>
            </a:extLst>
          </p:cNvPr>
          <p:cNvSpPr txBox="1">
            <a:spLocks/>
          </p:cNvSpPr>
          <p:nvPr/>
        </p:nvSpPr>
        <p:spPr>
          <a:xfrm>
            <a:off x="360000" y="3426686"/>
            <a:ext cx="10800000" cy="432000"/>
          </a:xfrm>
          <a:prstGeom prst="rect">
            <a:avLst/>
          </a:prstGeom>
          <a:solidFill>
            <a:srgbClr val="64141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86401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1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altLang="zh-TW" sz="2400" dirty="0"/>
              <a:t>How to get these information?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25CB8-8E7C-B202-1D7B-294CE88C3E88}"/>
              </a:ext>
            </a:extLst>
          </p:cNvPr>
          <p:cNvSpPr txBox="1">
            <a:spLocks/>
          </p:cNvSpPr>
          <p:nvPr/>
        </p:nvSpPr>
        <p:spPr>
          <a:xfrm>
            <a:off x="360001" y="3877839"/>
            <a:ext cx="10797554" cy="4601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6004" indent="-216004" algn="l" defTabSz="864017" rtl="0" eaLnBrk="1" latinLnBrk="0" hangingPunct="1">
              <a:lnSpc>
                <a:spcPct val="90000"/>
              </a:lnSpc>
              <a:spcBef>
                <a:spcPts val="945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8012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22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021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89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12029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44037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76046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8054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40062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070" indent="-216004" algn="l" defTabSz="864017" rtl="0" eaLnBrk="1" latinLnBrk="0" hangingPunct="1">
              <a:lnSpc>
                <a:spcPct val="90000"/>
              </a:lnSpc>
              <a:spcBef>
                <a:spcPts val="472"/>
              </a:spcBef>
              <a:buFont typeface="Arial" panose="020B0604020202020204" pitchFamily="34" charset="0"/>
              <a:buChar char="•"/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/>
              <a:t>ImageJ</a:t>
            </a:r>
            <a:r>
              <a:rPr lang="en-US" sz="2000" dirty="0"/>
              <a:t> (or other scientific software for microscopic image processing)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Require multiple steps of settings and adjustments. 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Google Sans"/>
              </a:rPr>
              <a:t>✗</a:t>
            </a:r>
            <a:endParaRPr lang="en-US" sz="2000" dirty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Some of our desired function are not exist (or require excessive post process). </a:t>
            </a:r>
            <a:r>
              <a:rPr lang="en-US" sz="2000" b="0" i="0" dirty="0">
                <a:solidFill>
                  <a:srgbClr val="FF0000"/>
                </a:solidFill>
                <a:effectLst/>
                <a:latin typeface="Google Sans"/>
              </a:rPr>
              <a:t>✗</a:t>
            </a:r>
            <a:endParaRPr lang="en-US" sz="20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b="1" dirty="0"/>
              <a:t>Python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Customize the field-specific needs. </a:t>
            </a:r>
            <a:r>
              <a:rPr lang="en-US" sz="2000" dirty="0">
                <a:solidFill>
                  <a:srgbClr val="00B050"/>
                </a:solidFill>
              </a:rPr>
              <a:t>✓</a:t>
            </a:r>
            <a:endParaRPr lang="en-US" sz="2000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Streamline the process. </a:t>
            </a:r>
            <a:r>
              <a:rPr lang="en-US" sz="2000" dirty="0">
                <a:solidFill>
                  <a:srgbClr val="00B050"/>
                </a:solidFill>
              </a:rPr>
              <a:t>✓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50599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1D42A-BDC9-7A77-86B8-2AE172317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8031FD5-7C96-E286-D849-63B0DCFA222A}"/>
              </a:ext>
            </a:extLst>
          </p:cNvPr>
          <p:cNvSpPr txBox="1">
            <a:spLocks/>
          </p:cNvSpPr>
          <p:nvPr/>
        </p:nvSpPr>
        <p:spPr>
          <a:xfrm>
            <a:off x="5884196" y="1800247"/>
            <a:ext cx="5636291" cy="3083331"/>
          </a:xfrm>
          <a:prstGeom prst="rect">
            <a:avLst/>
          </a:prstGeom>
          <a:solidFill>
            <a:srgbClr val="F5F5DC"/>
          </a:solidFill>
        </p:spPr>
        <p:txBody>
          <a:bodyPr vert="horz" lIns="86402" tIns="43201" rIns="86402" bIns="4320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Pixel per um (</a:t>
            </a: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sclbar_text, pixel_length_sclbar, pixels_per_um).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Coverage</a:t>
            </a: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(pct_black, pct_white).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Segmentation Images</a:t>
            </a: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(cnt_seg_success)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Nucleation density</a:t>
            </a: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(nd_per_sqnm)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Grain size</a:t>
            </a: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(avg_gs_squm, std_gs_squm)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Circumference</a:t>
            </a: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(avg_circumf_um, std_circumf_um)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Cricumference Square to Area Ratio </a:t>
            </a: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(avg_csar, std_csar)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de-DE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noise</a:t>
            </a:r>
            <a:r>
              <a:rPr lang="de-DE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(avg_bkgd_pixel, std_bkgd_pixel)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C342B-47CE-FA53-43E6-4076AEC96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119" y="1250019"/>
            <a:ext cx="4320000" cy="432000"/>
          </a:xfrm>
          <a:solidFill>
            <a:srgbClr val="C2C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defTabSz="432008"/>
            <a:r>
              <a:rPr lang="en-US" altLang="zh-TW" sz="2400" dirty="0">
                <a:solidFill>
                  <a:schemeClr val="tx1"/>
                </a:solidFill>
              </a:rPr>
              <a:t>Execution Steps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25D46-913B-53B6-6789-2E2AC9B7A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83" y="1800247"/>
            <a:ext cx="5400161" cy="4679928"/>
          </a:xfrm>
        </p:spPr>
        <p:txBody>
          <a:bodyPr>
            <a:normAutofit/>
          </a:bodyPr>
          <a:lstStyle/>
          <a:p>
            <a:pPr marL="486009" indent="-486009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Font typeface="+mj-lt"/>
              <a:buAutoNum type="arabicPeriod"/>
            </a:pPr>
            <a:r>
              <a:rPr lang="en-US" sz="1701" dirty="0">
                <a:highlight>
                  <a:srgbClr val="F5F5DC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 scale bar</a:t>
            </a:r>
            <a:r>
              <a:rPr lang="en-US" sz="17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info from SEM image.</a:t>
            </a:r>
          </a:p>
          <a:p>
            <a:pPr marL="486009" indent="-486009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Font typeface="+mj-lt"/>
              <a:buAutoNum type="arabicPeriod"/>
            </a:pPr>
            <a:r>
              <a:rPr lang="en-US" sz="17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Convent SEM image to grayscale.</a:t>
            </a:r>
          </a:p>
          <a:p>
            <a:pPr marL="486009" indent="-486009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Font typeface="+mj-lt"/>
              <a:buAutoNum type="arabicPeriod"/>
            </a:pPr>
            <a:r>
              <a:rPr lang="en-US" sz="17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Crop out the center square.</a:t>
            </a:r>
          </a:p>
          <a:p>
            <a:pPr marL="486009" indent="-486009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Font typeface="+mj-lt"/>
              <a:buAutoNum type="arabicPeriod"/>
            </a:pPr>
            <a:r>
              <a:rPr lang="en-US" sz="17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Enlarge image for better CV processing (cv2.INTER_LINEAR).</a:t>
            </a:r>
          </a:p>
          <a:p>
            <a:pPr marL="486009" indent="-486009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Font typeface="+mj-lt"/>
              <a:buAutoNum type="arabicPeriod"/>
            </a:pPr>
            <a:r>
              <a:rPr lang="en-US" sz="17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Slightly blur the image (cv2.medianBlur(k=5)).</a:t>
            </a:r>
          </a:p>
          <a:p>
            <a:pPr marL="486009" indent="-486009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Font typeface="+mj-lt"/>
              <a:buAutoNum type="arabicPeriod"/>
            </a:pPr>
            <a:r>
              <a:rPr lang="en-US" sz="17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 image (CLAHE and merge).</a:t>
            </a:r>
          </a:p>
          <a:p>
            <a:pPr marL="486009" indent="-486009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Font typeface="+mj-lt"/>
              <a:buAutoNum type="arabicPeriod"/>
            </a:pPr>
            <a:r>
              <a:rPr lang="en-US" sz="1701" dirty="0">
                <a:highlight>
                  <a:srgbClr val="F5F5DC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Binarize</a:t>
            </a:r>
            <a:r>
              <a:rPr lang="en-US" sz="17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 with Otsu's method.</a:t>
            </a:r>
          </a:p>
          <a:p>
            <a:pPr marL="486009" indent="-486009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Font typeface="+mj-lt"/>
              <a:buAutoNum type="arabicPeriod"/>
            </a:pPr>
            <a:r>
              <a:rPr lang="en-US" sz="17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</a:t>
            </a:r>
            <a:r>
              <a:rPr lang="en-US" sz="1701" dirty="0">
                <a:highlight>
                  <a:srgbClr val="F5F5DC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coverage</a:t>
            </a:r>
            <a:r>
              <a:rPr lang="en-US" sz="17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create histogram.</a:t>
            </a:r>
          </a:p>
          <a:p>
            <a:pPr marL="486009" indent="-486009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Font typeface="+mj-lt"/>
              <a:buAutoNum type="arabicPeriod"/>
            </a:pPr>
            <a:r>
              <a:rPr lang="en-US" sz="1701" dirty="0">
                <a:highlight>
                  <a:srgbClr val="F5F5DC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Watershed</a:t>
            </a:r>
            <a:r>
              <a:rPr lang="en-US" sz="17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image.</a:t>
            </a:r>
          </a:p>
          <a:p>
            <a:pPr marL="486009" indent="-486009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Font typeface="+mj-lt"/>
              <a:buAutoNum type="arabicPeriod"/>
            </a:pPr>
            <a:r>
              <a:rPr lang="en-US" sz="1701" dirty="0">
                <a:highlight>
                  <a:srgbClr val="F5F5DC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</a:t>
            </a:r>
            <a:r>
              <a:rPr lang="en-US" sz="17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image and save segmentations.</a:t>
            </a:r>
          </a:p>
          <a:p>
            <a:pPr marL="486009" indent="-486009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Font typeface="+mj-lt"/>
              <a:buAutoNum type="arabicPeriod"/>
            </a:pPr>
            <a:r>
              <a:rPr lang="en-US" sz="17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</a:t>
            </a:r>
            <a:r>
              <a:rPr lang="en-US" sz="1701" dirty="0">
                <a:highlight>
                  <a:srgbClr val="F5F5DC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segmentation result</a:t>
            </a:r>
            <a:r>
              <a:rPr lang="en-US" sz="17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86009" indent="-486009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Font typeface="+mj-lt"/>
              <a:buAutoNum type="arabicPeriod"/>
            </a:pPr>
            <a:r>
              <a:rPr lang="en-US" sz="170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 result as excel.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endParaRPr lang="en-US" sz="1512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endParaRPr lang="en-US" sz="1512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D341A32-E634-79FB-31A0-BA2DCB4AC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2026-06-18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87E123A-FCAF-D376-69F9-3C2F69F13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CAFC005-F61A-A9F3-6732-6F24979E7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EA69AB1-9435-49A5-00E6-A84507BFA855}"/>
              </a:ext>
            </a:extLst>
          </p:cNvPr>
          <p:cNvGrpSpPr/>
          <p:nvPr/>
        </p:nvGrpSpPr>
        <p:grpSpPr>
          <a:xfrm>
            <a:off x="-6346841" y="-5422008"/>
            <a:ext cx="24214169" cy="17324194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8D5F7E0-35F6-789B-01B6-EFBB001CA362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EB6CC87-8B03-F09D-6A53-9EC84CCAE008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6DD8514-9E2E-72ED-8AA0-312ECFBFA2FE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2AEE96A-69AA-CA7E-7433-F2C1A4626371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C352A82-2977-3EA3-72C5-241C30A9E0EB}"/>
              </a:ext>
            </a:extLst>
          </p:cNvPr>
          <p:cNvSpPr txBox="1"/>
          <p:nvPr/>
        </p:nvSpPr>
        <p:spPr>
          <a:xfrm>
            <a:off x="340338" y="-689152"/>
            <a:ext cx="1702710" cy="58695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7" dirty="0"/>
              <a:t>Dimension:3, 31.8</a:t>
            </a:r>
          </a:p>
          <a:p>
            <a:r>
              <a:rPr lang="en-US" sz="1607" dirty="0"/>
              <a:t>Position: 1, 0.5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5C028F-277A-D10E-C124-743A59CECA70}"/>
              </a:ext>
            </a:extLst>
          </p:cNvPr>
          <p:cNvSpPr txBox="1"/>
          <p:nvPr/>
        </p:nvSpPr>
        <p:spPr>
          <a:xfrm>
            <a:off x="7169294" y="6177316"/>
            <a:ext cx="4216215" cy="248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46"/>
              </a:lnSpc>
            </a:pPr>
            <a:r>
              <a:rPr lang="en-US" sz="945" dirty="0" err="1">
                <a:latin typeface="Consolas" panose="020B0609020204030204" pitchFamily="49" charset="0"/>
              </a:rPr>
              <a:t>enh_cliplmt</a:t>
            </a:r>
            <a:r>
              <a:rPr lang="en-US" sz="945" dirty="0">
                <a:latin typeface="Consolas" panose="020B0609020204030204" pitchFamily="49" charset="0"/>
              </a:rPr>
              <a:t>=2, </a:t>
            </a:r>
            <a:r>
              <a:rPr lang="en-US" sz="945" dirty="0" err="1">
                <a:latin typeface="Consolas" panose="020B0609020204030204" pitchFamily="49" charset="0"/>
              </a:rPr>
              <a:t>enh_tileGrid</a:t>
            </a:r>
            <a:r>
              <a:rPr lang="en-US" sz="945" dirty="0">
                <a:latin typeface="Consolas" panose="020B0609020204030204" pitchFamily="49" charset="0"/>
              </a:rPr>
              <a:t>=8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A84E8E55-1D10-F124-963E-BEDB79C44285}"/>
              </a:ext>
            </a:extLst>
          </p:cNvPr>
          <p:cNvSpPr txBox="1">
            <a:spLocks/>
          </p:cNvSpPr>
          <p:nvPr/>
        </p:nvSpPr>
        <p:spPr>
          <a:xfrm>
            <a:off x="6278792" y="1250019"/>
            <a:ext cx="4320000" cy="432000"/>
          </a:xfrm>
          <a:prstGeom prst="rect">
            <a:avLst/>
          </a:prstGeom>
          <a:solidFill>
            <a:srgbClr val="C2C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Numerical Representation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DFD0138-AE22-2DC1-4737-12427457ADBE}"/>
              </a:ext>
            </a:extLst>
          </p:cNvPr>
          <p:cNvCxnSpPr>
            <a:cxnSpLocks/>
          </p:cNvCxnSpPr>
          <p:nvPr/>
        </p:nvCxnSpPr>
        <p:spPr>
          <a:xfrm>
            <a:off x="4462387" y="1988783"/>
            <a:ext cx="1100213" cy="0"/>
          </a:xfrm>
          <a:prstGeom prst="straightConnector1">
            <a:avLst/>
          </a:prstGeom>
          <a:ln w="25400">
            <a:solidFill>
              <a:srgbClr val="DCDA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Left Bracket 29">
            <a:extLst>
              <a:ext uri="{FF2B5EF4-FFF2-40B4-BE49-F238E27FC236}">
                <a16:creationId xmlns:a16="http://schemas.microsoft.com/office/drawing/2014/main" id="{17763909-C1A2-01A9-294D-456602022669}"/>
              </a:ext>
            </a:extLst>
          </p:cNvPr>
          <p:cNvSpPr/>
          <p:nvPr/>
        </p:nvSpPr>
        <p:spPr>
          <a:xfrm>
            <a:off x="5759756" y="2782171"/>
            <a:ext cx="241444" cy="1841204"/>
          </a:xfrm>
          <a:prstGeom prst="leftBracket">
            <a:avLst/>
          </a:prstGeom>
          <a:ln w="25400">
            <a:solidFill>
              <a:srgbClr val="DCDA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C13E878-56DA-C5EE-97F2-BEB6087B4CEB}"/>
              </a:ext>
            </a:extLst>
          </p:cNvPr>
          <p:cNvSpPr/>
          <p:nvPr/>
        </p:nvSpPr>
        <p:spPr>
          <a:xfrm>
            <a:off x="3620237" y="3672306"/>
            <a:ext cx="1698606" cy="1953714"/>
          </a:xfrm>
          <a:custGeom>
            <a:avLst/>
            <a:gdLst>
              <a:gd name="connsiteX0" fmla="*/ 0 w 2164466"/>
              <a:gd name="connsiteY0" fmla="*/ 1863524 h 1942377"/>
              <a:gd name="connsiteX1" fmla="*/ 1643605 w 2164466"/>
              <a:gd name="connsiteY1" fmla="*/ 1782501 h 1942377"/>
              <a:gd name="connsiteX2" fmla="*/ 1701479 w 2164466"/>
              <a:gd name="connsiteY2" fmla="*/ 428264 h 1942377"/>
              <a:gd name="connsiteX3" fmla="*/ 2164466 w 2164466"/>
              <a:gd name="connsiteY3" fmla="*/ 0 h 1942377"/>
              <a:gd name="connsiteX0" fmla="*/ 0 w 2164466"/>
              <a:gd name="connsiteY0" fmla="*/ 1863524 h 1891647"/>
              <a:gd name="connsiteX1" fmla="*/ 1646780 w 2164466"/>
              <a:gd name="connsiteY1" fmla="*/ 1614226 h 1891647"/>
              <a:gd name="connsiteX2" fmla="*/ 1701479 w 2164466"/>
              <a:gd name="connsiteY2" fmla="*/ 428264 h 1891647"/>
              <a:gd name="connsiteX3" fmla="*/ 2164466 w 2164466"/>
              <a:gd name="connsiteY3" fmla="*/ 0 h 1891647"/>
              <a:gd name="connsiteX0" fmla="*/ 0 w 2164466"/>
              <a:gd name="connsiteY0" fmla="*/ 1863524 h 1894353"/>
              <a:gd name="connsiteX1" fmla="*/ 1646780 w 2164466"/>
              <a:gd name="connsiteY1" fmla="*/ 1614226 h 1894353"/>
              <a:gd name="connsiteX2" fmla="*/ 1704654 w 2164466"/>
              <a:gd name="connsiteY2" fmla="*/ 310789 h 1894353"/>
              <a:gd name="connsiteX3" fmla="*/ 2164466 w 2164466"/>
              <a:gd name="connsiteY3" fmla="*/ 0 h 1894353"/>
              <a:gd name="connsiteX0" fmla="*/ 0 w 2164466"/>
              <a:gd name="connsiteY0" fmla="*/ 1863524 h 1894353"/>
              <a:gd name="connsiteX1" fmla="*/ 1646780 w 2164466"/>
              <a:gd name="connsiteY1" fmla="*/ 1614226 h 1894353"/>
              <a:gd name="connsiteX2" fmla="*/ 1704654 w 2164466"/>
              <a:gd name="connsiteY2" fmla="*/ 310789 h 1894353"/>
              <a:gd name="connsiteX3" fmla="*/ 2164466 w 2164466"/>
              <a:gd name="connsiteY3" fmla="*/ 0 h 1894353"/>
              <a:gd name="connsiteX0" fmla="*/ 0 w 2164466"/>
              <a:gd name="connsiteY0" fmla="*/ 1863524 h 1901636"/>
              <a:gd name="connsiteX1" fmla="*/ 1646780 w 2164466"/>
              <a:gd name="connsiteY1" fmla="*/ 1614226 h 1901636"/>
              <a:gd name="connsiteX2" fmla="*/ 1704654 w 2164466"/>
              <a:gd name="connsiteY2" fmla="*/ 310789 h 1901636"/>
              <a:gd name="connsiteX3" fmla="*/ 2164466 w 2164466"/>
              <a:gd name="connsiteY3" fmla="*/ 0 h 1901636"/>
              <a:gd name="connsiteX0" fmla="*/ 0 w 2164466"/>
              <a:gd name="connsiteY0" fmla="*/ 1863524 h 1906659"/>
              <a:gd name="connsiteX1" fmla="*/ 1524860 w 2164466"/>
              <a:gd name="connsiteY1" fmla="*/ 1635439 h 1906659"/>
              <a:gd name="connsiteX2" fmla="*/ 1704654 w 2164466"/>
              <a:gd name="connsiteY2" fmla="*/ 310789 h 1906659"/>
              <a:gd name="connsiteX3" fmla="*/ 2164466 w 2164466"/>
              <a:gd name="connsiteY3" fmla="*/ 0 h 1906659"/>
              <a:gd name="connsiteX0" fmla="*/ 0 w 2164466"/>
              <a:gd name="connsiteY0" fmla="*/ 1863524 h 1918721"/>
              <a:gd name="connsiteX1" fmla="*/ 1524860 w 2164466"/>
              <a:gd name="connsiteY1" fmla="*/ 1635439 h 1918721"/>
              <a:gd name="connsiteX2" fmla="*/ 1704654 w 2164466"/>
              <a:gd name="connsiteY2" fmla="*/ 310789 h 1918721"/>
              <a:gd name="connsiteX3" fmla="*/ 2164466 w 2164466"/>
              <a:gd name="connsiteY3" fmla="*/ 0 h 19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466" h="1918721">
                <a:moveTo>
                  <a:pt x="0" y="1863524"/>
                </a:moveTo>
                <a:cubicBezTo>
                  <a:pt x="680012" y="1942617"/>
                  <a:pt x="1280121" y="1986585"/>
                  <a:pt x="1524860" y="1635439"/>
                </a:cubicBezTo>
                <a:cubicBezTo>
                  <a:pt x="1769599" y="1284293"/>
                  <a:pt x="1598053" y="583362"/>
                  <a:pt x="1704654" y="310789"/>
                </a:cubicBezTo>
                <a:cubicBezTo>
                  <a:pt x="1811255" y="38216"/>
                  <a:pt x="1976377" y="65590"/>
                  <a:pt x="2164466" y="0"/>
                </a:cubicBezTo>
              </a:path>
            </a:pathLst>
          </a:custGeom>
          <a:ln w="25400">
            <a:solidFill>
              <a:srgbClr val="DCDA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7B5162D-0496-F5C1-EC8A-7626A99F7111}"/>
              </a:ext>
            </a:extLst>
          </p:cNvPr>
          <p:cNvSpPr/>
          <p:nvPr/>
        </p:nvSpPr>
        <p:spPr>
          <a:xfrm>
            <a:off x="4545211" y="2524780"/>
            <a:ext cx="1106289" cy="2032344"/>
          </a:xfrm>
          <a:custGeom>
            <a:avLst/>
            <a:gdLst>
              <a:gd name="connsiteX0" fmla="*/ 0 w 1409700"/>
              <a:gd name="connsiteY0" fmla="*/ 2138357 h 2283661"/>
              <a:gd name="connsiteX1" fmla="*/ 333375 w 1409700"/>
              <a:gd name="connsiteY1" fmla="*/ 2100257 h 2283661"/>
              <a:gd name="connsiteX2" fmla="*/ 828675 w 1409700"/>
              <a:gd name="connsiteY2" fmla="*/ 328607 h 2283661"/>
              <a:gd name="connsiteX3" fmla="*/ 1409700 w 1409700"/>
              <a:gd name="connsiteY3" fmla="*/ 4757 h 2283661"/>
              <a:gd name="connsiteX0" fmla="*/ 0 w 1409700"/>
              <a:gd name="connsiteY0" fmla="*/ 2138357 h 2180287"/>
              <a:gd name="connsiteX1" fmla="*/ 469106 w 1409700"/>
              <a:gd name="connsiteY1" fmla="*/ 1774025 h 2180287"/>
              <a:gd name="connsiteX2" fmla="*/ 828675 w 1409700"/>
              <a:gd name="connsiteY2" fmla="*/ 328607 h 2180287"/>
              <a:gd name="connsiteX3" fmla="*/ 1409700 w 1409700"/>
              <a:gd name="connsiteY3" fmla="*/ 4757 h 2180287"/>
              <a:gd name="connsiteX0" fmla="*/ 0 w 1409700"/>
              <a:gd name="connsiteY0" fmla="*/ 2138357 h 2150839"/>
              <a:gd name="connsiteX1" fmla="*/ 469106 w 1409700"/>
              <a:gd name="connsiteY1" fmla="*/ 1774025 h 2150839"/>
              <a:gd name="connsiteX2" fmla="*/ 828675 w 1409700"/>
              <a:gd name="connsiteY2" fmla="*/ 328607 h 2150839"/>
              <a:gd name="connsiteX3" fmla="*/ 1409700 w 1409700"/>
              <a:gd name="connsiteY3" fmla="*/ 4757 h 2150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9700" h="2150839">
                <a:moveTo>
                  <a:pt x="0" y="2138357"/>
                </a:moveTo>
                <a:cubicBezTo>
                  <a:pt x="190500" y="2191538"/>
                  <a:pt x="330994" y="2075650"/>
                  <a:pt x="469106" y="1774025"/>
                </a:cubicBezTo>
                <a:cubicBezTo>
                  <a:pt x="607218" y="1472400"/>
                  <a:pt x="649287" y="677857"/>
                  <a:pt x="828675" y="328607"/>
                </a:cubicBezTo>
                <a:cubicBezTo>
                  <a:pt x="1008063" y="-20643"/>
                  <a:pt x="1208881" y="-7943"/>
                  <a:pt x="1409700" y="4757"/>
                </a:cubicBezTo>
              </a:path>
            </a:pathLst>
          </a:custGeom>
          <a:ln w="25400">
            <a:solidFill>
              <a:srgbClr val="DCDA8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C8534A6-BB7B-6ADA-B8E7-3E0F0F32902D}"/>
              </a:ext>
            </a:extLst>
          </p:cNvPr>
          <p:cNvSpPr txBox="1">
            <a:spLocks/>
          </p:cNvSpPr>
          <p:nvPr/>
        </p:nvSpPr>
        <p:spPr>
          <a:xfrm>
            <a:off x="360000" y="252000"/>
            <a:ext cx="10800000" cy="576000"/>
          </a:xfrm>
          <a:prstGeom prst="rect">
            <a:avLst/>
          </a:prstGeom>
          <a:solidFill>
            <a:srgbClr val="64141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86401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1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200"/>
            <a:r>
              <a:rPr lang="en-US" altLang="zh-TW" sz="2800" dirty="0"/>
              <a:t>Computer Vision Analysis of 2D Material SEM Image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D8F9DA7-DB42-59DA-7971-55803E686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903" y="5174490"/>
            <a:ext cx="4320000" cy="765422"/>
          </a:xfrm>
          <a:prstGeom prst="rect">
            <a:avLst/>
          </a:prstGeom>
        </p:spPr>
      </p:pic>
      <p:pic>
        <p:nvPicPr>
          <p:cNvPr id="31" name="Picture 30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B7E85B55-BCFC-8671-ED80-FB356B4FE3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690" y="4926163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49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81AF6-7476-B673-341C-18ADAEB3E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E5DEB6E-AEF2-E787-8B73-4BE2E8121CD7}"/>
              </a:ext>
            </a:extLst>
          </p:cNvPr>
          <p:cNvCxnSpPr>
            <a:cxnSpLocks/>
          </p:cNvCxnSpPr>
          <p:nvPr/>
        </p:nvCxnSpPr>
        <p:spPr>
          <a:xfrm>
            <a:off x="1762913" y="5758146"/>
            <a:ext cx="7572605" cy="0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0F2F52-6A7A-8341-E9E9-98317347E3EE}"/>
              </a:ext>
            </a:extLst>
          </p:cNvPr>
          <p:cNvSpPr txBox="1">
            <a:spLocks/>
          </p:cNvSpPr>
          <p:nvPr/>
        </p:nvSpPr>
        <p:spPr>
          <a:xfrm>
            <a:off x="2177481" y="1007316"/>
            <a:ext cx="3520062" cy="4112108"/>
          </a:xfrm>
          <a:prstGeom prst="rect">
            <a:avLst/>
          </a:prstGeom>
          <a:solidFill>
            <a:srgbClr val="F5F5DC"/>
          </a:solidFill>
        </p:spPr>
        <p:txBody>
          <a:bodyPr vert="horz" lIns="86402" tIns="43201" rIns="86402" bIns="43201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None/>
            </a:pPr>
            <a:r>
              <a:rPr lang="en-US" sz="1512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Numerical representation </a:t>
            </a:r>
            <a:br>
              <a:rPr lang="en-US" sz="1512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12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 2D material SEM images: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en-US" sz="151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Pixel per um (</a:t>
            </a:r>
            <a:r>
              <a:rPr lang="de-DE" sz="151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sclbar_text, pixel_length_sclbar, pixels_per_um).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de-DE" sz="151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Coverage (pct_black, pct_white).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de-DE" sz="151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Segmentation (cnt_seg_success)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de-DE" sz="151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Nucleation density (nd_per_sqnm)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de-DE" sz="151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Grain size (avg_gs_squm, std_gs_squm)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de-DE" sz="151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Circumference (avg_circumf_um, std_circumf_um)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de-DE" sz="151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Cricumference square to area ratio (avg_csar, std_csar)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de-DE" sz="1512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noise (avg_bkgd_pixel, std_bkgd_pixel)</a:t>
            </a:r>
            <a:endParaRPr lang="en-US" sz="1512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endParaRPr lang="en-US" sz="1512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BBEBF95-0F67-DACF-9AFE-FC71E970756B}"/>
              </a:ext>
            </a:extLst>
          </p:cNvPr>
          <p:cNvSpPr/>
          <p:nvPr/>
        </p:nvSpPr>
        <p:spPr>
          <a:xfrm>
            <a:off x="9543469" y="1007316"/>
            <a:ext cx="1632800" cy="4871873"/>
          </a:xfrm>
          <a:prstGeom prst="roundRect">
            <a:avLst/>
          </a:prstGeom>
          <a:solidFill>
            <a:srgbClr val="C2C0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890"/>
              </a:lnSpc>
            </a:pPr>
            <a:r>
              <a:rPr lang="en-US" altLang="zh-TW" sz="1600" b="1" dirty="0">
                <a:solidFill>
                  <a:schemeClr val="tx1"/>
                </a:solidFill>
              </a:rPr>
              <a:t>Device</a:t>
            </a:r>
            <a:endParaRPr lang="en-US" sz="1600" b="1" dirty="0">
              <a:solidFill>
                <a:schemeClr val="tx1"/>
              </a:solidFill>
            </a:endParaRPr>
          </a:p>
          <a:p>
            <a:pPr algn="ctr">
              <a:lnSpc>
                <a:spcPts val="1890"/>
              </a:lnSpc>
            </a:pPr>
            <a:r>
              <a:rPr lang="en-US" sz="1600" b="1" dirty="0">
                <a:solidFill>
                  <a:schemeClr val="tx1"/>
                </a:solidFill>
              </a:rPr>
              <a:t>Performance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186ACA-02F1-E528-07BF-C5659571F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52000"/>
            <a:ext cx="10817300" cy="612300"/>
          </a:xfrm>
          <a:solidFill>
            <a:srgbClr val="6414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86402" tIns="43201" rIns="86402" bIns="43201" rtlCol="0" anchor="ctr">
            <a:normAutofit/>
          </a:bodyPr>
          <a:lstStyle/>
          <a:p>
            <a:pPr defTabSz="432008"/>
            <a:r>
              <a:rPr lang="en-US" altLang="zh-TW" sz="2800" dirty="0">
                <a:solidFill>
                  <a:schemeClr val="bg1"/>
                </a:solidFill>
              </a:rPr>
              <a:t>How are these measurements relating to devise performance?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275BE8D-DF00-892E-CBC1-E0169B238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2026-06-18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F61BB39-6CD1-C525-5312-CE88B31D0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FC15891-3E83-3672-142F-9CD0F24FA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6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58B26A8-6FF2-4944-0D82-50430DC1AB92}"/>
              </a:ext>
            </a:extLst>
          </p:cNvPr>
          <p:cNvGrpSpPr/>
          <p:nvPr/>
        </p:nvGrpSpPr>
        <p:grpSpPr>
          <a:xfrm>
            <a:off x="-6347025" y="-5422142"/>
            <a:ext cx="24214540" cy="17324459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AF77AA5-710C-356D-B1AF-988D525638FA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FCC8BEB-CFE6-06B6-AFAD-9778ABAC15D7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13E6521-D098-8116-E9F6-C1B10398DF9C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FF5F5BC-AE9F-0F38-6D0B-E600440CCCD0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2FA64BA-85AE-F5FC-F4A5-EFD81E1AAE69}"/>
              </a:ext>
            </a:extLst>
          </p:cNvPr>
          <p:cNvSpPr txBox="1"/>
          <p:nvPr/>
        </p:nvSpPr>
        <p:spPr>
          <a:xfrm>
            <a:off x="340255" y="-689162"/>
            <a:ext cx="1702710" cy="58695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7"/>
              <a:t>Dimension:3, 31.8</a:t>
            </a:r>
          </a:p>
          <a:p>
            <a:r>
              <a:rPr lang="en-US" sz="1607"/>
              <a:t>Position: 1, 0.5 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6A42A18-BA75-8BC3-473C-8658B157027A}"/>
              </a:ext>
            </a:extLst>
          </p:cNvPr>
          <p:cNvSpPr/>
          <p:nvPr/>
        </p:nvSpPr>
        <p:spPr>
          <a:xfrm>
            <a:off x="1378903" y="7489501"/>
            <a:ext cx="768021" cy="768021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39BED4D-7865-8DE7-C2CB-D726DF9B0C4D}"/>
              </a:ext>
            </a:extLst>
          </p:cNvPr>
          <p:cNvSpPr/>
          <p:nvPr/>
        </p:nvSpPr>
        <p:spPr>
          <a:xfrm>
            <a:off x="2213509" y="8071098"/>
            <a:ext cx="768021" cy="768021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DC39D1B-A8DB-DDE3-8076-E6B1D671CE7B}"/>
              </a:ext>
            </a:extLst>
          </p:cNvPr>
          <p:cNvSpPr/>
          <p:nvPr/>
        </p:nvSpPr>
        <p:spPr>
          <a:xfrm>
            <a:off x="13729326" y="5794655"/>
            <a:ext cx="768021" cy="768021"/>
          </a:xfrm>
          <a:prstGeom prst="ellipse">
            <a:avLst/>
          </a:prstGeom>
          <a:noFill/>
          <a:ln w="63500">
            <a:solidFill>
              <a:srgbClr val="C0000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D72D7C6-4E36-22E2-6412-DDC0F2324A6C}"/>
              </a:ext>
            </a:extLst>
          </p:cNvPr>
          <p:cNvSpPr/>
          <p:nvPr/>
        </p:nvSpPr>
        <p:spPr>
          <a:xfrm>
            <a:off x="12917180" y="5410645"/>
            <a:ext cx="768021" cy="768021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pic>
        <p:nvPicPr>
          <p:cNvPr id="1026" name="Picture 2" descr="Positive correlation Black and White Stock Photos &amp; Images - Alamy">
            <a:extLst>
              <a:ext uri="{FF2B5EF4-FFF2-40B4-BE49-F238E27FC236}">
                <a16:creationId xmlns:a16="http://schemas.microsoft.com/office/drawing/2014/main" id="{D3006BBB-0B5C-40ED-CA58-49BD41E8B4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3" r="5253" b="22335"/>
          <a:stretch/>
        </p:blipFill>
        <p:spPr bwMode="auto">
          <a:xfrm>
            <a:off x="6635512" y="1889264"/>
            <a:ext cx="2011009" cy="818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2BEAB6D3-B930-7717-4F45-C8E8FE6C6558}"/>
              </a:ext>
            </a:extLst>
          </p:cNvPr>
          <p:cNvGrpSpPr/>
          <p:nvPr/>
        </p:nvGrpSpPr>
        <p:grpSpPr>
          <a:xfrm>
            <a:off x="264953" y="4773646"/>
            <a:ext cx="1847499" cy="1020500"/>
            <a:chOff x="118200" y="3720148"/>
            <a:chExt cx="1955217" cy="1080000"/>
          </a:xfrm>
        </p:grpSpPr>
        <p:pic>
          <p:nvPicPr>
            <p:cNvPr id="19" name="Picture 18" descr="A close-up of a white surface with triangles&#10;&#10;Description automatically generated">
              <a:extLst>
                <a:ext uri="{FF2B5EF4-FFF2-40B4-BE49-F238E27FC236}">
                  <a16:creationId xmlns:a16="http://schemas.microsoft.com/office/drawing/2014/main" id="{8FE0F866-A8CC-398F-B6CB-E8756A322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200" y="3720148"/>
              <a:ext cx="1440000" cy="1080000"/>
            </a:xfrm>
            <a:prstGeom prst="rect">
              <a:avLst/>
            </a:prstGeom>
          </p:spPr>
        </p:pic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3AE59DF-4924-CC0A-2B97-E5FFE61AA2A1}"/>
                </a:ext>
              </a:extLst>
            </p:cNvPr>
            <p:cNvCxnSpPr>
              <a:cxnSpLocks/>
            </p:cNvCxnSpPr>
            <p:nvPr/>
          </p:nvCxnSpPr>
          <p:spPr>
            <a:xfrm>
              <a:off x="1657795" y="3755531"/>
              <a:ext cx="415622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8" name="Picture 4" descr="Neural network icon in outline style Royalty Free Vector">
            <a:extLst>
              <a:ext uri="{FF2B5EF4-FFF2-40B4-BE49-F238E27FC236}">
                <a16:creationId xmlns:a16="http://schemas.microsoft.com/office/drawing/2014/main" id="{F98508AE-3D74-AA04-96B2-732DD93E0B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53" t="9311" r="10153" b="16899"/>
          <a:stretch/>
        </p:blipFill>
        <p:spPr bwMode="auto">
          <a:xfrm>
            <a:off x="7082057" y="3753872"/>
            <a:ext cx="996027" cy="996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4AEDB9D-E1DB-28CE-11AE-019E6C57004D}"/>
              </a:ext>
            </a:extLst>
          </p:cNvPr>
          <p:cNvSpPr txBox="1"/>
          <p:nvPr/>
        </p:nvSpPr>
        <p:spPr>
          <a:xfrm>
            <a:off x="5860883" y="1073607"/>
            <a:ext cx="3571750" cy="790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12" dirty="0"/>
              <a:t>It might be harder to see the relation of one</a:t>
            </a:r>
            <a:r>
              <a:rPr lang="zh-TW" altLang="en-US" sz="1512" dirty="0"/>
              <a:t> </a:t>
            </a:r>
            <a:r>
              <a:rPr lang="en-US" altLang="zh-TW" sz="1512" dirty="0"/>
              <a:t>single measurement relates directly to the device performance.</a:t>
            </a:r>
            <a:endParaRPr lang="en-US" sz="1512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108A72-9C69-16D7-4686-7F57630E6711}"/>
              </a:ext>
            </a:extLst>
          </p:cNvPr>
          <p:cNvSpPr txBox="1"/>
          <p:nvPr/>
        </p:nvSpPr>
        <p:spPr>
          <a:xfrm>
            <a:off x="5833791" y="2963557"/>
            <a:ext cx="3625935" cy="790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12" dirty="0"/>
              <a:t>ML model can help correlate measurements from SEM image to device performance when there is more data.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9F23C5-CEC3-74F6-4F0A-B0C52C60AE28}"/>
              </a:ext>
            </a:extLst>
          </p:cNvPr>
          <p:cNvCxnSpPr>
            <a:cxnSpLocks/>
          </p:cNvCxnSpPr>
          <p:nvPr/>
        </p:nvCxnSpPr>
        <p:spPr>
          <a:xfrm>
            <a:off x="5958000" y="1861300"/>
            <a:ext cx="3377518" cy="0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3E1AEF-87E4-C544-4F80-3839536A1DF6}"/>
              </a:ext>
            </a:extLst>
          </p:cNvPr>
          <p:cNvCxnSpPr>
            <a:cxnSpLocks/>
          </p:cNvCxnSpPr>
          <p:nvPr/>
        </p:nvCxnSpPr>
        <p:spPr>
          <a:xfrm>
            <a:off x="5958000" y="3750400"/>
            <a:ext cx="3377518" cy="0"/>
          </a:xfrm>
          <a:prstGeom prst="line">
            <a:avLst/>
          </a:prstGeom>
          <a:ln w="508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E064F12-3D26-D416-5AAA-28B8A7F118AA}"/>
              </a:ext>
            </a:extLst>
          </p:cNvPr>
          <p:cNvGrpSpPr/>
          <p:nvPr/>
        </p:nvGrpSpPr>
        <p:grpSpPr>
          <a:xfrm>
            <a:off x="3198590" y="5038146"/>
            <a:ext cx="5270402" cy="1440000"/>
            <a:chOff x="5303032" y="4200893"/>
            <a:chExt cx="5270402" cy="1440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2945EBD-005F-D07F-8562-9BC54D9A0333}"/>
                </a:ext>
              </a:extLst>
            </p:cNvPr>
            <p:cNvSpPr/>
            <p:nvPr/>
          </p:nvSpPr>
          <p:spPr>
            <a:xfrm>
              <a:off x="9133434" y="4200893"/>
              <a:ext cx="1440000" cy="1440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scene3d>
              <a:camera prst="isometricOffAxis1Left"/>
              <a:lightRig rig="threePt" dir="t"/>
            </a:scene3d>
            <a:sp3d>
              <a:bevelT w="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838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71417C4-9A90-B12A-86AD-FF9E1014B454}"/>
                </a:ext>
              </a:extLst>
            </p:cNvPr>
            <p:cNvSpPr/>
            <p:nvPr/>
          </p:nvSpPr>
          <p:spPr>
            <a:xfrm>
              <a:off x="5303032" y="4200904"/>
              <a:ext cx="1439978" cy="143997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scene3d>
              <a:camera prst="isometricOffAxis2Right"/>
              <a:lightRig rig="threePt" dir="t"/>
            </a:scene3d>
            <a:sp3d>
              <a:bevelT w="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838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8B2ADC0-16A5-A9CE-B518-A60CDCD301CB}"/>
                </a:ext>
              </a:extLst>
            </p:cNvPr>
            <p:cNvSpPr/>
            <p:nvPr/>
          </p:nvSpPr>
          <p:spPr>
            <a:xfrm>
              <a:off x="5391661" y="4200904"/>
              <a:ext cx="1439978" cy="143997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scene3d>
              <a:camera prst="isometricOffAxis2Right"/>
              <a:lightRig rig="threePt" dir="t"/>
            </a:scene3d>
            <a:sp3d>
              <a:bevelT w="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838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FB4AEF3-6A93-0F94-6732-8F6B7BE428AC}"/>
                </a:ext>
              </a:extLst>
            </p:cNvPr>
            <p:cNvSpPr/>
            <p:nvPr/>
          </p:nvSpPr>
          <p:spPr>
            <a:xfrm>
              <a:off x="5480291" y="4200904"/>
              <a:ext cx="1439978" cy="143997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scene3d>
              <a:camera prst="isometricOffAxis2Right"/>
              <a:lightRig rig="threePt" dir="t"/>
            </a:scene3d>
            <a:sp3d>
              <a:bevelT w="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3855"/>
              <a:endParaRPr lang="en-US" sz="170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CDCC548-0B21-1C4C-5BB9-91B5B7F45EBD}"/>
                </a:ext>
              </a:extLst>
            </p:cNvPr>
            <p:cNvSpPr/>
            <p:nvPr/>
          </p:nvSpPr>
          <p:spPr>
            <a:xfrm>
              <a:off x="8990039" y="4200893"/>
              <a:ext cx="1440000" cy="1440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scene3d>
              <a:camera prst="isometricOffAxis1Left"/>
              <a:lightRig rig="threePt" dir="t"/>
            </a:scene3d>
            <a:sp3d>
              <a:bevelT w="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838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56D518B-51EC-A133-D640-B1082500C2B7}"/>
                </a:ext>
              </a:extLst>
            </p:cNvPr>
            <p:cNvSpPr/>
            <p:nvPr/>
          </p:nvSpPr>
          <p:spPr>
            <a:xfrm>
              <a:off x="8846643" y="4200893"/>
              <a:ext cx="1440000" cy="14400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scene3d>
              <a:camera prst="isometricOffAxis1Left"/>
              <a:lightRig rig="threePt" dir="t"/>
            </a:scene3d>
            <a:sp3d>
              <a:bevelT w="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838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629F770-AA57-391F-608C-C0D87E6D0018}"/>
                </a:ext>
              </a:extLst>
            </p:cNvPr>
            <p:cNvSpPr/>
            <p:nvPr/>
          </p:nvSpPr>
          <p:spPr>
            <a:xfrm>
              <a:off x="9110530" y="4560893"/>
              <a:ext cx="720000" cy="720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scene3d>
              <a:camera prst="isometricOffAxis1Left"/>
              <a:lightRig rig="threePt" dir="t"/>
            </a:scene3d>
            <a:sp3d>
              <a:bevelT w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838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E69378A-57DC-B47D-FA4D-7D8B8AA270A3}"/>
                </a:ext>
              </a:extLst>
            </p:cNvPr>
            <p:cNvSpPr/>
            <p:nvPr/>
          </p:nvSpPr>
          <p:spPr>
            <a:xfrm>
              <a:off x="8962371" y="4560893"/>
              <a:ext cx="720000" cy="7200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scene3d>
              <a:camera prst="isometricOffAxis1Left"/>
              <a:lightRig rig="threePt" dir="t"/>
            </a:scene3d>
            <a:sp3d>
              <a:bevelT w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838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A6135ED-90FD-B75E-FF7C-5B8576124410}"/>
                </a:ext>
              </a:extLst>
            </p:cNvPr>
            <p:cNvSpPr/>
            <p:nvPr/>
          </p:nvSpPr>
          <p:spPr>
            <a:xfrm>
              <a:off x="8814212" y="4560893"/>
              <a:ext cx="720000" cy="7200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scene3d>
              <a:camera prst="isometricOffAxis1Left"/>
              <a:lightRig rig="threePt" dir="t"/>
            </a:scene3d>
            <a:sp3d>
              <a:bevelT w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838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3DDACC3-FB93-6F87-F4EE-A47B5F9248BD}"/>
                </a:ext>
              </a:extLst>
            </p:cNvPr>
            <p:cNvSpPr/>
            <p:nvPr/>
          </p:nvSpPr>
          <p:spPr>
            <a:xfrm>
              <a:off x="8826504" y="4740896"/>
              <a:ext cx="359995" cy="35999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scene3d>
              <a:camera prst="isometricOffAxis1Left"/>
              <a:lightRig rig="threePt" dir="t"/>
            </a:scene3d>
            <a:sp3d>
              <a:bevelT w="0" h="1143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838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BC5F0AF-063C-03E3-77F9-31BB5DDA414F}"/>
                </a:ext>
              </a:extLst>
            </p:cNvPr>
            <p:cNvSpPr/>
            <p:nvPr/>
          </p:nvSpPr>
          <p:spPr>
            <a:xfrm>
              <a:off x="8650430" y="4740896"/>
              <a:ext cx="359995" cy="35999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scene3d>
              <a:camera prst="isometricOffAxis1Left"/>
              <a:lightRig rig="threePt" dir="t"/>
            </a:scene3d>
            <a:sp3d>
              <a:bevelT w="0" h="1143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838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4166E32-5623-F2DD-729B-021384874FC2}"/>
                </a:ext>
              </a:extLst>
            </p:cNvPr>
            <p:cNvSpPr/>
            <p:nvPr/>
          </p:nvSpPr>
          <p:spPr>
            <a:xfrm>
              <a:off x="8474356" y="4740896"/>
              <a:ext cx="359995" cy="35999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scene3d>
              <a:camera prst="isometricOffAxis1Left"/>
              <a:lightRig rig="threePt" dir="t"/>
            </a:scene3d>
            <a:sp3d>
              <a:bevelT w="0" h="1143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838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55482A7-AC4F-828F-2C6B-E9E2F3158C49}"/>
                </a:ext>
              </a:extLst>
            </p:cNvPr>
            <p:cNvSpPr/>
            <p:nvPr/>
          </p:nvSpPr>
          <p:spPr>
            <a:xfrm>
              <a:off x="8400924" y="4830895"/>
              <a:ext cx="179997" cy="17999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scene3d>
              <a:camera prst="isometricOffAxis1Left"/>
              <a:lightRig rig="threePt" dir="t"/>
            </a:scene3d>
            <a:sp3d>
              <a:bevelT w="0" h="1524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838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B7A99A7-ED4A-9459-3EB6-6954BEE55245}"/>
                </a:ext>
              </a:extLst>
            </p:cNvPr>
            <p:cNvSpPr/>
            <p:nvPr/>
          </p:nvSpPr>
          <p:spPr>
            <a:xfrm>
              <a:off x="8286847" y="4830895"/>
              <a:ext cx="179997" cy="17999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scene3d>
              <a:camera prst="isometricOffAxis1Left"/>
              <a:lightRig rig="threePt" dir="t"/>
            </a:scene3d>
            <a:sp3d>
              <a:bevelT w="0" h="1524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838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1EA544D-4436-FEE3-C271-4C034D96A155}"/>
                </a:ext>
              </a:extLst>
            </p:cNvPr>
            <p:cNvSpPr/>
            <p:nvPr/>
          </p:nvSpPr>
          <p:spPr>
            <a:xfrm>
              <a:off x="5969095" y="4560899"/>
              <a:ext cx="719989" cy="71998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scene3d>
              <a:camera prst="isometricOffAxis2Right"/>
              <a:lightRig rig="threePt" dir="t"/>
            </a:scene3d>
            <a:sp3d>
              <a:bevelT w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3855"/>
              <a:endParaRPr lang="en-US" sz="170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B9F766A-2288-10F6-299E-C30E9591DA01}"/>
                </a:ext>
              </a:extLst>
            </p:cNvPr>
            <p:cNvSpPr/>
            <p:nvPr/>
          </p:nvSpPr>
          <p:spPr>
            <a:xfrm>
              <a:off x="6110456" y="4560899"/>
              <a:ext cx="719989" cy="719989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scene3d>
              <a:camera prst="isometricOffAxis2Right"/>
              <a:lightRig rig="threePt" dir="t"/>
            </a:scene3d>
            <a:sp3d>
              <a:bevelT w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838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68A017F-A0D6-1A94-3762-24D4051FE328}"/>
                </a:ext>
              </a:extLst>
            </p:cNvPr>
            <p:cNvSpPr/>
            <p:nvPr/>
          </p:nvSpPr>
          <p:spPr>
            <a:xfrm>
              <a:off x="6251816" y="4560899"/>
              <a:ext cx="719989" cy="71998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scene3d>
              <a:camera prst="isometricOffAxis2Right"/>
              <a:lightRig rig="threePt" dir="t"/>
            </a:scene3d>
            <a:sp3d>
              <a:bevelT w="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3855"/>
              <a:endParaRPr lang="en-US" sz="170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F8AAAB0-FBB9-D019-E568-BDDDA1979EF6}"/>
                </a:ext>
              </a:extLst>
            </p:cNvPr>
            <p:cNvSpPr/>
            <p:nvPr/>
          </p:nvSpPr>
          <p:spPr>
            <a:xfrm>
              <a:off x="6523990" y="4740896"/>
              <a:ext cx="359995" cy="35999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scene3d>
              <a:camera prst="isometricOffAxis2Right"/>
              <a:lightRig rig="threePt" dir="t"/>
            </a:scene3d>
            <a:sp3d>
              <a:bevelT w="0" h="1143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3855"/>
              <a:endParaRPr lang="en-US" sz="170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173644A-3AFF-D935-B530-A00EB63A037B}"/>
                </a:ext>
              </a:extLst>
            </p:cNvPr>
            <p:cNvSpPr/>
            <p:nvPr/>
          </p:nvSpPr>
          <p:spPr>
            <a:xfrm>
              <a:off x="6691046" y="4740896"/>
              <a:ext cx="359995" cy="35999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scene3d>
              <a:camera prst="isometricOffAxis2Right"/>
              <a:lightRig rig="threePt" dir="t"/>
            </a:scene3d>
            <a:sp3d>
              <a:bevelT w="0" h="1143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838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4CBE373-FD61-D5F0-2870-7D825A12C0B0}"/>
                </a:ext>
              </a:extLst>
            </p:cNvPr>
            <p:cNvSpPr/>
            <p:nvPr/>
          </p:nvSpPr>
          <p:spPr>
            <a:xfrm>
              <a:off x="6858103" y="4740896"/>
              <a:ext cx="359995" cy="35999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scene3d>
              <a:camera prst="isometricOffAxis2Right"/>
              <a:lightRig rig="threePt" dir="t"/>
            </a:scene3d>
            <a:sp3d>
              <a:bevelT w="0" h="1143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3855"/>
              <a:endParaRPr lang="en-US" sz="170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642A142-D524-CC6C-F6FB-B53ABA60980D}"/>
                </a:ext>
              </a:extLst>
            </p:cNvPr>
            <p:cNvSpPr/>
            <p:nvPr/>
          </p:nvSpPr>
          <p:spPr>
            <a:xfrm>
              <a:off x="7093641" y="4830895"/>
              <a:ext cx="179997" cy="17999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scene3d>
              <a:camera prst="isometricOffAxis2Right"/>
              <a:lightRig rig="threePt" dir="t"/>
            </a:scene3d>
            <a:sp3d>
              <a:bevelT w="0" h="1524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3855"/>
              <a:endParaRPr lang="en-US" sz="170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B0B95C4-6225-3B46-12FE-F631BD250322}"/>
                </a:ext>
              </a:extLst>
            </p:cNvPr>
            <p:cNvSpPr/>
            <p:nvPr/>
          </p:nvSpPr>
          <p:spPr>
            <a:xfrm>
              <a:off x="7267913" y="4830895"/>
              <a:ext cx="179997" cy="17999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scene3d>
              <a:camera prst="isometricOffAxis2Right"/>
              <a:lightRig rig="threePt" dir="t"/>
            </a:scene3d>
            <a:sp3d>
              <a:bevelT w="0" h="1524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838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BF8F332-7395-112F-8646-C87519FE9A2B}"/>
                </a:ext>
              </a:extLst>
            </p:cNvPr>
            <p:cNvSpPr/>
            <p:nvPr/>
          </p:nvSpPr>
          <p:spPr>
            <a:xfrm>
              <a:off x="7442185" y="4830895"/>
              <a:ext cx="179997" cy="179997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scene3d>
              <a:camera prst="isometricOffAxis2Right"/>
              <a:lightRig rig="threePt" dir="t"/>
            </a:scene3d>
            <a:sp3d>
              <a:bevelT w="0" h="1524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83855"/>
              <a:endParaRPr lang="en-US" sz="1701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9E7BDBF-9C98-66B2-7003-47F4B915599C}"/>
                </a:ext>
              </a:extLst>
            </p:cNvPr>
            <p:cNvSpPr/>
            <p:nvPr/>
          </p:nvSpPr>
          <p:spPr>
            <a:xfrm>
              <a:off x="8183523" y="4830895"/>
              <a:ext cx="179997" cy="17999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scene3d>
              <a:camera prst="isometricOffAxis1Left"/>
              <a:lightRig rig="threePt" dir="t"/>
            </a:scene3d>
            <a:sp3d>
              <a:bevelT w="0" h="1524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838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79BA875-FA2A-EDB4-BF6D-087755D2FD23}"/>
                </a:ext>
              </a:extLst>
            </p:cNvPr>
            <p:cNvSpPr/>
            <p:nvPr/>
          </p:nvSpPr>
          <p:spPr>
            <a:xfrm>
              <a:off x="7549165" y="4884894"/>
              <a:ext cx="719989" cy="71999"/>
            </a:xfrm>
            <a:prstGeom prst="rect">
              <a:avLst/>
            </a:prstGeom>
            <a:solidFill>
              <a:srgbClr val="B57FDD"/>
            </a:solidFill>
            <a:ln>
              <a:noFill/>
            </a:ln>
            <a:scene3d>
              <a:camera prst="perspectiveBelow"/>
              <a:lightRig rig="threePt" dir="t"/>
            </a:scene3d>
            <a:sp3d>
              <a:bevelT w="0" h="1270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838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1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8689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F2E5C-0086-839F-2112-9CB6410F5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C802D-4CEC-EE29-C326-0D1B5779C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52000"/>
            <a:ext cx="2880000" cy="612000"/>
          </a:xfrm>
          <a:solidFill>
            <a:srgbClr val="6414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86402" tIns="43201" rIns="86402" bIns="43201" rtlCol="0" anchor="ctr">
            <a:normAutofit/>
          </a:bodyPr>
          <a:lstStyle/>
          <a:p>
            <a:pPr algn="ctr" defTabSz="432008"/>
            <a:r>
              <a:rPr lang="en-US" sz="2800" dirty="0">
                <a:solidFill>
                  <a:schemeClr val="bg1"/>
                </a:solidFill>
              </a:rPr>
              <a:t>Demo Video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5533ED-A7A3-19BC-D8D6-A1AB4BDFC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2026-06-18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F3CB59D-FA57-A9BF-D8E2-4F9E72372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928C7C2-C855-ED3B-6333-4151324B6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7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0123DD1-A35A-4BEF-3FD2-7D7A834A89F6}"/>
              </a:ext>
            </a:extLst>
          </p:cNvPr>
          <p:cNvGrpSpPr/>
          <p:nvPr/>
        </p:nvGrpSpPr>
        <p:grpSpPr>
          <a:xfrm>
            <a:off x="-6347025" y="-5422142"/>
            <a:ext cx="24214540" cy="17324459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5AD81C9-634B-F58B-979E-D93EA4729095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2103359-A86D-D00E-A32C-3FFD7C263516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F2495B5-14F2-3EC9-89B1-F93DDD150B4D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C33C63C-61B5-10F8-5994-BEFCB134D52C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EFEB24E-2F99-CF79-7F21-DF4A0ADFF78D}"/>
              </a:ext>
            </a:extLst>
          </p:cNvPr>
          <p:cNvSpPr txBox="1"/>
          <p:nvPr/>
        </p:nvSpPr>
        <p:spPr>
          <a:xfrm>
            <a:off x="340255" y="-689162"/>
            <a:ext cx="1702710" cy="58695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7"/>
              <a:t>Dimension:3, 31.8</a:t>
            </a:r>
          </a:p>
          <a:p>
            <a:r>
              <a:rPr lang="en-US" sz="1607"/>
              <a:t>Position: 1, 0.5 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23C3A3B-012D-7810-DE88-4E0F89818A09}"/>
              </a:ext>
            </a:extLst>
          </p:cNvPr>
          <p:cNvGrpSpPr/>
          <p:nvPr/>
        </p:nvGrpSpPr>
        <p:grpSpPr>
          <a:xfrm>
            <a:off x="-7088325" y="926478"/>
            <a:ext cx="6709943" cy="2724804"/>
            <a:chOff x="-11580123" y="480674"/>
            <a:chExt cx="7101165" cy="2883673"/>
          </a:xfrm>
        </p:grpSpPr>
        <p:pic>
          <p:nvPicPr>
            <p:cNvPr id="34" name="Picture 33" descr="A close-up of a white surface with triangles&#10;&#10;Description automatically generated">
              <a:extLst>
                <a:ext uri="{FF2B5EF4-FFF2-40B4-BE49-F238E27FC236}">
                  <a16:creationId xmlns:a16="http://schemas.microsoft.com/office/drawing/2014/main" id="{C0E1481F-6192-F0F1-F695-1AC89C934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1580123" y="866203"/>
              <a:ext cx="1440000" cy="1080000"/>
            </a:xfrm>
            <a:prstGeom prst="rect">
              <a:avLst/>
            </a:prstGeom>
          </p:spPr>
        </p:pic>
        <p:pic>
          <p:nvPicPr>
            <p:cNvPr id="35" name="Picture 34" descr="A close-up of triangles&#10;&#10;Description automatically generated">
              <a:extLst>
                <a:ext uri="{FF2B5EF4-FFF2-40B4-BE49-F238E27FC236}">
                  <a16:creationId xmlns:a16="http://schemas.microsoft.com/office/drawing/2014/main" id="{8B49B533-F485-BB07-87ED-B6AD9F8AA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9693068" y="866203"/>
              <a:ext cx="1440000" cy="1080000"/>
            </a:xfrm>
            <a:prstGeom prst="rect">
              <a:avLst/>
            </a:prstGeom>
          </p:spPr>
        </p:pic>
        <p:pic>
          <p:nvPicPr>
            <p:cNvPr id="36" name="Picture 35" descr="A close-up of triangles&#10;&#10;Description automatically generated">
              <a:extLst>
                <a:ext uri="{FF2B5EF4-FFF2-40B4-BE49-F238E27FC236}">
                  <a16:creationId xmlns:a16="http://schemas.microsoft.com/office/drawing/2014/main" id="{B30335CA-F7C7-FE29-D908-0C690D9B4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806013" y="866203"/>
              <a:ext cx="1440000" cy="1080000"/>
            </a:xfrm>
            <a:prstGeom prst="rect">
              <a:avLst/>
            </a:prstGeom>
          </p:spPr>
        </p:pic>
        <p:pic>
          <p:nvPicPr>
            <p:cNvPr id="37" name="Picture 36" descr="A black and white pattern of triangles&#10;&#10;Description automatically generated">
              <a:extLst>
                <a:ext uri="{FF2B5EF4-FFF2-40B4-BE49-F238E27FC236}">
                  <a16:creationId xmlns:a16="http://schemas.microsoft.com/office/drawing/2014/main" id="{9B77A9D2-1780-28EB-9594-3DEFCE37B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918958" y="866203"/>
              <a:ext cx="1440000" cy="1080000"/>
            </a:xfrm>
            <a:prstGeom prst="rect">
              <a:avLst/>
            </a:prstGeom>
          </p:spPr>
        </p:pic>
        <p:pic>
          <p:nvPicPr>
            <p:cNvPr id="38" name="Picture 37" descr="A close-up of a white surface with triangles&#10;&#10;Description automatically generated">
              <a:extLst>
                <a:ext uri="{FF2B5EF4-FFF2-40B4-BE49-F238E27FC236}">
                  <a16:creationId xmlns:a16="http://schemas.microsoft.com/office/drawing/2014/main" id="{BF905FB3-B66E-9777-6B59-B035CC550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56" t="41956" r="41956" b="41956"/>
            <a:stretch/>
          </p:blipFill>
          <p:spPr>
            <a:xfrm>
              <a:off x="-11580123" y="2284347"/>
              <a:ext cx="1440000" cy="1080000"/>
            </a:xfrm>
            <a:prstGeom prst="rect">
              <a:avLst/>
            </a:prstGeom>
          </p:spPr>
        </p:pic>
        <p:pic>
          <p:nvPicPr>
            <p:cNvPr id="39" name="Picture 38" descr="A close-up of triangles&#10;&#10;Description automatically generated">
              <a:extLst>
                <a:ext uri="{FF2B5EF4-FFF2-40B4-BE49-F238E27FC236}">
                  <a16:creationId xmlns:a16="http://schemas.microsoft.com/office/drawing/2014/main" id="{C06C6BD0-AFE4-CD41-C3F2-93D9CE900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22" t="41922" r="41922" b="41922"/>
            <a:stretch/>
          </p:blipFill>
          <p:spPr>
            <a:xfrm>
              <a:off x="-9693068" y="2284347"/>
              <a:ext cx="1440000" cy="1080000"/>
            </a:xfrm>
            <a:prstGeom prst="rect">
              <a:avLst/>
            </a:prstGeom>
          </p:spPr>
        </p:pic>
        <p:pic>
          <p:nvPicPr>
            <p:cNvPr id="40" name="Picture 39" descr="A close-up of triangles&#10;&#10;Description automatically generated">
              <a:extLst>
                <a:ext uri="{FF2B5EF4-FFF2-40B4-BE49-F238E27FC236}">
                  <a16:creationId xmlns:a16="http://schemas.microsoft.com/office/drawing/2014/main" id="{8B319042-9BC0-7264-8590-CBA182D8E8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25" t="41925" r="41925" b="41925"/>
            <a:stretch/>
          </p:blipFill>
          <p:spPr>
            <a:xfrm>
              <a:off x="-7806013" y="2284347"/>
              <a:ext cx="1440000" cy="1080000"/>
            </a:xfrm>
            <a:prstGeom prst="rect">
              <a:avLst/>
            </a:prstGeom>
          </p:spPr>
        </p:pic>
        <p:pic>
          <p:nvPicPr>
            <p:cNvPr id="41" name="Picture 40" descr="A black and white pattern of triangles&#10;&#10;Description automatically generated">
              <a:extLst>
                <a:ext uri="{FF2B5EF4-FFF2-40B4-BE49-F238E27FC236}">
                  <a16:creationId xmlns:a16="http://schemas.microsoft.com/office/drawing/2014/main" id="{C83FB2EB-460F-A101-3A16-492BAD7D5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32" t="41932" r="41932" b="41932"/>
            <a:stretch/>
          </p:blipFill>
          <p:spPr>
            <a:xfrm>
              <a:off x="-5918958" y="2284347"/>
              <a:ext cx="1440000" cy="108000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66F2200-D9C7-C7A2-4D3A-EBD60C6F4711}"/>
                </a:ext>
              </a:extLst>
            </p:cNvPr>
            <p:cNvSpPr txBox="1"/>
            <p:nvPr/>
          </p:nvSpPr>
          <p:spPr>
            <a:xfrm>
              <a:off x="-11126465" y="480674"/>
              <a:ext cx="892681" cy="3594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7"/>
                <a:t>Original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9A088F1-C807-6D40-B5C0-860637D5D9B5}"/>
                </a:ext>
              </a:extLst>
            </p:cNvPr>
            <p:cNvSpPr txBox="1"/>
            <p:nvPr/>
          </p:nvSpPr>
          <p:spPr>
            <a:xfrm>
              <a:off x="-9540630" y="480674"/>
              <a:ext cx="1495130" cy="3594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7"/>
                <a:t>Gentle Blurred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A3314B4-1649-6473-0C1C-D99122C9E6D3}"/>
                </a:ext>
              </a:extLst>
            </p:cNvPr>
            <p:cNvSpPr txBox="1"/>
            <p:nvPr/>
          </p:nvSpPr>
          <p:spPr>
            <a:xfrm>
              <a:off x="-7761031" y="480674"/>
              <a:ext cx="1710039" cy="3594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7"/>
                <a:t>Gentle Enhanced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0710B18-7F71-8C27-A65A-76309BECF0A2}"/>
                </a:ext>
              </a:extLst>
            </p:cNvPr>
            <p:cNvSpPr txBox="1"/>
            <p:nvPr/>
          </p:nvSpPr>
          <p:spPr>
            <a:xfrm>
              <a:off x="-5534590" y="480674"/>
              <a:ext cx="1018424" cy="3594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7"/>
                <a:t>Binarized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2CCC4E7-27D3-426E-364B-31FCFE955C3A}"/>
              </a:ext>
            </a:extLst>
          </p:cNvPr>
          <p:cNvSpPr txBox="1"/>
          <p:nvPr/>
        </p:nvSpPr>
        <p:spPr>
          <a:xfrm>
            <a:off x="3816191" y="272132"/>
            <a:ext cx="3730958" cy="5869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70005" indent="-270005">
              <a:buFont typeface="Arial" panose="020B0604020202020204" pitchFamily="34" charset="0"/>
              <a:buChar char="•"/>
            </a:pPr>
            <a:r>
              <a:rPr lang="en-US" sz="1607" dirty="0"/>
              <a:t>Single folder SEM image segmentation.</a:t>
            </a:r>
          </a:p>
          <a:p>
            <a:pPr marL="270005" indent="-270005">
              <a:buFont typeface="Arial" panose="020B0604020202020204" pitchFamily="34" charset="0"/>
              <a:buChar char="•"/>
            </a:pPr>
            <a:r>
              <a:rPr lang="en-US" sz="1607" dirty="0"/>
              <a:t>Took 2 mins to process 4 images.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3B9DEAD-89D5-A5C3-83ED-B3D2A46D0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1909" y="290320"/>
            <a:ext cx="3862585" cy="334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6402" tIns="43201" rIns="86402" bIns="43201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nb-NO" altLang="en-US" sz="1607" dirty="0">
                <a:hlinkClick r:id="rId7"/>
              </a:rPr>
              <a:t>[OneDrive] Image Seg Demo_480p.mp4</a:t>
            </a:r>
            <a:endParaRPr lang="en-US" altLang="en-US" sz="1607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D05FD4-60B9-8B9F-D755-ADBF063D44D9}"/>
              </a:ext>
            </a:extLst>
          </p:cNvPr>
          <p:cNvSpPr txBox="1"/>
          <p:nvPr/>
        </p:nvSpPr>
        <p:spPr>
          <a:xfrm>
            <a:off x="7722410" y="577493"/>
            <a:ext cx="3247749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607" dirty="0">
                <a:hlinkClick r:id="rId8" action="ppaction://hlinkfile"/>
              </a:rPr>
              <a:t>[Local] Image Seg Demo_1080p.mp4</a:t>
            </a:r>
            <a:endParaRPr lang="en-US" sz="1607" dirty="0"/>
          </a:p>
        </p:txBody>
      </p:sp>
    </p:spTree>
    <p:extLst>
      <p:ext uri="{BB962C8B-B14F-4D97-AF65-F5344CB8AC3E}">
        <p14:creationId xmlns:p14="http://schemas.microsoft.com/office/powerpoint/2010/main" val="1643364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415F9F-AF75-A5B6-C98F-7F2275DEF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F6393-A632-44F9-875C-D5352E673672}" type="datetime4">
              <a:rPr lang="en-US" smtClean="0"/>
              <a:t>June 18,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0777B3-2F11-1DFA-3141-6B58B282A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54DC5-6F32-9131-466A-100DB236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EC040C-4EE0-D8DF-0563-521702F4C0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863" r="31909"/>
          <a:stretch/>
        </p:blipFill>
        <p:spPr>
          <a:xfrm>
            <a:off x="5492181" y="839095"/>
            <a:ext cx="2721333" cy="27213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090A0B-BCB9-3786-5F44-AB75679465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620" t="28041" r="37653" b="43990"/>
          <a:stretch/>
        </p:blipFill>
        <p:spPr>
          <a:xfrm>
            <a:off x="8488147" y="844469"/>
            <a:ext cx="2721333" cy="27213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487330E-1B58-8C15-4CD4-29847C6DD464}"/>
              </a:ext>
            </a:extLst>
          </p:cNvPr>
          <p:cNvCxnSpPr>
            <a:cxnSpLocks/>
          </p:cNvCxnSpPr>
          <p:nvPr/>
        </p:nvCxnSpPr>
        <p:spPr>
          <a:xfrm>
            <a:off x="7704297" y="1888588"/>
            <a:ext cx="1980053" cy="218606"/>
          </a:xfrm>
          <a:prstGeom prst="straightConnector1">
            <a:avLst/>
          </a:prstGeom>
          <a:ln w="635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175301A-18A9-F91F-4883-71175D460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165" y="3886108"/>
            <a:ext cx="4004316" cy="2041000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A695898-F64E-9F13-8CDB-C1F3FC357FDD}"/>
              </a:ext>
            </a:extLst>
          </p:cNvPr>
          <p:cNvSpPr/>
          <p:nvPr/>
        </p:nvSpPr>
        <p:spPr>
          <a:xfrm>
            <a:off x="7147800" y="5180246"/>
            <a:ext cx="1977017" cy="382790"/>
          </a:xfrm>
          <a:prstGeom prst="roundRect">
            <a:avLst/>
          </a:pr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E9DB3C5-0DC9-9057-E3DF-E455EA4CC725}"/>
              </a:ext>
            </a:extLst>
          </p:cNvPr>
          <p:cNvSpPr txBox="1">
            <a:spLocks/>
          </p:cNvSpPr>
          <p:nvPr/>
        </p:nvSpPr>
        <p:spPr>
          <a:xfrm>
            <a:off x="360000" y="252000"/>
            <a:ext cx="3960000" cy="612300"/>
          </a:xfrm>
          <a:prstGeom prst="rect">
            <a:avLst/>
          </a:prstGeom>
          <a:solidFill>
            <a:srgbClr val="6414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86402" tIns="43201" rIns="86402" bIns="43201" rtlCol="0" anchor="ctr">
            <a:normAutofit/>
          </a:bodyPr>
          <a:lstStyle>
            <a:lvl1pPr algn="ctr" defTabSz="432008">
              <a:lnSpc>
                <a:spcPct val="90000"/>
              </a:lnSpc>
              <a:spcBef>
                <a:spcPct val="0"/>
              </a:spcBef>
              <a:buNone/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TW" dirty="0"/>
              <a:t>Auto Scale Bar Extraction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C76F24-929C-D429-0C52-E1C91A52708C}"/>
              </a:ext>
            </a:extLst>
          </p:cNvPr>
          <p:cNvCxnSpPr>
            <a:cxnSpLocks/>
          </p:cNvCxnSpPr>
          <p:nvPr/>
        </p:nvCxnSpPr>
        <p:spPr>
          <a:xfrm flipH="1">
            <a:off x="8856327" y="2296308"/>
            <a:ext cx="1176032" cy="2804884"/>
          </a:xfrm>
          <a:prstGeom prst="straightConnector1">
            <a:avLst/>
          </a:prstGeom>
          <a:ln w="635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9E156017-DE80-0A53-82DE-4BA6B620C967}"/>
              </a:ext>
            </a:extLst>
          </p:cNvPr>
          <p:cNvSpPr txBox="1">
            <a:spLocks/>
          </p:cNvSpPr>
          <p:nvPr/>
        </p:nvSpPr>
        <p:spPr>
          <a:xfrm>
            <a:off x="340255" y="1019194"/>
            <a:ext cx="4887669" cy="242610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en-US" altLang="zh-TW" sz="1890" dirty="0"/>
              <a:t>Average pixel in columns</a:t>
            </a:r>
            <a:r>
              <a:rPr lang="en-US" sz="1890" dirty="0"/>
              <a:t> and rows to cut out desired area of scale bar.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en-US" sz="1890" dirty="0"/>
              <a:t>Use </a:t>
            </a:r>
            <a:r>
              <a:rPr lang="en-US" sz="1890" dirty="0" err="1">
                <a:solidFill>
                  <a:srgbClr val="4EC9B0"/>
                </a:solidFill>
                <a:latin typeface="Consolas" panose="020B0609020204030204" pitchFamily="49" charset="0"/>
              </a:rPr>
              <a:t>pytesseract</a:t>
            </a:r>
            <a:r>
              <a:rPr lang="en-US" sz="1890" dirty="0">
                <a:solidFill>
                  <a:srgbClr val="4EC9B0"/>
                </a:solidFill>
                <a:latin typeface="Consolas" panose="020B0609020204030204" pitchFamily="49" charset="0"/>
              </a:rPr>
              <a:t> </a:t>
            </a:r>
            <a:r>
              <a:rPr lang="en-US" sz="1890" dirty="0"/>
              <a:t>to read the number of the scale bar.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en-US" sz="1890" dirty="0"/>
              <a:t>The length of scale bar matches the actual pixel checked with Photoshop.</a:t>
            </a:r>
          </a:p>
        </p:txBody>
      </p:sp>
      <p:pic>
        <p:nvPicPr>
          <p:cNvPr id="26" name="Picture 25" descr="A close-up of a microscope&#10;&#10;Description automatically generated">
            <a:extLst>
              <a:ext uri="{FF2B5EF4-FFF2-40B4-BE49-F238E27FC236}">
                <a16:creationId xmlns:a16="http://schemas.microsoft.com/office/drawing/2014/main" id="{DB748E9C-0B47-71C8-46DE-A56FF9E58C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75" y="3886108"/>
            <a:ext cx="2721333" cy="2041000"/>
          </a:xfrm>
          <a:prstGeom prst="rect">
            <a:avLst/>
          </a:prstGeom>
        </p:spPr>
      </p:pic>
      <p:pic>
        <p:nvPicPr>
          <p:cNvPr id="27" name="Picture 26" descr="A screenshot of a computer&#10;&#10;Description automatically generated">
            <a:extLst>
              <a:ext uri="{FF2B5EF4-FFF2-40B4-BE49-F238E27FC236}">
                <a16:creationId xmlns:a16="http://schemas.microsoft.com/office/drawing/2014/main" id="{6D4E58C3-F6BD-004D-A473-832D85B08B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8947" y="3886108"/>
            <a:ext cx="3623077" cy="204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269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60A92-C75A-FE23-2403-A68198D48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close-up of triangles&#10;&#10;Description automatically generated">
            <a:extLst>
              <a:ext uri="{FF2B5EF4-FFF2-40B4-BE49-F238E27FC236}">
                <a16:creationId xmlns:a16="http://schemas.microsoft.com/office/drawing/2014/main" id="{D9A4E2A2-64DE-7C53-1913-3E1C7A8FE1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45" y="3548492"/>
            <a:ext cx="1360667" cy="10205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7C0A697-87D3-6287-E937-663E326298AD}"/>
              </a:ext>
            </a:extLst>
          </p:cNvPr>
          <p:cNvSpPr txBox="1"/>
          <p:nvPr/>
        </p:nvSpPr>
        <p:spPr>
          <a:xfrm>
            <a:off x="340671" y="880933"/>
            <a:ext cx="1364476" cy="3960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23"/>
              <a:t>Original</a:t>
            </a:r>
          </a:p>
          <a:p>
            <a:endParaRPr lang="en-US" sz="1323"/>
          </a:p>
          <a:p>
            <a:endParaRPr lang="en-US" sz="1323"/>
          </a:p>
          <a:p>
            <a:endParaRPr lang="en-US" sz="1323"/>
          </a:p>
          <a:p>
            <a:endParaRPr lang="en-US" sz="1323"/>
          </a:p>
          <a:p>
            <a:endParaRPr lang="en-US" sz="1323"/>
          </a:p>
          <a:p>
            <a:r>
              <a:rPr lang="en-US" sz="1323"/>
              <a:t>Gentle Blurred</a:t>
            </a:r>
          </a:p>
          <a:p>
            <a:endParaRPr lang="en-US" sz="1323"/>
          </a:p>
          <a:p>
            <a:endParaRPr lang="en-US" sz="1323"/>
          </a:p>
          <a:p>
            <a:endParaRPr lang="en-US" sz="1323"/>
          </a:p>
          <a:p>
            <a:endParaRPr lang="en-US" sz="1323"/>
          </a:p>
          <a:p>
            <a:endParaRPr lang="en-US" sz="1323"/>
          </a:p>
          <a:p>
            <a:r>
              <a:rPr lang="en-US" sz="1323"/>
              <a:t>Gentle Enhanced</a:t>
            </a:r>
          </a:p>
          <a:p>
            <a:endParaRPr lang="en-US" sz="1323"/>
          </a:p>
          <a:p>
            <a:endParaRPr lang="en-US" sz="1323"/>
          </a:p>
          <a:p>
            <a:endParaRPr lang="en-US" sz="1323"/>
          </a:p>
          <a:p>
            <a:endParaRPr lang="en-US" sz="1323"/>
          </a:p>
          <a:p>
            <a:endParaRPr lang="en-US" sz="1323"/>
          </a:p>
          <a:p>
            <a:r>
              <a:rPr lang="en-US" sz="1323"/>
              <a:t>Binarized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E1643A-3263-8DA4-B138-C65BE3829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52000"/>
            <a:ext cx="3061500" cy="610723"/>
          </a:xfrm>
          <a:solidFill>
            <a:srgbClr val="6414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86402" tIns="43201" rIns="86402" bIns="43201" rtlCol="0" anchor="ctr">
            <a:normAutofit/>
          </a:bodyPr>
          <a:lstStyle/>
          <a:p>
            <a:pPr algn="ctr" defTabSz="432008"/>
            <a:r>
              <a:rPr lang="en-US" sz="2800">
                <a:solidFill>
                  <a:schemeClr val="bg1"/>
                </a:solidFill>
              </a:rPr>
              <a:t>Coverage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BA0EE0C-1652-0E17-A93D-B8B054A02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2026-06-18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585AEE64-771A-4E6B-184B-F66943DDE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558E53F-549F-6D71-BFC1-343FD5C19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9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F65B38B-0B92-F37E-B769-86E2E2EE2AB7}"/>
              </a:ext>
            </a:extLst>
          </p:cNvPr>
          <p:cNvGrpSpPr/>
          <p:nvPr/>
        </p:nvGrpSpPr>
        <p:grpSpPr>
          <a:xfrm>
            <a:off x="-6347025" y="-5422142"/>
            <a:ext cx="24214540" cy="17324459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DF9ACC1-A6AB-94AC-D912-CC65CB4AC15D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A3CC3B8-9457-640E-35B9-B70CBECE2969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FF7A99-2ED6-5E34-59AC-A9A593C981DF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4FF0AC3-7C2D-1998-F443-88674DFAF469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A97412A-BDB2-5E00-495D-79DB96FB44A4}"/>
              </a:ext>
            </a:extLst>
          </p:cNvPr>
          <p:cNvSpPr txBox="1"/>
          <p:nvPr/>
        </p:nvSpPr>
        <p:spPr>
          <a:xfrm>
            <a:off x="340255" y="-689162"/>
            <a:ext cx="1702710" cy="58695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7"/>
              <a:t>Dimension:3, 31.8</a:t>
            </a:r>
          </a:p>
          <a:p>
            <a:r>
              <a:rPr lang="en-US" sz="1607"/>
              <a:t>Position: 1, 0.5 </a:t>
            </a:r>
          </a:p>
        </p:txBody>
      </p:sp>
      <p:pic>
        <p:nvPicPr>
          <p:cNvPr id="16" name="Picture 15" descr="A close-up of a white surface with triangles&#10;&#10;Description automatically generated">
            <a:extLst>
              <a:ext uri="{FF2B5EF4-FFF2-40B4-BE49-F238E27FC236}">
                <a16:creationId xmlns:a16="http://schemas.microsoft.com/office/drawing/2014/main" id="{5700819B-1A30-CE02-6B54-0A133D5DA8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45" y="1119787"/>
            <a:ext cx="1360667" cy="1020500"/>
          </a:xfrm>
          <a:prstGeom prst="rect">
            <a:avLst/>
          </a:prstGeom>
        </p:spPr>
      </p:pic>
      <p:pic>
        <p:nvPicPr>
          <p:cNvPr id="19" name="Picture 18" descr="A close-up of triangles&#10;&#10;Description automatically generated">
            <a:extLst>
              <a:ext uri="{FF2B5EF4-FFF2-40B4-BE49-F238E27FC236}">
                <a16:creationId xmlns:a16="http://schemas.microsoft.com/office/drawing/2014/main" id="{8338A706-FEC8-EFB8-1C29-7FDA2C156C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45" y="2334139"/>
            <a:ext cx="1360667" cy="1020500"/>
          </a:xfrm>
          <a:prstGeom prst="rect">
            <a:avLst/>
          </a:prstGeom>
        </p:spPr>
      </p:pic>
      <p:pic>
        <p:nvPicPr>
          <p:cNvPr id="23" name="Picture 22" descr="A black and white pattern of triangles&#10;&#10;Description automatically generated">
            <a:extLst>
              <a:ext uri="{FF2B5EF4-FFF2-40B4-BE49-F238E27FC236}">
                <a16:creationId xmlns:a16="http://schemas.microsoft.com/office/drawing/2014/main" id="{D52EED7A-966F-403B-97BB-056B02BDB7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45" y="4762845"/>
            <a:ext cx="1360667" cy="1020500"/>
          </a:xfrm>
          <a:prstGeom prst="rect">
            <a:avLst/>
          </a:prstGeom>
        </p:spPr>
      </p:pic>
      <p:pic>
        <p:nvPicPr>
          <p:cNvPr id="24" name="Picture 23" descr="A close-up of a white surface with triangles&#10;&#10;Description automatically generated">
            <a:extLst>
              <a:ext uri="{FF2B5EF4-FFF2-40B4-BE49-F238E27FC236}">
                <a16:creationId xmlns:a16="http://schemas.microsoft.com/office/drawing/2014/main" id="{038266CB-6826-B2BE-771B-D60A747FB4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56" t="41956" r="41956" b="41956"/>
          <a:stretch/>
        </p:blipFill>
        <p:spPr>
          <a:xfrm>
            <a:off x="1952343" y="1119787"/>
            <a:ext cx="1360667" cy="1020500"/>
          </a:xfrm>
          <a:prstGeom prst="rect">
            <a:avLst/>
          </a:prstGeom>
        </p:spPr>
      </p:pic>
      <p:pic>
        <p:nvPicPr>
          <p:cNvPr id="25" name="Picture 24" descr="A close-up of triangles&#10;&#10;Description automatically generated">
            <a:extLst>
              <a:ext uri="{FF2B5EF4-FFF2-40B4-BE49-F238E27FC236}">
                <a16:creationId xmlns:a16="http://schemas.microsoft.com/office/drawing/2014/main" id="{1774E0D5-8583-5A75-5691-FEB0E1DB56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22" t="41922" r="41922" b="41922"/>
          <a:stretch/>
        </p:blipFill>
        <p:spPr>
          <a:xfrm>
            <a:off x="1952343" y="2334139"/>
            <a:ext cx="1360667" cy="1020500"/>
          </a:xfrm>
          <a:prstGeom prst="rect">
            <a:avLst/>
          </a:prstGeom>
        </p:spPr>
      </p:pic>
      <p:pic>
        <p:nvPicPr>
          <p:cNvPr id="26" name="Picture 25" descr="A close-up of triangles&#10;&#10;Description automatically generated">
            <a:extLst>
              <a:ext uri="{FF2B5EF4-FFF2-40B4-BE49-F238E27FC236}">
                <a16:creationId xmlns:a16="http://schemas.microsoft.com/office/drawing/2014/main" id="{17CD9F18-91D8-8936-66B6-DDF75A4A2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25" t="41925" r="41925" b="41925"/>
          <a:stretch/>
        </p:blipFill>
        <p:spPr>
          <a:xfrm>
            <a:off x="1952343" y="3548492"/>
            <a:ext cx="1360667" cy="1020500"/>
          </a:xfrm>
          <a:prstGeom prst="rect">
            <a:avLst/>
          </a:prstGeom>
        </p:spPr>
      </p:pic>
      <p:pic>
        <p:nvPicPr>
          <p:cNvPr id="27" name="Picture 26" descr="A black and white pattern of triangles&#10;&#10;Description automatically generated">
            <a:extLst>
              <a:ext uri="{FF2B5EF4-FFF2-40B4-BE49-F238E27FC236}">
                <a16:creationId xmlns:a16="http://schemas.microsoft.com/office/drawing/2014/main" id="{CDC0E3DB-028A-42EF-2455-55D9005F98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32" t="41932" r="41932" b="41932"/>
          <a:stretch/>
        </p:blipFill>
        <p:spPr>
          <a:xfrm>
            <a:off x="1952343" y="4762845"/>
            <a:ext cx="1360667" cy="1020500"/>
          </a:xfrm>
          <a:prstGeom prst="rect">
            <a:avLst/>
          </a:prstGeom>
        </p:spPr>
      </p:pic>
      <p:pic>
        <p:nvPicPr>
          <p:cNvPr id="33" name="Picture 32" descr="A graph of a person with a graph&#10;&#10;Description automatically generated with medium confidence">
            <a:extLst>
              <a:ext uri="{FF2B5EF4-FFF2-40B4-BE49-F238E27FC236}">
                <a16:creationId xmlns:a16="http://schemas.microsoft.com/office/drawing/2014/main" id="{315298D3-7CB6-1C80-432A-763D0FE115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2383" y="129004"/>
            <a:ext cx="7685360" cy="5764019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91DD3B64-337E-3D1A-28D5-0B1CD37AC4F2}"/>
              </a:ext>
            </a:extLst>
          </p:cNvPr>
          <p:cNvGrpSpPr/>
          <p:nvPr/>
        </p:nvGrpSpPr>
        <p:grpSpPr>
          <a:xfrm>
            <a:off x="-10942144" y="454192"/>
            <a:ext cx="6709943" cy="2724804"/>
            <a:chOff x="-11580123" y="480674"/>
            <a:chExt cx="7101165" cy="2883673"/>
          </a:xfrm>
        </p:grpSpPr>
        <p:pic>
          <p:nvPicPr>
            <p:cNvPr id="34" name="Picture 33" descr="A close-up of a white surface with triangles&#10;&#10;Description automatically generated">
              <a:extLst>
                <a:ext uri="{FF2B5EF4-FFF2-40B4-BE49-F238E27FC236}">
                  <a16:creationId xmlns:a16="http://schemas.microsoft.com/office/drawing/2014/main" id="{B21D8E8F-5909-43FD-07FB-7C9FD0A91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1580123" y="866203"/>
              <a:ext cx="1440000" cy="1080000"/>
            </a:xfrm>
            <a:prstGeom prst="rect">
              <a:avLst/>
            </a:prstGeom>
          </p:spPr>
        </p:pic>
        <p:pic>
          <p:nvPicPr>
            <p:cNvPr id="35" name="Picture 34" descr="A close-up of triangles&#10;&#10;Description automatically generated">
              <a:extLst>
                <a:ext uri="{FF2B5EF4-FFF2-40B4-BE49-F238E27FC236}">
                  <a16:creationId xmlns:a16="http://schemas.microsoft.com/office/drawing/2014/main" id="{3AC1BBF2-462B-B5C5-3BC7-DA8C37F57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9693068" y="866203"/>
              <a:ext cx="1440000" cy="1080000"/>
            </a:xfrm>
            <a:prstGeom prst="rect">
              <a:avLst/>
            </a:prstGeom>
          </p:spPr>
        </p:pic>
        <p:pic>
          <p:nvPicPr>
            <p:cNvPr id="36" name="Picture 35" descr="A close-up of triangles&#10;&#10;Description automatically generated">
              <a:extLst>
                <a:ext uri="{FF2B5EF4-FFF2-40B4-BE49-F238E27FC236}">
                  <a16:creationId xmlns:a16="http://schemas.microsoft.com/office/drawing/2014/main" id="{CBB01691-A532-1677-D4B3-78BF18C0D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806013" y="866203"/>
              <a:ext cx="1440000" cy="1080000"/>
            </a:xfrm>
            <a:prstGeom prst="rect">
              <a:avLst/>
            </a:prstGeom>
          </p:spPr>
        </p:pic>
        <p:pic>
          <p:nvPicPr>
            <p:cNvPr id="37" name="Picture 36" descr="A black and white pattern of triangles&#10;&#10;Description automatically generated">
              <a:extLst>
                <a:ext uri="{FF2B5EF4-FFF2-40B4-BE49-F238E27FC236}">
                  <a16:creationId xmlns:a16="http://schemas.microsoft.com/office/drawing/2014/main" id="{C41F4F5C-6C7F-2DB9-00B6-2D39333DE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918958" y="866203"/>
              <a:ext cx="1440000" cy="1080000"/>
            </a:xfrm>
            <a:prstGeom prst="rect">
              <a:avLst/>
            </a:prstGeom>
          </p:spPr>
        </p:pic>
        <p:pic>
          <p:nvPicPr>
            <p:cNvPr id="38" name="Picture 37" descr="A close-up of a white surface with triangles&#10;&#10;Description automatically generated">
              <a:extLst>
                <a:ext uri="{FF2B5EF4-FFF2-40B4-BE49-F238E27FC236}">
                  <a16:creationId xmlns:a16="http://schemas.microsoft.com/office/drawing/2014/main" id="{9FE96252-76E9-4A8C-EF36-9B2168E39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56" t="41956" r="41956" b="41956"/>
            <a:stretch/>
          </p:blipFill>
          <p:spPr>
            <a:xfrm>
              <a:off x="-11580123" y="2284347"/>
              <a:ext cx="1440000" cy="1080000"/>
            </a:xfrm>
            <a:prstGeom prst="rect">
              <a:avLst/>
            </a:prstGeom>
          </p:spPr>
        </p:pic>
        <p:pic>
          <p:nvPicPr>
            <p:cNvPr id="39" name="Picture 38" descr="A close-up of triangles&#10;&#10;Description automatically generated">
              <a:extLst>
                <a:ext uri="{FF2B5EF4-FFF2-40B4-BE49-F238E27FC236}">
                  <a16:creationId xmlns:a16="http://schemas.microsoft.com/office/drawing/2014/main" id="{8879917F-14FF-433D-7E01-5C362EB88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22" t="41922" r="41922" b="41922"/>
            <a:stretch/>
          </p:blipFill>
          <p:spPr>
            <a:xfrm>
              <a:off x="-9693068" y="2284347"/>
              <a:ext cx="1440000" cy="1080000"/>
            </a:xfrm>
            <a:prstGeom prst="rect">
              <a:avLst/>
            </a:prstGeom>
          </p:spPr>
        </p:pic>
        <p:pic>
          <p:nvPicPr>
            <p:cNvPr id="40" name="Picture 39" descr="A close-up of triangles&#10;&#10;Description automatically generated">
              <a:extLst>
                <a:ext uri="{FF2B5EF4-FFF2-40B4-BE49-F238E27FC236}">
                  <a16:creationId xmlns:a16="http://schemas.microsoft.com/office/drawing/2014/main" id="{9C9A9034-714A-C83E-2CCA-8FFD8A109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25" t="41925" r="41925" b="41925"/>
            <a:stretch/>
          </p:blipFill>
          <p:spPr>
            <a:xfrm>
              <a:off x="-7806013" y="2284347"/>
              <a:ext cx="1440000" cy="1080000"/>
            </a:xfrm>
            <a:prstGeom prst="rect">
              <a:avLst/>
            </a:prstGeom>
          </p:spPr>
        </p:pic>
        <p:pic>
          <p:nvPicPr>
            <p:cNvPr id="41" name="Picture 40" descr="A black and white pattern of triangles&#10;&#10;Description automatically generated">
              <a:extLst>
                <a:ext uri="{FF2B5EF4-FFF2-40B4-BE49-F238E27FC236}">
                  <a16:creationId xmlns:a16="http://schemas.microsoft.com/office/drawing/2014/main" id="{4E338BC4-1964-DD77-BF9E-C86369A78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32" t="41932" r="41932" b="41932"/>
            <a:stretch/>
          </p:blipFill>
          <p:spPr>
            <a:xfrm>
              <a:off x="-5918958" y="2284347"/>
              <a:ext cx="1440000" cy="108000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D01EF0A-EAB9-ADE5-CBC1-1FC6B0CA3F99}"/>
                </a:ext>
              </a:extLst>
            </p:cNvPr>
            <p:cNvSpPr txBox="1"/>
            <p:nvPr/>
          </p:nvSpPr>
          <p:spPr>
            <a:xfrm>
              <a:off x="-11126465" y="480674"/>
              <a:ext cx="892681" cy="3594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7"/>
                <a:t>Original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EA554F0-B0B7-79DA-31B1-BA8A6A013054}"/>
                </a:ext>
              </a:extLst>
            </p:cNvPr>
            <p:cNvSpPr txBox="1"/>
            <p:nvPr/>
          </p:nvSpPr>
          <p:spPr>
            <a:xfrm>
              <a:off x="-9540630" y="480674"/>
              <a:ext cx="1495130" cy="3594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7"/>
                <a:t>Gentle Blurred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C8E069A-7E95-DC68-F0E2-5D3FDB43CC2C}"/>
                </a:ext>
              </a:extLst>
            </p:cNvPr>
            <p:cNvSpPr txBox="1"/>
            <p:nvPr/>
          </p:nvSpPr>
          <p:spPr>
            <a:xfrm>
              <a:off x="-7761031" y="480674"/>
              <a:ext cx="1710039" cy="3594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7"/>
                <a:t>Gentle Enhanced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FBF00AF-2F4C-7B0D-1208-4482201E468A}"/>
                </a:ext>
              </a:extLst>
            </p:cNvPr>
            <p:cNvSpPr txBox="1"/>
            <p:nvPr/>
          </p:nvSpPr>
          <p:spPr>
            <a:xfrm>
              <a:off x="-5534590" y="480674"/>
              <a:ext cx="1018424" cy="3594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7"/>
                <a:t>Binarized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681E2BC6-A9BD-5C96-AC4E-195299ECC1FE}"/>
              </a:ext>
            </a:extLst>
          </p:cNvPr>
          <p:cNvSpPr txBox="1"/>
          <p:nvPr/>
        </p:nvSpPr>
        <p:spPr>
          <a:xfrm>
            <a:off x="4810278" y="5829682"/>
            <a:ext cx="5785430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7"/>
              <a:t>Otsu's method of thresholding: minimizing the intra-class variance.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CD54BDA-6038-0B94-ECEC-D213751C42AC}"/>
              </a:ext>
            </a:extLst>
          </p:cNvPr>
          <p:cNvSpPr/>
          <p:nvPr/>
        </p:nvSpPr>
        <p:spPr>
          <a:xfrm>
            <a:off x="6408262" y="1123959"/>
            <a:ext cx="610955" cy="610955"/>
          </a:xfrm>
          <a:prstGeom prst="ellipse">
            <a:avLst/>
          </a:prstGeom>
          <a:ln w="63500">
            <a:solidFill>
              <a:srgbClr val="DCDA80">
                <a:alpha val="7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35BFA0-355E-A054-4360-90FEC231C6B5}"/>
                  </a:ext>
                </a:extLst>
              </p:cNvPr>
              <p:cNvSpPr txBox="1"/>
              <p:nvPr/>
            </p:nvSpPr>
            <p:spPr>
              <a:xfrm>
                <a:off x="8672677" y="5512368"/>
                <a:ext cx="1947969" cy="339645"/>
              </a:xfrm>
              <a:prstGeom prst="rect">
                <a:avLst/>
              </a:prstGeom>
              <a:solidFill>
                <a:srgbClr val="DCDA80">
                  <a:alpha val="70000"/>
                </a:srgb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7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607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607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7" i="1">
                              <a:latin typeface="Cambria Math" panose="02040503050406030204" pitchFamily="18" charset="0"/>
                            </a:rPr>
                            <m:t>0, 1, 2, …, 255</m:t>
                          </m:r>
                        </m:e>
                      </m:d>
                    </m:oMath>
                  </m:oMathPara>
                </a14:m>
                <a:endParaRPr lang="en-US" sz="1607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35BFA0-355E-A054-4360-90FEC231C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2677" y="5512368"/>
                <a:ext cx="1947969" cy="33964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5DE53B7-3BE2-98A7-D9CD-0D61AD1F3B7C}"/>
              </a:ext>
            </a:extLst>
          </p:cNvPr>
          <p:cNvSpPr txBox="1"/>
          <p:nvPr/>
        </p:nvSpPr>
        <p:spPr>
          <a:xfrm>
            <a:off x="1206440" y="5829681"/>
            <a:ext cx="1451038" cy="26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34" dirty="0"/>
              <a:t>Ed: TM92_C-Sapp_02</a:t>
            </a:r>
          </a:p>
        </p:txBody>
      </p:sp>
    </p:spTree>
    <p:extLst>
      <p:ext uri="{BB962C8B-B14F-4D97-AF65-F5344CB8AC3E}">
        <p14:creationId xmlns:p14="http://schemas.microsoft.com/office/powerpoint/2010/main" val="1705112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F6381-6D99-1520-541B-68CB6EECA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39543-5C57-4BE8-2ECE-19E9519BC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52000"/>
            <a:ext cx="3061500" cy="612300"/>
          </a:xfrm>
          <a:solidFill>
            <a:srgbClr val="6414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86402" tIns="43201" rIns="86402" bIns="43201" rtlCol="0" anchor="ctr">
            <a:normAutofit/>
          </a:bodyPr>
          <a:lstStyle/>
          <a:p>
            <a:pPr algn="ctr" defTabSz="432008"/>
            <a:r>
              <a:rPr lang="en-US" sz="2800" dirty="0">
                <a:solidFill>
                  <a:schemeClr val="bg1"/>
                </a:solidFill>
              </a:rPr>
              <a:t>Otsu’s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80210E-230E-A13A-F04A-044C840B30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2314" y="2465330"/>
                <a:ext cx="5112836" cy="2679567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134"/>
                  </a:spcAft>
                </a:pPr>
                <a:r>
                  <a:rPr lang="en-US" sz="189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Otsu's method selects a threshold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𝑜𝑝𝑡</m:t>
                        </m:r>
                      </m:sub>
                    </m:sSub>
                  </m:oMath>
                </a14:m>
                <a:r>
                  <a:rPr lang="en-US" sz="189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that </a:t>
                </a:r>
                <a:r>
                  <a:rPr lang="en-US" sz="189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maximizes the </a:t>
                </a:r>
                <a:r>
                  <a:rPr lang="en-US" sz="1890" b="1" dirty="0">
                    <a:highlight>
                      <a:srgbClr val="FFFF00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</a:t>
                </a:r>
                <a:r>
                  <a:rPr lang="en-US" sz="189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etween-class variance</a:t>
                </a:r>
                <a:r>
                  <a:rPr lang="en-US" sz="189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𝜎</m:t>
                        </m:r>
                      </m:e>
                      <m:sub>
                        <m:r>
                          <a:rPr lang="en-US" sz="1890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𝐵</m:t>
                        </m:r>
                      </m:sub>
                      <m:sup>
                        <m: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189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(Or equivalently, minimizing intra-class intensity variance.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134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𝜎</m:t>
                        </m:r>
                      </m:e>
                      <m:sub>
                        <m: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189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𝜎</m:t>
                        </m:r>
                      </m:e>
                      <m:sub>
                        <m: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𝐵</m:t>
                        </m:r>
                      </m:sub>
                      <m:sup>
                        <m: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189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are standard deviation and variance between groups, respectively.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1134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𝜔</m:t>
                        </m:r>
                      </m:e>
                      <m:sub>
                        <m: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189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𝜔</m:t>
                        </m:r>
                      </m:e>
                      <m:sub>
                        <m: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189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are proportion of pixels in background and foreground respectively,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𝜔</m:t>
                        </m:r>
                      </m:e>
                      <m:sub>
                        <m: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</m:d>
                    <m:r>
                      <a:rPr lang="en-US" sz="189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𝜔</m:t>
                        </m:r>
                      </m:e>
                      <m:sub>
                        <m: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89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𝑇</m:t>
                        </m:r>
                      </m:e>
                    </m:d>
                    <m:r>
                      <a:rPr lang="en-US" sz="189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=1</m:t>
                    </m:r>
                  </m:oMath>
                </a14:m>
                <a:r>
                  <a:rPr lang="en-US" sz="189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80210E-230E-A13A-F04A-044C840B30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2314" y="2465330"/>
                <a:ext cx="5112836" cy="2679567"/>
              </a:xfrm>
              <a:blipFill>
                <a:blip r:embed="rId3"/>
                <a:stretch>
                  <a:fillRect l="-596" t="-455" r="-1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9FE0D1C-B701-783B-1CFE-6110D44B5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2026-06-18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AF6F3AD-33AE-A699-FD45-2D00DFC42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C45F8EC-3A75-61A4-E486-F272FC93D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10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969AAA9-0796-C20B-4151-BFBA8608093C}"/>
              </a:ext>
            </a:extLst>
          </p:cNvPr>
          <p:cNvGrpSpPr/>
          <p:nvPr/>
        </p:nvGrpSpPr>
        <p:grpSpPr>
          <a:xfrm>
            <a:off x="-6346841" y="-5422008"/>
            <a:ext cx="24214169" cy="17324194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BAB5B12-0968-1489-0143-C0FDB07C1F9C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6049A07-A4ED-08D7-DD9B-16297823E007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673AE61-2918-52CF-2B42-5781C30DF5B2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3D746BF-8D2E-DB18-D7E8-634E89CDE4FE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1596961-ABB0-0AAA-53E6-A6CF6FE1353A}"/>
              </a:ext>
            </a:extLst>
          </p:cNvPr>
          <p:cNvSpPr txBox="1"/>
          <p:nvPr/>
        </p:nvSpPr>
        <p:spPr>
          <a:xfrm>
            <a:off x="340338" y="-689152"/>
            <a:ext cx="1702710" cy="58695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7" dirty="0"/>
              <a:t>Dimension:3, 31.8</a:t>
            </a:r>
          </a:p>
          <a:p>
            <a:r>
              <a:rPr lang="en-US" sz="1607" dirty="0"/>
              <a:t>Position: 1, 0.5 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095FDF5A-29BF-6446-B951-3431686D8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474" y="716574"/>
            <a:ext cx="5490444" cy="4117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83E1C14-BBEB-5626-ACFC-08F7CBB77140}"/>
                  </a:ext>
                </a:extLst>
              </p:cNvPr>
              <p:cNvSpPr txBox="1"/>
              <p:nvPr/>
            </p:nvSpPr>
            <p:spPr>
              <a:xfrm>
                <a:off x="735358" y="1288212"/>
                <a:ext cx="4577136" cy="7784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𝑇</m:t>
                          </m:r>
                        </m:e>
                        <m:sub>
                          <m: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𝑜𝑝𝑡</m:t>
                          </m:r>
                        </m:sub>
                      </m:sSub>
                      <m:r>
                        <a:rPr lang="en-US" sz="189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9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189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189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9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189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𝑇</m:t>
                                  </m:r>
                                </m:lim>
                              </m:limLow>
                            </m:fName>
                            <m:e>
                              <m:sSubSup>
                                <m:sSubSupPr>
                                  <m:ctrlPr>
                                    <a:rPr lang="en-US" sz="189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9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189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en-US" sz="189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89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90" i="1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𝜎</m:t>
                          </m:r>
                        </m:e>
                        <m:sub>
                          <m: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𝐵</m:t>
                          </m:r>
                        </m:sub>
                        <m:sup>
                          <m: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𝑇</m:t>
                          </m:r>
                        </m:e>
                      </m:d>
                      <m:r>
                        <a:rPr lang="en-US" sz="189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𝜔</m:t>
                          </m:r>
                        </m:e>
                        <m:sub>
                          <m: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𝑇</m:t>
                          </m:r>
                        </m:e>
                      </m:d>
                      <m:sSubSup>
                        <m:sSubSupPr>
                          <m:ctrlP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𝜎</m:t>
                          </m:r>
                        </m:e>
                        <m:sub>
                          <m: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  <m:sup>
                          <m: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𝑇</m:t>
                          </m:r>
                        </m:e>
                      </m:d>
                      <m:r>
                        <a:rPr lang="en-US" sz="189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𝜔</m:t>
                          </m:r>
                        </m:e>
                        <m:sub>
                          <m: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𝑇</m:t>
                          </m:r>
                        </m:e>
                      </m:d>
                      <m:sSubSup>
                        <m:sSubSupPr>
                          <m:ctrlP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𝜎</m:t>
                          </m:r>
                        </m:e>
                        <m:sub>
                          <m: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  <m:sup>
                          <m: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89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US" sz="189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83E1C14-BBEB-5626-ACFC-08F7CBB77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58" y="1288212"/>
                <a:ext cx="4577136" cy="7784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5F8F9880-19FA-475A-58AF-4C93D2743B7F}"/>
              </a:ext>
            </a:extLst>
          </p:cNvPr>
          <p:cNvSpPr txBox="1"/>
          <p:nvPr/>
        </p:nvSpPr>
        <p:spPr>
          <a:xfrm>
            <a:off x="735358" y="5213031"/>
            <a:ext cx="9058531" cy="48199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512"/>
              </a:lnSpc>
            </a:pPr>
            <a:r>
              <a:rPr lang="en-US" sz="1607" dirty="0">
                <a:solidFill>
                  <a:srgbClr val="9CDCFE"/>
                </a:solidFill>
                <a:latin typeface="Consolas" panose="020B0609020204030204" pitchFamily="49" charset="0"/>
              </a:rPr>
              <a:t>otsu_threshold</a:t>
            </a:r>
            <a:r>
              <a:rPr lang="en-US" sz="1607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7" dirty="0">
                <a:solidFill>
                  <a:srgbClr val="9CDCFE"/>
                </a:solidFill>
                <a:latin typeface="Consolas" panose="020B0609020204030204" pitchFamily="49" charset="0"/>
              </a:rPr>
              <a:t>arrimg_5bnrz</a:t>
            </a:r>
            <a:r>
              <a:rPr lang="en-US" sz="1607" dirty="0">
                <a:solidFill>
                  <a:srgbClr val="CCCCCC"/>
                </a:solidFill>
                <a:latin typeface="Consolas" panose="020B0609020204030204" pitchFamily="49" charset="0"/>
              </a:rPr>
              <a:t> \</a:t>
            </a:r>
          </a:p>
          <a:p>
            <a:pPr>
              <a:lnSpc>
                <a:spcPts val="1512"/>
              </a:lnSpc>
            </a:pPr>
            <a:r>
              <a:rPr lang="en-US" sz="1607" dirty="0">
                <a:solidFill>
                  <a:srgbClr val="CCCCCC"/>
                </a:solidFill>
                <a:latin typeface="Consolas" panose="020B0609020204030204" pitchFamily="49" charset="0"/>
              </a:rPr>
              <a:t>	</a:t>
            </a:r>
            <a:r>
              <a:rPr lang="en-US" sz="1607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sz="1607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7" dirty="0">
                <a:solidFill>
                  <a:srgbClr val="4EC9B0"/>
                </a:solidFill>
                <a:latin typeface="Consolas" panose="020B0609020204030204" pitchFamily="49" charset="0"/>
              </a:rPr>
              <a:t>cv2</a:t>
            </a:r>
            <a:r>
              <a:rPr lang="en-US" sz="1607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7" dirty="0">
                <a:solidFill>
                  <a:srgbClr val="DCDCAA"/>
                </a:solidFill>
                <a:latin typeface="Consolas" panose="020B0609020204030204" pitchFamily="49" charset="0"/>
              </a:rPr>
              <a:t>threshold</a:t>
            </a:r>
            <a:r>
              <a:rPr lang="en-US" sz="1607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1607" dirty="0">
                <a:solidFill>
                  <a:srgbClr val="9CDCFE"/>
                </a:solidFill>
                <a:latin typeface="Consolas" panose="020B0609020204030204" pitchFamily="49" charset="0"/>
              </a:rPr>
              <a:t>arr_img</a:t>
            </a:r>
            <a:r>
              <a:rPr lang="en-US" sz="1607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7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1607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7" dirty="0">
                <a:solidFill>
                  <a:srgbClr val="B5CEA8"/>
                </a:solidFill>
                <a:latin typeface="Consolas" panose="020B0609020204030204" pitchFamily="49" charset="0"/>
              </a:rPr>
              <a:t>255</a:t>
            </a:r>
            <a:r>
              <a:rPr lang="en-US" sz="1607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1607" dirty="0">
                <a:solidFill>
                  <a:srgbClr val="4EC9B0"/>
                </a:solidFill>
                <a:latin typeface="Consolas" panose="020B0609020204030204" pitchFamily="49" charset="0"/>
              </a:rPr>
              <a:t>cv2</a:t>
            </a:r>
            <a:r>
              <a:rPr lang="en-US" sz="1607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7" dirty="0">
                <a:solidFill>
                  <a:srgbClr val="9CDCFE"/>
                </a:solidFill>
                <a:latin typeface="Consolas" panose="020B0609020204030204" pitchFamily="49" charset="0"/>
              </a:rPr>
              <a:t>THRESH_BINARY</a:t>
            </a:r>
            <a:r>
              <a:rPr lang="en-US" sz="1607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7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US" sz="1607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1607" dirty="0">
                <a:solidFill>
                  <a:srgbClr val="4EC9B0"/>
                </a:solidFill>
                <a:latin typeface="Consolas" panose="020B0609020204030204" pitchFamily="49" charset="0"/>
              </a:rPr>
              <a:t>cv2</a:t>
            </a:r>
            <a:r>
              <a:rPr lang="en-US" sz="1607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sz="1607" dirty="0">
                <a:solidFill>
                  <a:srgbClr val="9CDCFE"/>
                </a:solidFill>
                <a:latin typeface="Consolas" panose="020B0609020204030204" pitchFamily="49" charset="0"/>
              </a:rPr>
              <a:t>THRESH_OTSU</a:t>
            </a:r>
            <a:r>
              <a:rPr lang="en-US" sz="1607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76385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51C7741D-87E5-6262-8F26-697690F0B723}"/>
              </a:ext>
            </a:extLst>
          </p:cNvPr>
          <p:cNvSpPr/>
          <p:nvPr/>
        </p:nvSpPr>
        <p:spPr>
          <a:xfrm>
            <a:off x="-5671145" y="1377675"/>
            <a:ext cx="5102500" cy="51025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252000"/>
            <a:ext cx="3061500" cy="612300"/>
          </a:xfrm>
          <a:solidFill>
            <a:srgbClr val="6414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86402" tIns="43201" rIns="86402" bIns="43201" rtlCol="0" anchor="ctr">
            <a:normAutofit/>
          </a:bodyPr>
          <a:lstStyle/>
          <a:p>
            <a:pPr algn="ctr" defTabSz="432008"/>
            <a:r>
              <a:rPr lang="en-US" altLang="zh-TW" sz="2800" dirty="0">
                <a:solidFill>
                  <a:schemeClr val="bg1"/>
                </a:solidFill>
              </a:rPr>
              <a:t>Watershed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254" y="884284"/>
            <a:ext cx="10873956" cy="2050899"/>
          </a:xfrm>
        </p:spPr>
        <p:txBody>
          <a:bodyPr>
            <a:normAutofit/>
          </a:bodyPr>
          <a:lstStyle/>
          <a:p>
            <a:pPr marL="486009" indent="-486009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Font typeface="+mj-lt"/>
              <a:buAutoNum type="arabicPeriod"/>
            </a:pPr>
            <a:r>
              <a:rPr lang="en-US" sz="1701" dirty="0"/>
              <a:t>Prepare image: grayscale, noise reduction, then binarize.</a:t>
            </a:r>
          </a:p>
          <a:p>
            <a:pPr marL="486009" indent="-486009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Font typeface="+mj-lt"/>
              <a:buAutoNum type="arabicPeriod"/>
            </a:pPr>
            <a:r>
              <a:rPr lang="en-US" sz="1701" dirty="0"/>
              <a:t>Identify </a:t>
            </a:r>
            <a:r>
              <a:rPr lang="en-US" sz="1701" b="1" dirty="0"/>
              <a:t>background </a:t>
            </a:r>
            <a:r>
              <a:rPr lang="en-US" sz="1701" dirty="0"/>
              <a:t>by dilating (extend edge a little bit) the binary image.</a:t>
            </a:r>
          </a:p>
          <a:p>
            <a:pPr marL="486009" indent="-486009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Font typeface="+mj-lt"/>
              <a:buAutoNum type="arabicPeriod"/>
            </a:pPr>
            <a:r>
              <a:rPr lang="en-US" sz="1701" dirty="0"/>
              <a:t>Apply </a:t>
            </a:r>
            <a:r>
              <a:rPr lang="en-US" sz="1701" b="1" dirty="0"/>
              <a:t>distance transform</a:t>
            </a:r>
            <a:r>
              <a:rPr lang="en-US" sz="1701" dirty="0"/>
              <a:t> that turn none-zero pixel into the distance to nearest black pixel.</a:t>
            </a:r>
          </a:p>
          <a:p>
            <a:pPr marL="486009" indent="-486009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Font typeface="+mj-lt"/>
              <a:buAutoNum type="arabicPeriod"/>
            </a:pPr>
            <a:r>
              <a:rPr lang="en-US" sz="1701" dirty="0"/>
              <a:t>Set threshold to make out </a:t>
            </a:r>
            <a:r>
              <a:rPr lang="en-US" sz="1701" b="1" dirty="0"/>
              <a:t>foreground </a:t>
            </a:r>
            <a:r>
              <a:rPr lang="en-US" sz="1701" dirty="0"/>
              <a:t>from the distance transform result.</a:t>
            </a:r>
          </a:p>
          <a:p>
            <a:pPr marL="486009" indent="-486009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Font typeface="+mj-lt"/>
              <a:buAutoNum type="arabicPeriod"/>
            </a:pPr>
            <a:r>
              <a:rPr lang="en-US" sz="1701" dirty="0"/>
              <a:t>Subtract foreground from background to create </a:t>
            </a:r>
            <a:r>
              <a:rPr lang="en-US" sz="1701" b="1" dirty="0"/>
              <a:t>unknown</a:t>
            </a:r>
            <a:r>
              <a:rPr lang="en-US" sz="1701" dirty="0"/>
              <a:t> </a:t>
            </a:r>
            <a:r>
              <a:rPr lang="en-US" sz="1701" b="1" dirty="0"/>
              <a:t>regions</a:t>
            </a:r>
            <a:endParaRPr lang="en-US" sz="1701" dirty="0"/>
          </a:p>
          <a:p>
            <a:pPr marL="486009" indent="-486009"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  <a:buFont typeface="+mj-lt"/>
              <a:buAutoNum type="arabicPeriod"/>
            </a:pPr>
            <a:r>
              <a:rPr lang="en-US" sz="1701" dirty="0"/>
              <a:t>Apply </a:t>
            </a:r>
            <a:r>
              <a:rPr lang="en-US" sz="1701" b="1" dirty="0"/>
              <a:t>watershed</a:t>
            </a:r>
            <a:r>
              <a:rPr lang="en-US" sz="1701" dirty="0"/>
              <a:t> by flooding between foreground islands to cut though unknown regions.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71CF9B-77D8-34AC-467B-90AFE3868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2026-06-18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74C9DD1-4B8E-C92E-EE2B-AAAF9E3EC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B0419B9-C3CE-E05D-CB83-E7A0F9A7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11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7E202D6-0A4F-6CF0-D134-1B663A9BD111}"/>
              </a:ext>
            </a:extLst>
          </p:cNvPr>
          <p:cNvGrpSpPr/>
          <p:nvPr/>
        </p:nvGrpSpPr>
        <p:grpSpPr>
          <a:xfrm>
            <a:off x="-6347025" y="-5422142"/>
            <a:ext cx="24214540" cy="17324459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0F6B5A2-6AC3-ACD1-2C4D-B44B57592A94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417ACA7-B9A4-8366-164D-A595C3B1EF83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ACA93B1-7B0A-9A57-E43F-25392A422A83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0062C23-34C6-4704-9187-2487F176C1AF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4CAFF21-DA00-289B-F415-0DF3A2434C51}"/>
              </a:ext>
            </a:extLst>
          </p:cNvPr>
          <p:cNvSpPr txBox="1"/>
          <p:nvPr/>
        </p:nvSpPr>
        <p:spPr>
          <a:xfrm>
            <a:off x="340255" y="-689162"/>
            <a:ext cx="1702710" cy="58695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7"/>
              <a:t>Dimension:3, 31.8</a:t>
            </a:r>
          </a:p>
          <a:p>
            <a:r>
              <a:rPr lang="en-US" sz="1607"/>
              <a:t>Position: 1, 0.5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A1E334-E375-6FB6-BA8A-A59059395CC6}"/>
              </a:ext>
            </a:extLst>
          </p:cNvPr>
          <p:cNvSpPr txBox="1"/>
          <p:nvPr/>
        </p:nvSpPr>
        <p:spPr>
          <a:xfrm>
            <a:off x="1673726" y="-78439"/>
            <a:ext cx="805029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7">
                <a:solidFill>
                  <a:schemeClr val="bg1">
                    <a:lumMod val="95000"/>
                  </a:schemeClr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分水嶺</a:t>
            </a:r>
            <a:endParaRPr lang="en-US" sz="1607">
              <a:solidFill>
                <a:schemeClr val="bg1">
                  <a:lumMod val="95000"/>
                </a:schemeClr>
              </a:solidFill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pic>
        <p:nvPicPr>
          <p:cNvPr id="39" name="Picture 38" descr="A black and white triangle pattern&#10;&#10;Description automatically generated">
            <a:extLst>
              <a:ext uri="{FF2B5EF4-FFF2-40B4-BE49-F238E27FC236}">
                <a16:creationId xmlns:a16="http://schemas.microsoft.com/office/drawing/2014/main" id="{BB9D1107-2CBA-D5CE-4ABC-5DC5D54CF6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9288" y="3231583"/>
            <a:ext cx="1360667" cy="1360667"/>
          </a:xfrm>
          <a:prstGeom prst="rect">
            <a:avLst/>
          </a:prstGeom>
        </p:spPr>
      </p:pic>
      <p:pic>
        <p:nvPicPr>
          <p:cNvPr id="42" name="Picture 41" descr="A close-up of a black and white background&#10;&#10;Description automatically generated">
            <a:extLst>
              <a:ext uri="{FF2B5EF4-FFF2-40B4-BE49-F238E27FC236}">
                <a16:creationId xmlns:a16="http://schemas.microsoft.com/office/drawing/2014/main" id="{B5A45A0F-124E-3ED5-7D21-971B182CC6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2" y="3231583"/>
            <a:ext cx="1360667" cy="136066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DAFD9A3-7119-3D16-7249-7B524489CDC7}"/>
              </a:ext>
            </a:extLst>
          </p:cNvPr>
          <p:cNvSpPr txBox="1"/>
          <p:nvPr/>
        </p:nvSpPr>
        <p:spPr>
          <a:xfrm>
            <a:off x="654041" y="2959481"/>
            <a:ext cx="1509644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7" dirty="0"/>
              <a:t>Prepared image</a:t>
            </a:r>
            <a:endParaRPr lang="en-US" sz="1607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CA0C12-4E9E-B919-962B-322984FCD474}"/>
              </a:ext>
            </a:extLst>
          </p:cNvPr>
          <p:cNvSpPr txBox="1"/>
          <p:nvPr/>
        </p:nvSpPr>
        <p:spPr>
          <a:xfrm>
            <a:off x="2662459" y="2959481"/>
            <a:ext cx="1178400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7" dirty="0"/>
              <a:t>Background</a:t>
            </a:r>
            <a:endParaRPr lang="en-US" sz="1607" dirty="0"/>
          </a:p>
        </p:txBody>
      </p:sp>
      <p:pic>
        <p:nvPicPr>
          <p:cNvPr id="47" name="Picture 46" descr="A black background with white triangles&#10;&#10;Description automatically generated">
            <a:extLst>
              <a:ext uri="{FF2B5EF4-FFF2-40B4-BE49-F238E27FC236}">
                <a16:creationId xmlns:a16="http://schemas.microsoft.com/office/drawing/2014/main" id="{0E807631-A96A-D2A4-DEC6-F5FEE9F2E8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8155" y="3231583"/>
            <a:ext cx="1360667" cy="1360667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860B0F3-9078-BA94-0778-F260A45BA325}"/>
              </a:ext>
            </a:extLst>
          </p:cNvPr>
          <p:cNvSpPr txBox="1"/>
          <p:nvPr/>
        </p:nvSpPr>
        <p:spPr>
          <a:xfrm>
            <a:off x="4062341" y="2959481"/>
            <a:ext cx="1794915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7" dirty="0"/>
              <a:t>Distance Transform</a:t>
            </a:r>
            <a:endParaRPr lang="en-US" sz="1607" dirty="0"/>
          </a:p>
        </p:txBody>
      </p:sp>
      <p:pic>
        <p:nvPicPr>
          <p:cNvPr id="51" name="Picture 50" descr="A black and white background with white triangles&#10;&#10;Description automatically generated">
            <a:extLst>
              <a:ext uri="{FF2B5EF4-FFF2-40B4-BE49-F238E27FC236}">
                <a16:creationId xmlns:a16="http://schemas.microsoft.com/office/drawing/2014/main" id="{7C34C1D8-D00E-8BA3-A6DF-CEBAB5777A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022" y="3231583"/>
            <a:ext cx="1360667" cy="1360667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939FA366-A70C-2581-4049-5296DA20D8D5}"/>
              </a:ext>
            </a:extLst>
          </p:cNvPr>
          <p:cNvSpPr txBox="1"/>
          <p:nvPr/>
        </p:nvSpPr>
        <p:spPr>
          <a:xfrm>
            <a:off x="6076616" y="2959481"/>
            <a:ext cx="1160061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7" dirty="0"/>
              <a:t>Foreground</a:t>
            </a:r>
            <a:endParaRPr lang="en-US" sz="1607" dirty="0"/>
          </a:p>
        </p:txBody>
      </p:sp>
      <p:pic>
        <p:nvPicPr>
          <p:cNvPr id="55" name="Picture 54" descr="A black and white background with triangles&#10;&#10;Description automatically generated">
            <a:extLst>
              <a:ext uri="{FF2B5EF4-FFF2-40B4-BE49-F238E27FC236}">
                <a16:creationId xmlns:a16="http://schemas.microsoft.com/office/drawing/2014/main" id="{4E4C23A3-6B14-34A1-A248-82DA178A69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5888" y="3231583"/>
            <a:ext cx="1360667" cy="1360667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DE44CCBE-1303-A9BB-709E-96D18B3A16BA}"/>
              </a:ext>
            </a:extLst>
          </p:cNvPr>
          <p:cNvSpPr txBox="1"/>
          <p:nvPr/>
        </p:nvSpPr>
        <p:spPr>
          <a:xfrm>
            <a:off x="7948530" y="2959481"/>
            <a:ext cx="991746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7" dirty="0"/>
              <a:t>Unknown</a:t>
            </a:r>
            <a:endParaRPr lang="en-US" sz="1607" dirty="0"/>
          </a:p>
        </p:txBody>
      </p:sp>
      <p:pic>
        <p:nvPicPr>
          <p:cNvPr id="59" name="Picture 58" descr="A black and white triangle pattern&#10;&#10;Description automatically generated">
            <a:extLst>
              <a:ext uri="{FF2B5EF4-FFF2-40B4-BE49-F238E27FC236}">
                <a16:creationId xmlns:a16="http://schemas.microsoft.com/office/drawing/2014/main" id="{2CEE738A-E5D6-75B9-CAD6-B653FD7E9D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755" y="3231583"/>
            <a:ext cx="1360667" cy="1360667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C6C5C94C-1ADC-2333-D9A0-AA6F20B32045}"/>
              </a:ext>
            </a:extLst>
          </p:cNvPr>
          <p:cNvSpPr txBox="1"/>
          <p:nvPr/>
        </p:nvSpPr>
        <p:spPr>
          <a:xfrm>
            <a:off x="9651247" y="2959481"/>
            <a:ext cx="1096390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7" dirty="0"/>
              <a:t>Watershed</a:t>
            </a:r>
            <a:endParaRPr lang="en-US" sz="1607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88227C-BCD4-63C3-A5B1-41649AC21F8B}"/>
              </a:ext>
            </a:extLst>
          </p:cNvPr>
          <p:cNvSpPr txBox="1"/>
          <p:nvPr/>
        </p:nvSpPr>
        <p:spPr>
          <a:xfrm>
            <a:off x="3537499" y="346005"/>
            <a:ext cx="7982901" cy="441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7"/>
              </a:spcAft>
            </a:pPr>
            <a:r>
              <a:rPr lang="en-US" sz="2268" dirty="0"/>
              <a:t>Cut through crystals that sticks together.</a:t>
            </a:r>
          </a:p>
        </p:txBody>
      </p:sp>
      <p:pic>
        <p:nvPicPr>
          <p:cNvPr id="63" name="Picture 62" descr="A black and white triangle pattern&#10;&#10;Description automatically generated">
            <a:extLst>
              <a:ext uri="{FF2B5EF4-FFF2-40B4-BE49-F238E27FC236}">
                <a16:creationId xmlns:a16="http://schemas.microsoft.com/office/drawing/2014/main" id="{6410C7F1-71D8-B3F6-B9D4-8FB015696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12" t="73337" r="39825"/>
          <a:stretch/>
        </p:blipFill>
        <p:spPr>
          <a:xfrm>
            <a:off x="2449288" y="4694299"/>
            <a:ext cx="1360667" cy="1360667"/>
          </a:xfrm>
          <a:prstGeom prst="rect">
            <a:avLst/>
          </a:prstGeom>
        </p:spPr>
      </p:pic>
      <p:pic>
        <p:nvPicPr>
          <p:cNvPr id="64" name="Picture 63" descr="A close-up of a black and white background&#10;&#10;Description automatically generated">
            <a:extLst>
              <a:ext uri="{FF2B5EF4-FFF2-40B4-BE49-F238E27FC236}">
                <a16:creationId xmlns:a16="http://schemas.microsoft.com/office/drawing/2014/main" id="{C637DF0C-5B6D-33AF-AF64-85DA4EA36E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01" t="73333" r="40032"/>
          <a:stretch/>
        </p:blipFill>
        <p:spPr>
          <a:xfrm>
            <a:off x="680422" y="4694299"/>
            <a:ext cx="1360667" cy="1360667"/>
          </a:xfrm>
          <a:prstGeom prst="rect">
            <a:avLst/>
          </a:prstGeom>
        </p:spPr>
      </p:pic>
      <p:pic>
        <p:nvPicPr>
          <p:cNvPr id="65" name="Picture 64" descr="A black background with white triangles&#10;&#10;Description automatically generated">
            <a:extLst>
              <a:ext uri="{FF2B5EF4-FFF2-40B4-BE49-F238E27FC236}">
                <a16:creationId xmlns:a16="http://schemas.microsoft.com/office/drawing/2014/main" id="{6F72342B-5052-091D-682D-25B4EB93A4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69" t="73333" r="40064"/>
          <a:stretch/>
        </p:blipFill>
        <p:spPr>
          <a:xfrm>
            <a:off x="4218155" y="4694299"/>
            <a:ext cx="1360667" cy="1360667"/>
          </a:xfrm>
          <a:prstGeom prst="rect">
            <a:avLst/>
          </a:prstGeom>
        </p:spPr>
      </p:pic>
      <p:pic>
        <p:nvPicPr>
          <p:cNvPr id="66" name="Picture 65" descr="A black and white background with white triangles&#10;&#10;Description automatically generated">
            <a:extLst>
              <a:ext uri="{FF2B5EF4-FFF2-40B4-BE49-F238E27FC236}">
                <a16:creationId xmlns:a16="http://schemas.microsoft.com/office/drawing/2014/main" id="{A50BFD1D-ABAC-7ADA-6F79-786E332AFA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35" t="73343" r="39808"/>
          <a:stretch/>
        </p:blipFill>
        <p:spPr>
          <a:xfrm>
            <a:off x="5987022" y="4694299"/>
            <a:ext cx="1360667" cy="1360667"/>
          </a:xfrm>
          <a:prstGeom prst="rect">
            <a:avLst/>
          </a:prstGeom>
        </p:spPr>
      </p:pic>
      <p:pic>
        <p:nvPicPr>
          <p:cNvPr id="67" name="Picture 66" descr="A black and white background with triangles&#10;&#10;Description automatically generated">
            <a:extLst>
              <a:ext uri="{FF2B5EF4-FFF2-40B4-BE49-F238E27FC236}">
                <a16:creationId xmlns:a16="http://schemas.microsoft.com/office/drawing/2014/main" id="{CCB5F189-E2BA-B57B-745A-4755D82727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01" t="73333" r="40032"/>
          <a:stretch/>
        </p:blipFill>
        <p:spPr>
          <a:xfrm>
            <a:off x="7755888" y="4694299"/>
            <a:ext cx="1360667" cy="1360667"/>
          </a:xfrm>
          <a:prstGeom prst="rect">
            <a:avLst/>
          </a:prstGeom>
        </p:spPr>
      </p:pic>
      <p:pic>
        <p:nvPicPr>
          <p:cNvPr id="68" name="Picture 67" descr="A black and white triangle pattern&#10;&#10;Description automatically generated">
            <a:extLst>
              <a:ext uri="{FF2B5EF4-FFF2-40B4-BE49-F238E27FC236}">
                <a16:creationId xmlns:a16="http://schemas.microsoft.com/office/drawing/2014/main" id="{48F0BB2F-CB85-72D4-7EB8-509274E12A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3" t="73442" r="39599"/>
          <a:stretch/>
        </p:blipFill>
        <p:spPr>
          <a:xfrm>
            <a:off x="9524755" y="4694299"/>
            <a:ext cx="1360667" cy="1360667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CE35EEEC-647A-B117-6F10-DB5845202301}"/>
              </a:ext>
            </a:extLst>
          </p:cNvPr>
          <p:cNvSpPr/>
          <p:nvPr/>
        </p:nvSpPr>
        <p:spPr>
          <a:xfrm>
            <a:off x="-5671145" y="4439175"/>
            <a:ext cx="2041000" cy="2041000"/>
          </a:xfrm>
          <a:prstGeom prst="rect">
            <a:avLst/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</p:spTree>
    <p:extLst>
      <p:ext uri="{BB962C8B-B14F-4D97-AF65-F5344CB8AC3E}">
        <p14:creationId xmlns:p14="http://schemas.microsoft.com/office/powerpoint/2010/main" val="2779188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66B96-AF87-C7A0-2DF1-5B4503EA2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8FD44-604C-FE91-085C-B8403F1F6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52000"/>
            <a:ext cx="3061500" cy="612300"/>
          </a:xfrm>
          <a:solidFill>
            <a:srgbClr val="6414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86402" tIns="43201" rIns="86402" bIns="43201" rtlCol="0" anchor="ctr">
            <a:normAutofit/>
          </a:bodyPr>
          <a:lstStyle/>
          <a:p>
            <a:pPr algn="ctr" defTabSz="432008"/>
            <a:r>
              <a:rPr lang="en-US" sz="2800" dirty="0">
                <a:solidFill>
                  <a:schemeClr val="bg1"/>
                </a:solidFill>
              </a:rPr>
              <a:t> Distance </a:t>
            </a:r>
            <a:r>
              <a:rPr lang="en-US" sz="2800" dirty="0"/>
              <a:t>Transform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553BB-10C2-2C5B-17F8-49F4B5581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255" y="1020506"/>
            <a:ext cx="4854590" cy="312132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134"/>
              </a:spcAft>
              <a:buNone/>
            </a:pPr>
            <a:r>
              <a:rPr lang="en-US" sz="2268" b="1" dirty="0"/>
              <a:t>Distance Transform</a:t>
            </a:r>
            <a:r>
              <a:rPr lang="en-US" sz="2268" dirty="0"/>
              <a:t> applied to a binary image so that:</a:t>
            </a:r>
          </a:p>
          <a:p>
            <a:pPr marL="486009" indent="-486009">
              <a:lnSpc>
                <a:spcPct val="100000"/>
              </a:lnSpc>
              <a:spcBef>
                <a:spcPts val="0"/>
              </a:spcBef>
              <a:spcAft>
                <a:spcPts val="1134"/>
              </a:spcAft>
              <a:buFont typeface="+mj-lt"/>
              <a:buAutoNum type="arabicPeriod"/>
            </a:pPr>
            <a:r>
              <a:rPr lang="en-US" sz="2268" dirty="0"/>
              <a:t>Black (0) regions remain black, representing the background.</a:t>
            </a:r>
          </a:p>
          <a:p>
            <a:pPr marL="486009" indent="-486009">
              <a:lnSpc>
                <a:spcPct val="100000"/>
              </a:lnSpc>
              <a:spcBef>
                <a:spcPts val="0"/>
              </a:spcBef>
              <a:spcAft>
                <a:spcPts val="1134"/>
              </a:spcAft>
              <a:buFont typeface="+mj-lt"/>
              <a:buAutoNum type="arabicPeriod"/>
            </a:pPr>
            <a:r>
              <a:rPr lang="en-US" sz="2268" dirty="0"/>
              <a:t>White (non-zero) regions are transformed so each pixel's value represents the distance (in pixels) to the nearest black (0) pixel.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2C89390-D2A9-A9A7-42CF-75CFCA2B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2026-06-18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856428E-2D5A-2CE9-6130-BF2B124B7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6FCA2C4-4F7B-2559-AF32-BEF204769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12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8A6F86A-EA68-84C0-7449-42DE02689A91}"/>
              </a:ext>
            </a:extLst>
          </p:cNvPr>
          <p:cNvGrpSpPr/>
          <p:nvPr/>
        </p:nvGrpSpPr>
        <p:grpSpPr>
          <a:xfrm>
            <a:off x="-6347025" y="-5422142"/>
            <a:ext cx="24214540" cy="17324459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DB887B7-BB3C-368C-02EA-40FF91213ABC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9D718B0-8C59-C2DA-3AC5-E75C59F886C2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4C8FB57-EC9D-965F-40A1-CE12AC5DC525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FCFF575-C1B3-0258-722A-73EBCFA044CC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9E36A7E-C321-190D-A7A3-63F021AD98EE}"/>
              </a:ext>
            </a:extLst>
          </p:cNvPr>
          <p:cNvSpPr txBox="1"/>
          <p:nvPr/>
        </p:nvSpPr>
        <p:spPr>
          <a:xfrm>
            <a:off x="340255" y="-689162"/>
            <a:ext cx="1702710" cy="58695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7"/>
              <a:t>Dimension:3, 31.8</a:t>
            </a:r>
          </a:p>
          <a:p>
            <a:r>
              <a:rPr lang="en-US" sz="1607"/>
              <a:t>Position: 1, 0.5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02FD65-4ED1-C51A-D564-F22209D205C9}"/>
              </a:ext>
            </a:extLst>
          </p:cNvPr>
          <p:cNvSpPr txBox="1"/>
          <p:nvPr/>
        </p:nvSpPr>
        <p:spPr>
          <a:xfrm>
            <a:off x="1673726" y="-78439"/>
            <a:ext cx="805029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7">
                <a:solidFill>
                  <a:schemeClr val="bg1">
                    <a:lumMod val="95000"/>
                  </a:schemeClr>
                </a:solidFill>
                <a:latin typeface="芫荽" pitchFamily="2" charset="-120"/>
                <a:ea typeface="芫荽" pitchFamily="2" charset="-120"/>
                <a:cs typeface="芫荽" pitchFamily="2" charset="-120"/>
              </a:rPr>
              <a:t>分水嶺</a:t>
            </a:r>
            <a:endParaRPr lang="en-US" sz="1607">
              <a:solidFill>
                <a:schemeClr val="bg1">
                  <a:lumMod val="95000"/>
                </a:schemeClr>
              </a:solidFill>
              <a:latin typeface="芫荽" pitchFamily="2" charset="-120"/>
              <a:ea typeface="芫荽" pitchFamily="2" charset="-120"/>
              <a:cs typeface="芫荽" pitchFamily="2" charset="-120"/>
            </a:endParaRPr>
          </a:p>
        </p:txBody>
      </p:sp>
      <p:pic>
        <p:nvPicPr>
          <p:cNvPr id="26" name="Picture 25" descr="A black background with white dots&#10;&#10;Description automatically generated">
            <a:extLst>
              <a:ext uri="{FF2B5EF4-FFF2-40B4-BE49-F238E27FC236}">
                <a16:creationId xmlns:a16="http://schemas.microsoft.com/office/drawing/2014/main" id="{CD7123B6-AF1A-3FB0-B69A-6FAAC1B154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89" y="511474"/>
            <a:ext cx="2381167" cy="2381167"/>
          </a:xfrm>
          <a:prstGeom prst="rect">
            <a:avLst/>
          </a:prstGeom>
        </p:spPr>
      </p:pic>
      <p:pic>
        <p:nvPicPr>
          <p:cNvPr id="28" name="Picture 27" descr="A black and white polka dot pattern&#10;&#10;Description automatically generated">
            <a:extLst>
              <a:ext uri="{FF2B5EF4-FFF2-40B4-BE49-F238E27FC236}">
                <a16:creationId xmlns:a16="http://schemas.microsoft.com/office/drawing/2014/main" id="{13F15B6F-EF7D-B819-DE2B-00AA4A4D91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737" y="511474"/>
            <a:ext cx="2381167" cy="238116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60BC6F5-4474-6C4F-9967-8CCEAE860DA2}"/>
              </a:ext>
            </a:extLst>
          </p:cNvPr>
          <p:cNvSpPr txBox="1"/>
          <p:nvPr/>
        </p:nvSpPr>
        <p:spPr>
          <a:xfrm>
            <a:off x="6555699" y="5503011"/>
            <a:ext cx="135928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890" dirty="0"/>
              <a:t>Input image</a:t>
            </a:r>
            <a:endParaRPr lang="en-US" sz="189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620D3A-2AF7-EF85-CC07-C65067BD1F43}"/>
              </a:ext>
            </a:extLst>
          </p:cNvPr>
          <p:cNvSpPr txBox="1"/>
          <p:nvPr/>
        </p:nvSpPr>
        <p:spPr>
          <a:xfrm>
            <a:off x="8506411" y="5535616"/>
            <a:ext cx="2581412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890" dirty="0"/>
              <a:t>After distance transform</a:t>
            </a:r>
            <a:endParaRPr lang="en-US" sz="1890" dirty="0"/>
          </a:p>
        </p:txBody>
      </p:sp>
      <p:pic>
        <p:nvPicPr>
          <p:cNvPr id="33" name="Picture 32" descr="A black background with white triangles&#10;&#10;Description automatically generated">
            <a:extLst>
              <a:ext uri="{FF2B5EF4-FFF2-40B4-BE49-F238E27FC236}">
                <a16:creationId xmlns:a16="http://schemas.microsoft.com/office/drawing/2014/main" id="{4A1115B9-9D86-EE4C-F465-31073ECEF1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89" y="3121845"/>
            <a:ext cx="2381167" cy="2381167"/>
          </a:xfrm>
          <a:prstGeom prst="rect">
            <a:avLst/>
          </a:prstGeom>
        </p:spPr>
      </p:pic>
      <p:pic>
        <p:nvPicPr>
          <p:cNvPr id="35" name="Picture 34" descr="A black and white pattern with white dots&#10;&#10;Description automatically generated">
            <a:extLst>
              <a:ext uri="{FF2B5EF4-FFF2-40B4-BE49-F238E27FC236}">
                <a16:creationId xmlns:a16="http://schemas.microsoft.com/office/drawing/2014/main" id="{7A896A31-359C-8262-09F7-D3399C33F4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737" y="3121845"/>
            <a:ext cx="2381167" cy="2381167"/>
          </a:xfrm>
          <a:prstGeom prst="rect">
            <a:avLst/>
          </a:prstGeom>
        </p:spPr>
      </p:pic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70C9982C-D9AF-DED0-E9D2-4C93DB65A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12" y="3995863"/>
            <a:ext cx="5693599" cy="2010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6040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C5233-6861-71D5-33B7-C27CCFDC3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5DBB9-2EAF-40F7-9A1F-C89335110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52000"/>
            <a:ext cx="10800000" cy="612300"/>
          </a:xfrm>
          <a:solidFill>
            <a:srgbClr val="6414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86402" tIns="43201" rIns="86402" bIns="43201" rtlCol="0" anchor="ctr">
            <a:normAutofit/>
          </a:bodyPr>
          <a:lstStyle/>
          <a:p>
            <a:pPr defTabSz="432008"/>
            <a:r>
              <a:rPr lang="en-US" altLang="zh-TW" sz="2800" dirty="0">
                <a:solidFill>
                  <a:schemeClr val="bg1"/>
                </a:solidFill>
              </a:rPr>
              <a:t>Watershed Parameter Adjustments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3B150-291D-A575-870D-ABE371099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255" y="868948"/>
            <a:ext cx="10817300" cy="40466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en-US" sz="1890" dirty="0" err="1"/>
              <a:t>frgd_thrs_ratio</a:t>
            </a:r>
            <a:r>
              <a:rPr lang="en-US" sz="1890" dirty="0"/>
              <a:t> is a parameter between 0 and 1 that controls the erosion from the edge of foreground.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DA52A03-BE1A-43C4-6201-EDC14372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2026-06-18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7528414-1558-38A8-3C58-68E603F22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2EA0F45-C0DF-A37D-8A10-4C02AB6EA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13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23C542-67BB-95C2-97EF-F02EC5E82247}"/>
              </a:ext>
            </a:extLst>
          </p:cNvPr>
          <p:cNvGrpSpPr/>
          <p:nvPr/>
        </p:nvGrpSpPr>
        <p:grpSpPr>
          <a:xfrm>
            <a:off x="-6347025" y="-5422142"/>
            <a:ext cx="24214540" cy="17324459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5171E23-32DB-2DFA-5C8A-7E6077253810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46259F0-C1DE-F1B5-5194-F28506DEEF10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3C4DD22-C594-48D0-12B3-1186B3CBD477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CE270A1-02ED-4D77-E1AE-D2536C6F9F35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B7BD14A-3095-CDBC-C65F-C761D7CAF6F3}"/>
              </a:ext>
            </a:extLst>
          </p:cNvPr>
          <p:cNvSpPr txBox="1"/>
          <p:nvPr/>
        </p:nvSpPr>
        <p:spPr>
          <a:xfrm>
            <a:off x="340255" y="-689162"/>
            <a:ext cx="1702710" cy="58695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7"/>
              <a:t>Dimension:3, 31.8</a:t>
            </a:r>
          </a:p>
          <a:p>
            <a:r>
              <a:rPr lang="en-US" sz="1607"/>
              <a:t>Position: 1, 0.5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CA5C7E-66E9-3869-06B4-23B7811863DB}"/>
              </a:ext>
            </a:extLst>
          </p:cNvPr>
          <p:cNvSpPr txBox="1"/>
          <p:nvPr/>
        </p:nvSpPr>
        <p:spPr>
          <a:xfrm>
            <a:off x="1094018" y="3299705"/>
            <a:ext cx="526106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7" dirty="0">
                <a:solidFill>
                  <a:schemeClr val="accent1"/>
                </a:solidFill>
                <a:latin typeface="Consolas" panose="020B0609020204030204" pitchFamily="49" charset="0"/>
              </a:rPr>
              <a:t>0.3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5420F5A-9B58-8F18-629C-188BDF647EAB}"/>
              </a:ext>
            </a:extLst>
          </p:cNvPr>
          <p:cNvSpPr/>
          <p:nvPr/>
        </p:nvSpPr>
        <p:spPr>
          <a:xfrm>
            <a:off x="1378903" y="7489501"/>
            <a:ext cx="768021" cy="768021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359B0C9-7013-B9BA-B890-FC2AF250532A}"/>
              </a:ext>
            </a:extLst>
          </p:cNvPr>
          <p:cNvSpPr/>
          <p:nvPr/>
        </p:nvSpPr>
        <p:spPr>
          <a:xfrm>
            <a:off x="2213509" y="8071098"/>
            <a:ext cx="768021" cy="768021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AFA2F34-1E07-5B47-F79A-8E9F22ED1024}"/>
              </a:ext>
            </a:extLst>
          </p:cNvPr>
          <p:cNvSpPr/>
          <p:nvPr/>
        </p:nvSpPr>
        <p:spPr>
          <a:xfrm>
            <a:off x="13729326" y="5794655"/>
            <a:ext cx="768021" cy="768021"/>
          </a:xfrm>
          <a:prstGeom prst="ellipse">
            <a:avLst/>
          </a:prstGeom>
          <a:noFill/>
          <a:ln w="63500">
            <a:solidFill>
              <a:srgbClr val="C0000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F15C650-A619-E855-FDE0-CC1E8AB8BAF0}"/>
              </a:ext>
            </a:extLst>
          </p:cNvPr>
          <p:cNvSpPr/>
          <p:nvPr/>
        </p:nvSpPr>
        <p:spPr>
          <a:xfrm>
            <a:off x="12917180" y="5410645"/>
            <a:ext cx="768021" cy="768021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pic>
        <p:nvPicPr>
          <p:cNvPr id="7" name="Picture 6" descr="A black and white background with white dots&#10;&#10;Description automatically generated">
            <a:extLst>
              <a:ext uri="{FF2B5EF4-FFF2-40B4-BE49-F238E27FC236}">
                <a16:creationId xmlns:a16="http://schemas.microsoft.com/office/drawing/2014/main" id="{562BC6EF-E80C-BA19-A171-15F775F71B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6555" y="1258705"/>
            <a:ext cx="2041000" cy="2041000"/>
          </a:xfrm>
          <a:prstGeom prst="rect">
            <a:avLst/>
          </a:prstGeom>
        </p:spPr>
      </p:pic>
      <p:pic>
        <p:nvPicPr>
          <p:cNvPr id="21" name="Picture 20" descr="A black and white background with white spots&#10;&#10;Description automatically generated">
            <a:extLst>
              <a:ext uri="{FF2B5EF4-FFF2-40B4-BE49-F238E27FC236}">
                <a16:creationId xmlns:a16="http://schemas.microsoft.com/office/drawing/2014/main" id="{9B405871-7751-8F56-8BA4-E55AC882BB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55" y="1258705"/>
            <a:ext cx="2041000" cy="2041000"/>
          </a:xfrm>
          <a:prstGeom prst="rect">
            <a:avLst/>
          </a:prstGeom>
        </p:spPr>
      </p:pic>
      <p:pic>
        <p:nvPicPr>
          <p:cNvPr id="23" name="Picture 22" descr="A black and white background with white spots&#10;&#10;Description automatically generated">
            <a:extLst>
              <a:ext uri="{FF2B5EF4-FFF2-40B4-BE49-F238E27FC236}">
                <a16:creationId xmlns:a16="http://schemas.microsoft.com/office/drawing/2014/main" id="{148F3E1A-05BE-D53A-65BB-CA85EC537E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330" y="1258705"/>
            <a:ext cx="2041000" cy="2041000"/>
          </a:xfrm>
          <a:prstGeom prst="rect">
            <a:avLst/>
          </a:prstGeom>
        </p:spPr>
      </p:pic>
      <p:pic>
        <p:nvPicPr>
          <p:cNvPr id="25" name="Picture 24" descr="A black and white background with white dots&#10;&#10;Description automatically generated">
            <a:extLst>
              <a:ext uri="{FF2B5EF4-FFF2-40B4-BE49-F238E27FC236}">
                <a16:creationId xmlns:a16="http://schemas.microsoft.com/office/drawing/2014/main" id="{ED226E41-0567-2B72-60B8-89FF21DABA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405" y="1258705"/>
            <a:ext cx="2041000" cy="2041000"/>
          </a:xfrm>
          <a:prstGeom prst="rect">
            <a:avLst/>
          </a:prstGeom>
        </p:spPr>
      </p:pic>
      <p:pic>
        <p:nvPicPr>
          <p:cNvPr id="27" name="Picture 26" descr="A black and white background with white dots&#10;&#10;Description automatically generated">
            <a:extLst>
              <a:ext uri="{FF2B5EF4-FFF2-40B4-BE49-F238E27FC236}">
                <a16:creationId xmlns:a16="http://schemas.microsoft.com/office/drawing/2014/main" id="{17F44C6C-F61D-9769-0E26-D86D788E88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480" y="1258705"/>
            <a:ext cx="2041000" cy="20410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B58B0D2-71FA-44C9-0662-278EA8649F12}"/>
              </a:ext>
            </a:extLst>
          </p:cNvPr>
          <p:cNvSpPr txBox="1"/>
          <p:nvPr/>
        </p:nvSpPr>
        <p:spPr>
          <a:xfrm>
            <a:off x="3327093" y="3299705"/>
            <a:ext cx="526106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7" dirty="0">
                <a:solidFill>
                  <a:schemeClr val="accent1"/>
                </a:solidFill>
                <a:latin typeface="Consolas" panose="020B0609020204030204" pitchFamily="49" charset="0"/>
              </a:rPr>
              <a:t>0.4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7A2FCE-60C6-CCB6-15C1-A01AB4553F11}"/>
              </a:ext>
            </a:extLst>
          </p:cNvPr>
          <p:cNvSpPr txBox="1"/>
          <p:nvPr/>
        </p:nvSpPr>
        <p:spPr>
          <a:xfrm>
            <a:off x="5482168" y="3299705"/>
            <a:ext cx="526106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7" dirty="0">
                <a:solidFill>
                  <a:schemeClr val="accent1"/>
                </a:solidFill>
                <a:latin typeface="Consolas" panose="020B0609020204030204" pitchFamily="49" charset="0"/>
              </a:rPr>
              <a:t>0.5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122509-A776-9336-5703-6E54E183877F}"/>
              </a:ext>
            </a:extLst>
          </p:cNvPr>
          <p:cNvSpPr txBox="1"/>
          <p:nvPr/>
        </p:nvSpPr>
        <p:spPr>
          <a:xfrm>
            <a:off x="7736050" y="3299705"/>
            <a:ext cx="526106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7" dirty="0">
                <a:solidFill>
                  <a:schemeClr val="accent1"/>
                </a:solidFill>
                <a:latin typeface="Consolas" panose="020B0609020204030204" pitchFamily="49" charset="0"/>
              </a:rPr>
              <a:t>0.6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E139D8-B0DA-7BAA-25E2-D3A730E832F6}"/>
              </a:ext>
            </a:extLst>
          </p:cNvPr>
          <p:cNvSpPr txBox="1"/>
          <p:nvPr/>
        </p:nvSpPr>
        <p:spPr>
          <a:xfrm>
            <a:off x="9870318" y="3299705"/>
            <a:ext cx="526106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7" dirty="0">
                <a:solidFill>
                  <a:schemeClr val="accent1"/>
                </a:solidFill>
                <a:latin typeface="Consolas" panose="020B0609020204030204" pitchFamily="49" charset="0"/>
              </a:rPr>
              <a:t>0.7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0E72EBA-88F9-89A1-49E4-C9B601E8222F}"/>
              </a:ext>
            </a:extLst>
          </p:cNvPr>
          <p:cNvSpPr/>
          <p:nvPr/>
        </p:nvSpPr>
        <p:spPr>
          <a:xfrm>
            <a:off x="10970463" y="2279205"/>
            <a:ext cx="340167" cy="340167"/>
          </a:xfrm>
          <a:prstGeom prst="ellipse">
            <a:avLst/>
          </a:prstGeom>
          <a:noFill/>
          <a:ln w="63500">
            <a:solidFill>
              <a:srgbClr val="C0000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9D04B20-C3C2-C64C-879A-7079F073EAB9}"/>
              </a:ext>
            </a:extLst>
          </p:cNvPr>
          <p:cNvSpPr/>
          <p:nvPr/>
        </p:nvSpPr>
        <p:spPr>
          <a:xfrm>
            <a:off x="1613696" y="2577034"/>
            <a:ext cx="340167" cy="340167"/>
          </a:xfrm>
          <a:prstGeom prst="ellipse">
            <a:avLst/>
          </a:prstGeom>
          <a:noFill/>
          <a:ln w="63500">
            <a:solidFill>
              <a:schemeClr val="accent4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7684AF8-469B-C40F-49D8-E83426903463}"/>
              </a:ext>
            </a:extLst>
          </p:cNvPr>
          <p:cNvSpPr/>
          <p:nvPr/>
        </p:nvSpPr>
        <p:spPr>
          <a:xfrm>
            <a:off x="3807771" y="2577034"/>
            <a:ext cx="340167" cy="340167"/>
          </a:xfrm>
          <a:prstGeom prst="ellipse">
            <a:avLst/>
          </a:prstGeom>
          <a:noFill/>
          <a:ln w="63500">
            <a:solidFill>
              <a:schemeClr val="accent4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792BBD8-4367-A821-4BE9-4C9E61E95CBE}"/>
              </a:ext>
            </a:extLst>
          </p:cNvPr>
          <p:cNvSpPr/>
          <p:nvPr/>
        </p:nvSpPr>
        <p:spPr>
          <a:xfrm>
            <a:off x="3196308" y="2279205"/>
            <a:ext cx="340167" cy="340167"/>
          </a:xfrm>
          <a:prstGeom prst="ellipse">
            <a:avLst/>
          </a:prstGeom>
          <a:noFill/>
          <a:ln w="63500">
            <a:solidFill>
              <a:schemeClr val="accent4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94C1FAC-C214-FBCF-879E-6DEF7B480CFF}"/>
              </a:ext>
            </a:extLst>
          </p:cNvPr>
          <p:cNvSpPr/>
          <p:nvPr/>
        </p:nvSpPr>
        <p:spPr>
          <a:xfrm>
            <a:off x="968010" y="2279205"/>
            <a:ext cx="340167" cy="340167"/>
          </a:xfrm>
          <a:prstGeom prst="ellipse">
            <a:avLst/>
          </a:prstGeom>
          <a:noFill/>
          <a:ln w="63500">
            <a:solidFill>
              <a:schemeClr val="accent4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BA689A2-0514-9D49-9790-31C96D7D4AF7}"/>
              </a:ext>
            </a:extLst>
          </p:cNvPr>
          <p:cNvSpPr/>
          <p:nvPr/>
        </p:nvSpPr>
        <p:spPr>
          <a:xfrm>
            <a:off x="923935" y="1238539"/>
            <a:ext cx="340167" cy="340167"/>
          </a:xfrm>
          <a:prstGeom prst="ellipse">
            <a:avLst/>
          </a:prstGeom>
          <a:noFill/>
          <a:ln w="63500">
            <a:solidFill>
              <a:schemeClr val="accent4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E6998F1-2A1F-B703-EDA5-1B3500D59259}"/>
              </a:ext>
            </a:extLst>
          </p:cNvPr>
          <p:cNvSpPr/>
          <p:nvPr/>
        </p:nvSpPr>
        <p:spPr>
          <a:xfrm>
            <a:off x="8760230" y="2279205"/>
            <a:ext cx="340167" cy="340167"/>
          </a:xfrm>
          <a:prstGeom prst="ellipse">
            <a:avLst/>
          </a:prstGeom>
          <a:noFill/>
          <a:ln w="63500">
            <a:solidFill>
              <a:srgbClr val="C0000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9F5BEEE-F49A-0099-16FD-01F30BA4C190}"/>
              </a:ext>
            </a:extLst>
          </p:cNvPr>
          <p:cNvSpPr/>
          <p:nvPr/>
        </p:nvSpPr>
        <p:spPr>
          <a:xfrm>
            <a:off x="6505776" y="2279205"/>
            <a:ext cx="340167" cy="340167"/>
          </a:xfrm>
          <a:prstGeom prst="ellipse">
            <a:avLst/>
          </a:prstGeom>
          <a:noFill/>
          <a:ln w="63500">
            <a:solidFill>
              <a:srgbClr val="C0000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778D60D-E0F1-1DDB-2AF1-E4D003E9D24A}"/>
              </a:ext>
            </a:extLst>
          </p:cNvPr>
          <p:cNvSpPr/>
          <p:nvPr/>
        </p:nvSpPr>
        <p:spPr>
          <a:xfrm>
            <a:off x="350898" y="4897792"/>
            <a:ext cx="340167" cy="340167"/>
          </a:xfrm>
          <a:prstGeom prst="ellipse">
            <a:avLst/>
          </a:prstGeom>
          <a:noFill/>
          <a:ln w="63500">
            <a:solidFill>
              <a:schemeClr val="accent4">
                <a:alpha val="7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358734-48BA-1024-D5DE-76AA0FFF210D}"/>
              </a:ext>
            </a:extLst>
          </p:cNvPr>
          <p:cNvSpPr txBox="1"/>
          <p:nvPr/>
        </p:nvSpPr>
        <p:spPr>
          <a:xfrm>
            <a:off x="738036" y="4906799"/>
            <a:ext cx="1197379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7" dirty="0"/>
              <a:t>Linked error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A2F4DB1-7AF2-E142-76B9-2881326A60F2}"/>
              </a:ext>
            </a:extLst>
          </p:cNvPr>
          <p:cNvSpPr/>
          <p:nvPr/>
        </p:nvSpPr>
        <p:spPr>
          <a:xfrm>
            <a:off x="350898" y="5309609"/>
            <a:ext cx="340167" cy="340167"/>
          </a:xfrm>
          <a:prstGeom prst="ellipse">
            <a:avLst/>
          </a:prstGeom>
          <a:noFill/>
          <a:ln w="63500">
            <a:solidFill>
              <a:srgbClr val="C0000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7D8AF55-24BF-F02A-80C2-D7AC4D5BAA9A}"/>
              </a:ext>
            </a:extLst>
          </p:cNvPr>
          <p:cNvSpPr txBox="1"/>
          <p:nvPr/>
        </p:nvSpPr>
        <p:spPr>
          <a:xfrm>
            <a:off x="738036" y="5318616"/>
            <a:ext cx="1295419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7" dirty="0"/>
              <a:t>Missing error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4D4E974-4BB2-9599-7D53-FA78B150974C}"/>
              </a:ext>
            </a:extLst>
          </p:cNvPr>
          <p:cNvSpPr/>
          <p:nvPr/>
        </p:nvSpPr>
        <p:spPr>
          <a:xfrm>
            <a:off x="9700235" y="2279205"/>
            <a:ext cx="340167" cy="340167"/>
          </a:xfrm>
          <a:prstGeom prst="ellipse">
            <a:avLst/>
          </a:prstGeom>
          <a:noFill/>
          <a:ln w="63500">
            <a:solidFill>
              <a:srgbClr val="C0000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204F57B-F181-3DFF-514F-76EFBD6596D1}"/>
              </a:ext>
            </a:extLst>
          </p:cNvPr>
          <p:cNvSpPr/>
          <p:nvPr/>
        </p:nvSpPr>
        <p:spPr>
          <a:xfrm>
            <a:off x="9711421" y="1220541"/>
            <a:ext cx="340167" cy="340167"/>
          </a:xfrm>
          <a:prstGeom prst="ellipse">
            <a:avLst/>
          </a:prstGeom>
          <a:noFill/>
          <a:ln w="63500">
            <a:solidFill>
              <a:srgbClr val="C0000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0042855-9CB0-1F6B-24D1-3758E937960B}"/>
              </a:ext>
            </a:extLst>
          </p:cNvPr>
          <p:cNvSpPr/>
          <p:nvPr/>
        </p:nvSpPr>
        <p:spPr>
          <a:xfrm>
            <a:off x="10402941" y="2605518"/>
            <a:ext cx="340167" cy="340167"/>
          </a:xfrm>
          <a:prstGeom prst="ellipse">
            <a:avLst/>
          </a:prstGeom>
          <a:noFill/>
          <a:ln w="63500">
            <a:solidFill>
              <a:srgbClr val="C0000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 dirty="0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2130111-243A-B193-5806-B9C54035B44A}"/>
              </a:ext>
            </a:extLst>
          </p:cNvPr>
          <p:cNvGrpSpPr/>
          <p:nvPr/>
        </p:nvGrpSpPr>
        <p:grpSpPr>
          <a:xfrm>
            <a:off x="3683075" y="3753656"/>
            <a:ext cx="2117538" cy="2346835"/>
            <a:chOff x="-2857882" y="3203357"/>
            <a:chExt cx="2241000" cy="2483667"/>
          </a:xfrm>
        </p:grpSpPr>
        <p:pic>
          <p:nvPicPr>
            <p:cNvPr id="61" name="Picture 60" descr="A black and white background with white dots&#10;&#10;Description automatically generated">
              <a:extLst>
                <a:ext uri="{FF2B5EF4-FFF2-40B4-BE49-F238E27FC236}">
                  <a16:creationId xmlns:a16="http://schemas.microsoft.com/office/drawing/2014/main" id="{39AF207F-86D6-F354-BAE1-1B17965077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857882" y="3203357"/>
              <a:ext cx="2160000" cy="2160000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4B5C07E-6630-0825-272B-09105F483381}"/>
                </a:ext>
              </a:extLst>
            </p:cNvPr>
            <p:cNvSpPr txBox="1"/>
            <p:nvPr/>
          </p:nvSpPr>
          <p:spPr>
            <a:xfrm>
              <a:off x="-2123489" y="5327576"/>
              <a:ext cx="677229" cy="3594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7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0.45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6ECDA15-60BF-DF26-E2DA-07EDF845FECF}"/>
                </a:ext>
              </a:extLst>
            </p:cNvPr>
            <p:cNvSpPr/>
            <p:nvPr/>
          </p:nvSpPr>
          <p:spPr>
            <a:xfrm>
              <a:off x="-1518654" y="4634402"/>
              <a:ext cx="360000" cy="360000"/>
            </a:xfrm>
            <a:prstGeom prst="ellipse">
              <a:avLst/>
            </a:prstGeom>
            <a:noFill/>
            <a:ln w="63500">
              <a:solidFill>
                <a:schemeClr val="accent4">
                  <a:alpha val="7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69BD128E-FD69-A02C-1F96-6015C629986C}"/>
                </a:ext>
              </a:extLst>
            </p:cNvPr>
            <p:cNvSpPr/>
            <p:nvPr/>
          </p:nvSpPr>
          <p:spPr>
            <a:xfrm>
              <a:off x="-976882" y="4248224"/>
              <a:ext cx="360000" cy="360000"/>
            </a:xfrm>
            <a:prstGeom prst="ellipse">
              <a:avLst/>
            </a:prstGeom>
            <a:noFill/>
            <a:ln w="63500">
              <a:solidFill>
                <a:srgbClr val="C00000">
                  <a:alpha val="7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E652A44-5E54-7438-266F-12844674FB65}"/>
              </a:ext>
            </a:extLst>
          </p:cNvPr>
          <p:cNvSpPr txBox="1"/>
          <p:nvPr/>
        </p:nvSpPr>
        <p:spPr>
          <a:xfrm>
            <a:off x="9355097" y="3605980"/>
            <a:ext cx="1615366" cy="834267"/>
          </a:xfrm>
          <a:prstGeom prst="rect">
            <a:avLst/>
          </a:prstGeom>
          <a:solidFill>
            <a:srgbClr val="C00000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607" dirty="0"/>
              <a:t>Too high, some foregrounds are missing.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D5A702-AEB4-B15D-9A86-031615C9ECCC}"/>
              </a:ext>
            </a:extLst>
          </p:cNvPr>
          <p:cNvSpPr txBox="1"/>
          <p:nvPr/>
        </p:nvSpPr>
        <p:spPr>
          <a:xfrm>
            <a:off x="603541" y="3605980"/>
            <a:ext cx="1615366" cy="834267"/>
          </a:xfrm>
          <a:prstGeom prst="rect">
            <a:avLst/>
          </a:prstGeom>
          <a:solidFill>
            <a:schemeClr val="accent4">
              <a:alpha val="2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7" dirty="0"/>
              <a:t>Too small, some foregrounds are linked together.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1D6814-04D3-51CF-059A-B88B375FA497}"/>
              </a:ext>
            </a:extLst>
          </p:cNvPr>
          <p:cNvSpPr txBox="1"/>
          <p:nvPr/>
        </p:nvSpPr>
        <p:spPr>
          <a:xfrm>
            <a:off x="5962617" y="4747915"/>
            <a:ext cx="5092467" cy="1081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0005" indent="-270005">
              <a:buFont typeface="Arial" panose="020B0604020202020204" pitchFamily="34" charset="0"/>
              <a:buChar char="•"/>
            </a:pPr>
            <a:r>
              <a:rPr lang="en-US" sz="1607" dirty="0"/>
              <a:t>It’s hard to find a middle ground that both error won’t occur.</a:t>
            </a:r>
          </a:p>
          <a:p>
            <a:pPr marL="270005" indent="-270005">
              <a:buFont typeface="Arial" panose="020B0604020202020204" pitchFamily="34" charset="0"/>
              <a:buChar char="•"/>
            </a:pPr>
            <a:r>
              <a:rPr lang="en-US" sz="1607" dirty="0"/>
              <a:t>Setting suitable for this image might not be suitable for another image.</a:t>
            </a:r>
          </a:p>
        </p:txBody>
      </p:sp>
    </p:spTree>
    <p:extLst>
      <p:ext uri="{BB962C8B-B14F-4D97-AF65-F5344CB8AC3E}">
        <p14:creationId xmlns:p14="http://schemas.microsoft.com/office/powerpoint/2010/main" val="506791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28374-D5AF-F29A-90D4-9833122CC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1572-AB3C-4064-E489-1094B2AAD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52000"/>
            <a:ext cx="10800000" cy="612300"/>
          </a:xfrm>
          <a:solidFill>
            <a:srgbClr val="6414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86402" tIns="43201" rIns="86402" bIns="43201" rtlCol="0" anchor="ctr">
            <a:normAutofit/>
          </a:bodyPr>
          <a:lstStyle/>
          <a:p>
            <a:pPr defTabSz="432008"/>
            <a:r>
              <a:rPr lang="en-US" altLang="zh-TW" sz="2800" dirty="0">
                <a:solidFill>
                  <a:schemeClr val="bg1"/>
                </a:solidFill>
              </a:rPr>
              <a:t>Watershed Improvement — Add foreground at local maxima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FC5E029-35FB-5FCA-DA06-60682212B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2026-06-18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BDB0FE0-4593-A86F-F9D4-35C7B08B5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0132D29-77C5-EE69-B29E-49F2A558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14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79ED27-0E9A-C3E7-B292-36D7E67B5BFF}"/>
              </a:ext>
            </a:extLst>
          </p:cNvPr>
          <p:cNvGrpSpPr/>
          <p:nvPr/>
        </p:nvGrpSpPr>
        <p:grpSpPr>
          <a:xfrm>
            <a:off x="-6347025" y="-5422142"/>
            <a:ext cx="24214540" cy="17324459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D3D4263-FAD1-3743-0AF0-292EB6BF86F8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BD92A3C-63EB-A83F-F131-7DDF353A25A0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877C942-22AD-55AB-09F6-1828B1A79DD1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C43E1B2-2F8D-378A-900B-0982565D4EFA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FEB5D2B-3B1E-3334-D3B0-3BAB6181745D}"/>
              </a:ext>
            </a:extLst>
          </p:cNvPr>
          <p:cNvSpPr txBox="1"/>
          <p:nvPr/>
        </p:nvSpPr>
        <p:spPr>
          <a:xfrm>
            <a:off x="340255" y="-689162"/>
            <a:ext cx="1702710" cy="58695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7"/>
              <a:t>Dimension:3, 31.8</a:t>
            </a:r>
          </a:p>
          <a:p>
            <a:r>
              <a:rPr lang="en-US" sz="1607"/>
              <a:t>Position: 1, 0.5 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C5D2E7C-0C61-8A9A-4AC6-AD4B02E265A2}"/>
              </a:ext>
            </a:extLst>
          </p:cNvPr>
          <p:cNvSpPr/>
          <p:nvPr/>
        </p:nvSpPr>
        <p:spPr>
          <a:xfrm>
            <a:off x="1378903" y="7489501"/>
            <a:ext cx="768021" cy="768021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1DA452A-B46A-4D81-C25D-1BCDA42F9AB8}"/>
              </a:ext>
            </a:extLst>
          </p:cNvPr>
          <p:cNvSpPr/>
          <p:nvPr/>
        </p:nvSpPr>
        <p:spPr>
          <a:xfrm>
            <a:off x="2213509" y="8071098"/>
            <a:ext cx="768021" cy="768021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A8454EC-2A59-9DEA-E1DF-A01704D30FED}"/>
              </a:ext>
            </a:extLst>
          </p:cNvPr>
          <p:cNvSpPr/>
          <p:nvPr/>
        </p:nvSpPr>
        <p:spPr>
          <a:xfrm>
            <a:off x="13729326" y="5794655"/>
            <a:ext cx="768021" cy="768021"/>
          </a:xfrm>
          <a:prstGeom prst="ellipse">
            <a:avLst/>
          </a:prstGeom>
          <a:noFill/>
          <a:ln w="63500">
            <a:solidFill>
              <a:srgbClr val="C0000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E6B0482-CEE4-BF7E-DBC4-52D0A3428957}"/>
              </a:ext>
            </a:extLst>
          </p:cNvPr>
          <p:cNvSpPr/>
          <p:nvPr/>
        </p:nvSpPr>
        <p:spPr>
          <a:xfrm>
            <a:off x="12917180" y="5410645"/>
            <a:ext cx="768021" cy="768021"/>
          </a:xfrm>
          <a:prstGeom prst="ellipse">
            <a:avLst/>
          </a:prstGeom>
          <a:noFill/>
          <a:ln w="63500">
            <a:solidFill>
              <a:srgbClr val="00B050">
                <a:alpha val="7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42FC0B0-E266-C6CC-515A-E5EFC1E1F107}"/>
              </a:ext>
            </a:extLst>
          </p:cNvPr>
          <p:cNvGrpSpPr/>
          <p:nvPr/>
        </p:nvGrpSpPr>
        <p:grpSpPr>
          <a:xfrm>
            <a:off x="2578416" y="1734391"/>
            <a:ext cx="6363656" cy="4464311"/>
            <a:chOff x="5073313" y="1342400"/>
            <a:chExt cx="6734687" cy="4724602"/>
          </a:xfrm>
        </p:grpSpPr>
        <p:pic>
          <p:nvPicPr>
            <p:cNvPr id="22" name="Picture 21" descr="A black background with white dots&#10;&#10;Description automatically generated">
              <a:extLst>
                <a:ext uri="{FF2B5EF4-FFF2-40B4-BE49-F238E27FC236}">
                  <a16:creationId xmlns:a16="http://schemas.microsoft.com/office/drawing/2014/main" id="{B33FAD09-013B-D306-A5D1-6663D0944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0687" y="1342400"/>
              <a:ext cx="2160000" cy="2160000"/>
            </a:xfrm>
            <a:prstGeom prst="rect">
              <a:avLst/>
            </a:prstGeom>
          </p:spPr>
        </p:pic>
        <p:pic>
          <p:nvPicPr>
            <p:cNvPr id="46" name="Picture 45" descr="A black background with white dots&#10;&#10;Description automatically generated">
              <a:extLst>
                <a:ext uri="{FF2B5EF4-FFF2-40B4-BE49-F238E27FC236}">
                  <a16:creationId xmlns:a16="http://schemas.microsoft.com/office/drawing/2014/main" id="{1ABFB31D-1E84-EE94-02EC-CEADCB1069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48000" y="1342400"/>
              <a:ext cx="2160000" cy="216000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8D33A55-64A7-BC91-4F03-671202CCB9F9}"/>
                </a:ext>
              </a:extLst>
            </p:cNvPr>
            <p:cNvSpPr txBox="1"/>
            <p:nvPr/>
          </p:nvSpPr>
          <p:spPr>
            <a:xfrm>
              <a:off x="7060525" y="5707554"/>
              <a:ext cx="2356866" cy="3594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607" dirty="0"/>
                <a:t>After distance transform</a:t>
              </a:r>
              <a:endParaRPr lang="en-US" sz="1607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90C0082-6095-EAC7-4467-B36BB482E36A}"/>
                </a:ext>
              </a:extLst>
            </p:cNvPr>
            <p:cNvSpPr txBox="1"/>
            <p:nvPr/>
          </p:nvSpPr>
          <p:spPr>
            <a:xfrm>
              <a:off x="5736147" y="5707554"/>
              <a:ext cx="892681" cy="3594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607" dirty="0"/>
                <a:t>Original</a:t>
              </a:r>
              <a:endParaRPr lang="en-US" sz="1607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4AF2218-3EB1-1397-D4E9-106B246FB256}"/>
                </a:ext>
              </a:extLst>
            </p:cNvPr>
            <p:cNvSpPr txBox="1"/>
            <p:nvPr/>
          </p:nvSpPr>
          <p:spPr>
            <a:xfrm>
              <a:off x="9814929" y="5707554"/>
              <a:ext cx="1876155" cy="3594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607" dirty="0"/>
                <a:t>Mark local maxima</a:t>
              </a:r>
              <a:endParaRPr lang="en-US" sz="1607" dirty="0"/>
            </a:p>
          </p:txBody>
        </p:sp>
        <p:pic>
          <p:nvPicPr>
            <p:cNvPr id="67" name="Picture 66" descr="A black background with white triangles&#10;&#10;Description automatically generated">
              <a:extLst>
                <a:ext uri="{FF2B5EF4-FFF2-40B4-BE49-F238E27FC236}">
                  <a16:creationId xmlns:a16="http://schemas.microsoft.com/office/drawing/2014/main" id="{A697EB93-0978-BBA8-48DF-9FB67B7C9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0687" y="3566112"/>
              <a:ext cx="2160000" cy="2160000"/>
            </a:xfrm>
            <a:prstGeom prst="rect">
              <a:avLst/>
            </a:prstGeom>
          </p:spPr>
        </p:pic>
        <p:pic>
          <p:nvPicPr>
            <p:cNvPr id="73" name="Picture 72" descr="A black background with white dots&#10;&#10;Description automatically generated">
              <a:extLst>
                <a:ext uri="{FF2B5EF4-FFF2-40B4-BE49-F238E27FC236}">
                  <a16:creationId xmlns:a16="http://schemas.microsoft.com/office/drawing/2014/main" id="{01131D88-29DE-4C7F-24D4-4C2F62A8D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48000" y="3584348"/>
              <a:ext cx="2160000" cy="2160000"/>
            </a:xfrm>
            <a:prstGeom prst="rect">
              <a:avLst/>
            </a:prstGeom>
          </p:spPr>
        </p:pic>
        <p:pic>
          <p:nvPicPr>
            <p:cNvPr id="76" name="Picture 75" descr="A close-up of a grey speckled surface&#10;&#10;Description automatically generated">
              <a:extLst>
                <a:ext uri="{FF2B5EF4-FFF2-40B4-BE49-F238E27FC236}">
                  <a16:creationId xmlns:a16="http://schemas.microsoft.com/office/drawing/2014/main" id="{9B299D3A-4F0D-8947-FDED-CFFC72748C4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3313" y="1342400"/>
              <a:ext cx="2160000" cy="2160000"/>
            </a:xfrm>
            <a:prstGeom prst="rect">
              <a:avLst/>
            </a:prstGeom>
          </p:spPr>
        </p:pic>
        <p:pic>
          <p:nvPicPr>
            <p:cNvPr id="78" name="Picture 77" descr="A close-up of a white surface with triangles&#10;&#10;Description automatically generated">
              <a:extLst>
                <a:ext uri="{FF2B5EF4-FFF2-40B4-BE49-F238E27FC236}">
                  <a16:creationId xmlns:a16="http://schemas.microsoft.com/office/drawing/2014/main" id="{3D12BD78-8943-E5DB-4DC9-F87090E3D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3313" y="3584348"/>
              <a:ext cx="2160000" cy="216000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93EB061-F2BA-5583-8F08-519C65503C1D}"/>
              </a:ext>
            </a:extLst>
          </p:cNvPr>
          <p:cNvSpPr txBox="1"/>
          <p:nvPr/>
        </p:nvSpPr>
        <p:spPr>
          <a:xfrm>
            <a:off x="340255" y="961866"/>
            <a:ext cx="10817300" cy="586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24006" indent="-324006">
              <a:buFont typeface="Arial" panose="020B0604020202020204" pitchFamily="34" charset="0"/>
              <a:buChar char="•"/>
            </a:pPr>
            <a:r>
              <a:rPr lang="en-US" sz="1607" dirty="0"/>
              <a:t>Move a searching window through the image to find local maximum.</a:t>
            </a:r>
          </a:p>
          <a:p>
            <a:pPr marL="324006" indent="-324006">
              <a:buFont typeface="Arial" panose="020B0604020202020204" pitchFamily="34" charset="0"/>
              <a:buChar char="•"/>
            </a:pPr>
            <a:r>
              <a:rPr lang="en-US" sz="1607" dirty="0"/>
              <a:t>If a maximum is found, mark it with white, so that it will be recognized as a foreground (island) in the later watershed.</a:t>
            </a:r>
          </a:p>
        </p:txBody>
      </p:sp>
    </p:spTree>
    <p:extLst>
      <p:ext uri="{BB962C8B-B14F-4D97-AF65-F5344CB8AC3E}">
        <p14:creationId xmlns:p14="http://schemas.microsoft.com/office/powerpoint/2010/main" val="1252261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252000"/>
            <a:ext cx="5400000" cy="610723"/>
          </a:xfrm>
          <a:solidFill>
            <a:srgbClr val="6414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86402" tIns="43201" rIns="86402" bIns="43201" rtlCol="0" anchor="ctr">
            <a:normAutofit/>
          </a:bodyPr>
          <a:lstStyle/>
          <a:p>
            <a:pPr defTabSz="432008"/>
            <a:r>
              <a:rPr lang="en-US" sz="2800" dirty="0">
                <a:solidFill>
                  <a:schemeClr val="bg1"/>
                </a:solidFill>
              </a:rPr>
              <a:t>Foreground Sharp Edge Smoothing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255" y="850416"/>
            <a:ext cx="5172544" cy="206222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en-US" sz="1890" dirty="0"/>
              <a:t>Some crystal have sharp edge that during foreground extraction, a single crystal will become multiple crystals, causing error in the later watershed.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en-US" altLang="zh-TW" sz="1890" dirty="0"/>
              <a:t>Solution:</a:t>
            </a:r>
            <a:r>
              <a:rPr lang="zh-TW" altLang="en-US" sz="1890" dirty="0"/>
              <a:t> </a:t>
            </a:r>
            <a:r>
              <a:rPr lang="en-US" altLang="zh-TW" sz="1890" dirty="0"/>
              <a:t>Applied edge smooth to the extracted foreground, then proceed watershed.</a:t>
            </a:r>
            <a:endParaRPr lang="en-US" sz="1890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71CF9B-77D8-34AC-467B-90AFE3868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2026-06-18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74C9DD1-4B8E-C92E-EE2B-AAAF9E3EC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B0419B9-C3CE-E05D-CB83-E7A0F9A7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15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7E202D6-0A4F-6CF0-D134-1B663A9BD111}"/>
              </a:ext>
            </a:extLst>
          </p:cNvPr>
          <p:cNvGrpSpPr/>
          <p:nvPr/>
        </p:nvGrpSpPr>
        <p:grpSpPr>
          <a:xfrm>
            <a:off x="-6347025" y="-5422142"/>
            <a:ext cx="24214540" cy="17324459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0F6B5A2-6AC3-ACD1-2C4D-B44B57592A94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417ACA7-B9A4-8366-164D-A595C3B1EF83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ACA93B1-7B0A-9A57-E43F-25392A422A83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0062C23-34C6-4704-9187-2487F176C1AF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4CAFF21-DA00-289B-F415-0DF3A2434C51}"/>
              </a:ext>
            </a:extLst>
          </p:cNvPr>
          <p:cNvSpPr txBox="1"/>
          <p:nvPr/>
        </p:nvSpPr>
        <p:spPr>
          <a:xfrm>
            <a:off x="340255" y="-689162"/>
            <a:ext cx="1702710" cy="58695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7"/>
              <a:t>Dimension:3, 31.8</a:t>
            </a:r>
          </a:p>
          <a:p>
            <a:r>
              <a:rPr lang="en-US" sz="1607"/>
              <a:t>Position: 1, 0.5 </a:t>
            </a:r>
          </a:p>
        </p:txBody>
      </p:sp>
      <p:pic>
        <p:nvPicPr>
          <p:cNvPr id="16" name="Picture 15" descr="A black and white background with triangles&#10;&#10;Description automatically generated">
            <a:extLst>
              <a:ext uri="{FF2B5EF4-FFF2-40B4-BE49-F238E27FC236}">
                <a16:creationId xmlns:a16="http://schemas.microsoft.com/office/drawing/2014/main" id="{6EC609EE-6AB0-79F2-FFE7-4675432BE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572" y="2944662"/>
            <a:ext cx="2721333" cy="2721333"/>
          </a:xfrm>
          <a:prstGeom prst="rect">
            <a:avLst/>
          </a:prstGeom>
          <a:ln>
            <a:noFill/>
          </a:ln>
          <a:effectLst/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FA11019-12A5-E897-2567-718AB409B7A0}"/>
              </a:ext>
            </a:extLst>
          </p:cNvPr>
          <p:cNvGrpSpPr/>
          <p:nvPr/>
        </p:nvGrpSpPr>
        <p:grpSpPr>
          <a:xfrm>
            <a:off x="6029819" y="2232302"/>
            <a:ext cx="5139196" cy="1360667"/>
            <a:chOff x="6381292" y="2362457"/>
            <a:chExt cx="5438836" cy="1440000"/>
          </a:xfrm>
        </p:grpSpPr>
        <p:pic>
          <p:nvPicPr>
            <p:cNvPr id="6" name="Picture 5" descr="A black and white background with triangles&#10;&#10;Description automatically generated">
              <a:extLst>
                <a:ext uri="{FF2B5EF4-FFF2-40B4-BE49-F238E27FC236}">
                  <a16:creationId xmlns:a16="http://schemas.microsoft.com/office/drawing/2014/main" id="{7B9BC321-A614-2A39-FB79-A6797EF92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227" t="46641" r="65673" b="37259"/>
            <a:stretch/>
          </p:blipFill>
          <p:spPr>
            <a:xfrm>
              <a:off x="6381292" y="2362457"/>
              <a:ext cx="1440000" cy="14400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0" name="Picture 19" descr="A black and white background with triangles&#10;&#10;Description automatically generated">
              <a:extLst>
                <a:ext uri="{FF2B5EF4-FFF2-40B4-BE49-F238E27FC236}">
                  <a16:creationId xmlns:a16="http://schemas.microsoft.com/office/drawing/2014/main" id="{45E5BC1D-D0F2-B3D5-53B7-AB2AE5A0E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28" t="54427" r="69103" b="40404"/>
            <a:stretch/>
          </p:blipFill>
          <p:spPr>
            <a:xfrm>
              <a:off x="8081310" y="2362457"/>
              <a:ext cx="1440000" cy="14400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1" name="Picture 20" descr="A black and white triangle pattern&#10;&#10;Description automatically generated">
              <a:extLst>
                <a:ext uri="{FF2B5EF4-FFF2-40B4-BE49-F238E27FC236}">
                  <a16:creationId xmlns:a16="http://schemas.microsoft.com/office/drawing/2014/main" id="{47C0E64B-F84F-D4EB-C343-1DB770CAC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477" t="46703" r="65713" b="37487"/>
            <a:stretch/>
          </p:blipFill>
          <p:spPr>
            <a:xfrm>
              <a:off x="10380128" y="2362457"/>
              <a:ext cx="1440000" cy="1440000"/>
            </a:xfrm>
            <a:prstGeom prst="rect">
              <a:avLst/>
            </a:prstGeom>
            <a:ln>
              <a:noFill/>
            </a:ln>
            <a:effectLst/>
          </p:spPr>
        </p:pic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712F7A3-54BA-3093-B6D9-5413C4D6E3A7}"/>
                </a:ext>
              </a:extLst>
            </p:cNvPr>
            <p:cNvCxnSpPr>
              <a:cxnSpLocks/>
            </p:cNvCxnSpPr>
            <p:nvPr/>
          </p:nvCxnSpPr>
          <p:spPr>
            <a:xfrm>
              <a:off x="9781328" y="3082457"/>
              <a:ext cx="338781" cy="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189CAA8-6B0F-504D-7C23-C44526884737}"/>
              </a:ext>
            </a:extLst>
          </p:cNvPr>
          <p:cNvGrpSpPr/>
          <p:nvPr/>
        </p:nvGrpSpPr>
        <p:grpSpPr>
          <a:xfrm>
            <a:off x="6016062" y="170083"/>
            <a:ext cx="5139196" cy="1360667"/>
            <a:chOff x="6366733" y="180000"/>
            <a:chExt cx="5438836" cy="1440000"/>
          </a:xfrm>
          <a:effectLst/>
        </p:grpSpPr>
        <p:pic>
          <p:nvPicPr>
            <p:cNvPr id="22" name="Picture 21" descr="A black and white triangle pattern&#10;&#10;Description automatically generated">
              <a:extLst>
                <a:ext uri="{FF2B5EF4-FFF2-40B4-BE49-F238E27FC236}">
                  <a16:creationId xmlns:a16="http://schemas.microsoft.com/office/drawing/2014/main" id="{FDD8EFA7-3C2D-83A7-7870-54F4A0341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513" t="81793" r="40677" b="2397"/>
            <a:stretch/>
          </p:blipFill>
          <p:spPr>
            <a:xfrm>
              <a:off x="10365569" y="180000"/>
              <a:ext cx="1440000" cy="14400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3" name="Picture 22" descr="A black and white background with triangles&#10;&#10;Description automatically generated">
              <a:extLst>
                <a:ext uri="{FF2B5EF4-FFF2-40B4-BE49-F238E27FC236}">
                  <a16:creationId xmlns:a16="http://schemas.microsoft.com/office/drawing/2014/main" id="{450B9A35-FF96-7025-610A-10557D0FA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317" t="81459" r="39583" b="2441"/>
            <a:stretch/>
          </p:blipFill>
          <p:spPr>
            <a:xfrm>
              <a:off x="6366733" y="180000"/>
              <a:ext cx="1440000" cy="14400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4" name="Picture 23" descr="A black and white background with triangles&#10;&#10;Description automatically generated">
              <a:extLst>
                <a:ext uri="{FF2B5EF4-FFF2-40B4-BE49-F238E27FC236}">
                  <a16:creationId xmlns:a16="http://schemas.microsoft.com/office/drawing/2014/main" id="{5365BB65-C8ED-C6B4-CF09-FD1F6E0D3B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164" t="88588" r="46667" b="6243"/>
            <a:stretch/>
          </p:blipFill>
          <p:spPr>
            <a:xfrm>
              <a:off x="8066751" y="180000"/>
              <a:ext cx="1440000" cy="1440000"/>
            </a:xfrm>
            <a:prstGeom prst="rect">
              <a:avLst/>
            </a:prstGeom>
            <a:ln>
              <a:noFill/>
            </a:ln>
            <a:effectLst/>
          </p:spPr>
        </p:pic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0A0998E-0C5A-F258-E44B-0B9E85BF981A}"/>
                </a:ext>
              </a:extLst>
            </p:cNvPr>
            <p:cNvCxnSpPr>
              <a:cxnSpLocks/>
            </p:cNvCxnSpPr>
            <p:nvPr/>
          </p:nvCxnSpPr>
          <p:spPr>
            <a:xfrm>
              <a:off x="9766769" y="900000"/>
              <a:ext cx="338781" cy="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578006F-BAF0-D499-6998-E252B709851A}"/>
              </a:ext>
            </a:extLst>
          </p:cNvPr>
          <p:cNvGrpSpPr/>
          <p:nvPr/>
        </p:nvGrpSpPr>
        <p:grpSpPr>
          <a:xfrm>
            <a:off x="6029819" y="4294522"/>
            <a:ext cx="5139196" cy="1360667"/>
            <a:chOff x="6381292" y="4544914"/>
            <a:chExt cx="5438836" cy="1440000"/>
          </a:xfrm>
        </p:grpSpPr>
        <p:pic>
          <p:nvPicPr>
            <p:cNvPr id="29" name="Picture 28" descr="A black and white triangle pattern&#10;&#10;Description automatically generated">
              <a:extLst>
                <a:ext uri="{FF2B5EF4-FFF2-40B4-BE49-F238E27FC236}">
                  <a16:creationId xmlns:a16="http://schemas.microsoft.com/office/drawing/2014/main" id="{72926D6C-CFF1-3E21-C3C9-3988A43CC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77" t="46356" r="65480" b="37002"/>
            <a:stretch/>
          </p:blipFill>
          <p:spPr>
            <a:xfrm>
              <a:off x="10380128" y="4544914"/>
              <a:ext cx="1440000" cy="14400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32" name="Picture 31" descr="A black and white background with triangles&#10;&#10;Description automatically generated">
              <a:extLst>
                <a:ext uri="{FF2B5EF4-FFF2-40B4-BE49-F238E27FC236}">
                  <a16:creationId xmlns:a16="http://schemas.microsoft.com/office/drawing/2014/main" id="{5188DD50-1266-0CC1-0E76-1859F85A3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493" t="46969" r="65397" b="36923"/>
            <a:stretch/>
          </p:blipFill>
          <p:spPr>
            <a:xfrm>
              <a:off x="6381292" y="4544914"/>
              <a:ext cx="1440000" cy="14400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33" name="Picture 32" descr="A black and white background with triangles&#10;&#10;Description automatically generated">
              <a:extLst>
                <a:ext uri="{FF2B5EF4-FFF2-40B4-BE49-F238E27FC236}">
                  <a16:creationId xmlns:a16="http://schemas.microsoft.com/office/drawing/2014/main" id="{2DFBCF5C-D215-95C0-0150-C53A8A65B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70" t="54141" r="69548" b="41177"/>
            <a:stretch/>
          </p:blipFill>
          <p:spPr>
            <a:xfrm>
              <a:off x="8081310" y="4544914"/>
              <a:ext cx="1440000" cy="1440000"/>
            </a:xfrm>
            <a:prstGeom prst="rect">
              <a:avLst/>
            </a:prstGeom>
            <a:ln>
              <a:noFill/>
            </a:ln>
            <a:effectLst/>
          </p:spPr>
        </p:pic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F22F09D4-C3CB-B255-CC3A-A74208A07A81}"/>
                </a:ext>
              </a:extLst>
            </p:cNvPr>
            <p:cNvCxnSpPr>
              <a:cxnSpLocks/>
            </p:cNvCxnSpPr>
            <p:nvPr/>
          </p:nvCxnSpPr>
          <p:spPr>
            <a:xfrm>
              <a:off x="9781328" y="5264914"/>
              <a:ext cx="338781" cy="0"/>
            </a:xfrm>
            <a:prstGeom prst="straightConnector1">
              <a:avLst/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Picture 35" descr="A close-up of a grey triangle&#10;&#10;Description automatically generated">
            <a:extLst>
              <a:ext uri="{FF2B5EF4-FFF2-40B4-BE49-F238E27FC236}">
                <a16:creationId xmlns:a16="http://schemas.microsoft.com/office/drawing/2014/main" id="{3240D470-E7D2-DF91-89F9-F8E5DCB81C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03" y="2944662"/>
            <a:ext cx="2721333" cy="272133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3284A90A-F93B-FB77-B44F-EEA4DEFCF086}"/>
              </a:ext>
            </a:extLst>
          </p:cNvPr>
          <p:cNvSpPr txBox="1"/>
          <p:nvPr/>
        </p:nvSpPr>
        <p:spPr>
          <a:xfrm>
            <a:off x="1238217" y="5697366"/>
            <a:ext cx="631904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7"/>
              <a:t>Input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33F89D-0510-7F01-64C1-25E5A3CCEEC1}"/>
              </a:ext>
            </a:extLst>
          </p:cNvPr>
          <p:cNvSpPr txBox="1"/>
          <p:nvPr/>
        </p:nvSpPr>
        <p:spPr>
          <a:xfrm>
            <a:off x="2942813" y="5697366"/>
            <a:ext cx="2890856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7"/>
              <a:t>Foreground/Background overlay</a:t>
            </a:r>
            <a:endParaRPr lang="en-US" sz="1607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92F461-957A-C3A8-E6BD-727B89158971}"/>
              </a:ext>
            </a:extLst>
          </p:cNvPr>
          <p:cNvSpPr txBox="1"/>
          <p:nvPr/>
        </p:nvSpPr>
        <p:spPr>
          <a:xfrm>
            <a:off x="6896165" y="1542159"/>
            <a:ext cx="1276183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7"/>
              <a:t>Normal case.</a:t>
            </a:r>
            <a:endParaRPr lang="en-US" sz="1607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1A2BEF-1E59-00F9-AACC-6DF9A253F473}"/>
              </a:ext>
            </a:extLst>
          </p:cNvPr>
          <p:cNvSpPr txBox="1"/>
          <p:nvPr/>
        </p:nvSpPr>
        <p:spPr>
          <a:xfrm>
            <a:off x="6807200" y="3582637"/>
            <a:ext cx="1454116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7"/>
              <a:t>This issue case.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249018-CE27-59FD-4638-7BACBC211FAD}"/>
              </a:ext>
            </a:extLst>
          </p:cNvPr>
          <p:cNvSpPr txBox="1"/>
          <p:nvPr/>
        </p:nvSpPr>
        <p:spPr>
          <a:xfrm>
            <a:off x="6739622" y="5639965"/>
            <a:ext cx="1589281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607"/>
              <a:t>Corrected result.</a:t>
            </a:r>
            <a:endParaRPr lang="en-US" sz="1607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3DC4DBE-0143-F50D-22CB-8B349F1AB5DD}"/>
              </a:ext>
            </a:extLst>
          </p:cNvPr>
          <p:cNvSpPr/>
          <p:nvPr/>
        </p:nvSpPr>
        <p:spPr>
          <a:xfrm>
            <a:off x="4270707" y="5200715"/>
            <a:ext cx="383660" cy="383660"/>
          </a:xfrm>
          <a:prstGeom prst="rect">
            <a:avLst/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6836577-85D5-37A0-A711-B89D830B88C8}"/>
              </a:ext>
            </a:extLst>
          </p:cNvPr>
          <p:cNvSpPr/>
          <p:nvPr/>
        </p:nvSpPr>
        <p:spPr>
          <a:xfrm>
            <a:off x="3534509" y="4303481"/>
            <a:ext cx="383660" cy="383660"/>
          </a:xfrm>
          <a:prstGeom prst="rect">
            <a:avLst/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</p:spTree>
    <p:extLst>
      <p:ext uri="{BB962C8B-B14F-4D97-AF65-F5344CB8AC3E}">
        <p14:creationId xmlns:p14="http://schemas.microsoft.com/office/powerpoint/2010/main" val="3602780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60A92-C75A-FE23-2403-A68198D48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F65B38B-0B92-F37E-B769-86E2E2EE2AB7}"/>
              </a:ext>
            </a:extLst>
          </p:cNvPr>
          <p:cNvGrpSpPr/>
          <p:nvPr/>
        </p:nvGrpSpPr>
        <p:grpSpPr>
          <a:xfrm>
            <a:off x="-6347025" y="-5422142"/>
            <a:ext cx="24214540" cy="17324459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DF9ACC1-A6AB-94AC-D912-CC65CB4AC15D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A3CC3B8-9457-640E-35B9-B70CBECE2969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FF7A99-2ED6-5E34-59AC-A9A593C981DF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4FF0AC3-7C2D-1998-F443-88674DFAF469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A97412A-BDB2-5E00-495D-79DB96FB44A4}"/>
              </a:ext>
            </a:extLst>
          </p:cNvPr>
          <p:cNvSpPr txBox="1"/>
          <p:nvPr/>
        </p:nvSpPr>
        <p:spPr>
          <a:xfrm>
            <a:off x="340255" y="-689162"/>
            <a:ext cx="1702710" cy="58695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7"/>
              <a:t>Dimension:3, 31.8</a:t>
            </a:r>
          </a:p>
          <a:p>
            <a:r>
              <a:rPr lang="en-US" sz="1607"/>
              <a:t>Position: 1, 0.5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BA0EE0C-1652-0E17-A93D-B8B054A02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2026-06-18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585AEE64-771A-4E6B-184B-F66943DDE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558E53F-549F-6D71-BFC1-343FD5C19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16</a:t>
            </a:fld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1DD3B64-337E-3D1A-28D5-0B1CD37AC4F2}"/>
              </a:ext>
            </a:extLst>
          </p:cNvPr>
          <p:cNvGrpSpPr/>
          <p:nvPr/>
        </p:nvGrpSpPr>
        <p:grpSpPr>
          <a:xfrm>
            <a:off x="-10942144" y="454192"/>
            <a:ext cx="6709943" cy="2724804"/>
            <a:chOff x="-11580123" y="480674"/>
            <a:chExt cx="7101165" cy="2883673"/>
          </a:xfrm>
        </p:grpSpPr>
        <p:pic>
          <p:nvPicPr>
            <p:cNvPr id="34" name="Picture 33" descr="A close-up of a white surface with triangles&#10;&#10;Description automatically generated">
              <a:extLst>
                <a:ext uri="{FF2B5EF4-FFF2-40B4-BE49-F238E27FC236}">
                  <a16:creationId xmlns:a16="http://schemas.microsoft.com/office/drawing/2014/main" id="{B21D8E8F-5909-43FD-07FB-7C9FD0A91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1580123" y="866203"/>
              <a:ext cx="1440000" cy="1080000"/>
            </a:xfrm>
            <a:prstGeom prst="rect">
              <a:avLst/>
            </a:prstGeom>
          </p:spPr>
        </p:pic>
        <p:pic>
          <p:nvPicPr>
            <p:cNvPr id="35" name="Picture 34" descr="A close-up of triangles&#10;&#10;Description automatically generated">
              <a:extLst>
                <a:ext uri="{FF2B5EF4-FFF2-40B4-BE49-F238E27FC236}">
                  <a16:creationId xmlns:a16="http://schemas.microsoft.com/office/drawing/2014/main" id="{3AC1BBF2-462B-B5C5-3BC7-DA8C37F57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9693068" y="866203"/>
              <a:ext cx="1440000" cy="1080000"/>
            </a:xfrm>
            <a:prstGeom prst="rect">
              <a:avLst/>
            </a:prstGeom>
          </p:spPr>
        </p:pic>
        <p:pic>
          <p:nvPicPr>
            <p:cNvPr id="36" name="Picture 35" descr="A close-up of triangles&#10;&#10;Description automatically generated">
              <a:extLst>
                <a:ext uri="{FF2B5EF4-FFF2-40B4-BE49-F238E27FC236}">
                  <a16:creationId xmlns:a16="http://schemas.microsoft.com/office/drawing/2014/main" id="{CBB01691-A532-1677-D4B3-78BF18C0D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806013" y="866203"/>
              <a:ext cx="1440000" cy="1080000"/>
            </a:xfrm>
            <a:prstGeom prst="rect">
              <a:avLst/>
            </a:prstGeom>
          </p:spPr>
        </p:pic>
        <p:pic>
          <p:nvPicPr>
            <p:cNvPr id="37" name="Picture 36" descr="A black and white pattern of triangles&#10;&#10;Description automatically generated">
              <a:extLst>
                <a:ext uri="{FF2B5EF4-FFF2-40B4-BE49-F238E27FC236}">
                  <a16:creationId xmlns:a16="http://schemas.microsoft.com/office/drawing/2014/main" id="{C41F4F5C-6C7F-2DB9-00B6-2D39333DE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918958" y="866203"/>
              <a:ext cx="1440000" cy="1080000"/>
            </a:xfrm>
            <a:prstGeom prst="rect">
              <a:avLst/>
            </a:prstGeom>
          </p:spPr>
        </p:pic>
        <p:pic>
          <p:nvPicPr>
            <p:cNvPr id="38" name="Picture 37" descr="A close-up of a white surface with triangles&#10;&#10;Description automatically generated">
              <a:extLst>
                <a:ext uri="{FF2B5EF4-FFF2-40B4-BE49-F238E27FC236}">
                  <a16:creationId xmlns:a16="http://schemas.microsoft.com/office/drawing/2014/main" id="{9FE96252-76E9-4A8C-EF36-9B2168E39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56" t="41956" r="41956" b="41956"/>
            <a:stretch/>
          </p:blipFill>
          <p:spPr>
            <a:xfrm>
              <a:off x="-11580123" y="2284347"/>
              <a:ext cx="1440000" cy="1080000"/>
            </a:xfrm>
            <a:prstGeom prst="rect">
              <a:avLst/>
            </a:prstGeom>
          </p:spPr>
        </p:pic>
        <p:pic>
          <p:nvPicPr>
            <p:cNvPr id="39" name="Picture 38" descr="A close-up of triangles&#10;&#10;Description automatically generated">
              <a:extLst>
                <a:ext uri="{FF2B5EF4-FFF2-40B4-BE49-F238E27FC236}">
                  <a16:creationId xmlns:a16="http://schemas.microsoft.com/office/drawing/2014/main" id="{8879917F-14FF-433D-7E01-5C362EB88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22" t="41922" r="41922" b="41922"/>
            <a:stretch/>
          </p:blipFill>
          <p:spPr>
            <a:xfrm>
              <a:off x="-9693068" y="2284347"/>
              <a:ext cx="1440000" cy="1080000"/>
            </a:xfrm>
            <a:prstGeom prst="rect">
              <a:avLst/>
            </a:prstGeom>
          </p:spPr>
        </p:pic>
        <p:pic>
          <p:nvPicPr>
            <p:cNvPr id="40" name="Picture 39" descr="A close-up of triangles&#10;&#10;Description automatically generated">
              <a:extLst>
                <a:ext uri="{FF2B5EF4-FFF2-40B4-BE49-F238E27FC236}">
                  <a16:creationId xmlns:a16="http://schemas.microsoft.com/office/drawing/2014/main" id="{9C9A9034-714A-C83E-2CCA-8FFD8A109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25" t="41925" r="41925" b="41925"/>
            <a:stretch/>
          </p:blipFill>
          <p:spPr>
            <a:xfrm>
              <a:off x="-7806013" y="2284347"/>
              <a:ext cx="1440000" cy="1080000"/>
            </a:xfrm>
            <a:prstGeom prst="rect">
              <a:avLst/>
            </a:prstGeom>
          </p:spPr>
        </p:pic>
        <p:pic>
          <p:nvPicPr>
            <p:cNvPr id="41" name="Picture 40" descr="A black and white pattern of triangles&#10;&#10;Description automatically generated">
              <a:extLst>
                <a:ext uri="{FF2B5EF4-FFF2-40B4-BE49-F238E27FC236}">
                  <a16:creationId xmlns:a16="http://schemas.microsoft.com/office/drawing/2014/main" id="{4E338BC4-1964-DD77-BF9E-C86369A78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932" t="41932" r="41932" b="41932"/>
            <a:stretch/>
          </p:blipFill>
          <p:spPr>
            <a:xfrm>
              <a:off x="-5918958" y="2284347"/>
              <a:ext cx="1440000" cy="108000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D01EF0A-EAB9-ADE5-CBC1-1FC6B0CA3F99}"/>
                </a:ext>
              </a:extLst>
            </p:cNvPr>
            <p:cNvSpPr txBox="1"/>
            <p:nvPr/>
          </p:nvSpPr>
          <p:spPr>
            <a:xfrm>
              <a:off x="-11126465" y="480674"/>
              <a:ext cx="892681" cy="3594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7"/>
                <a:t>Original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EA554F0-B0B7-79DA-31B1-BA8A6A013054}"/>
                </a:ext>
              </a:extLst>
            </p:cNvPr>
            <p:cNvSpPr txBox="1"/>
            <p:nvPr/>
          </p:nvSpPr>
          <p:spPr>
            <a:xfrm>
              <a:off x="-9540630" y="480674"/>
              <a:ext cx="1495130" cy="3594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7"/>
                <a:t>Gentle Blurred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C8E069A-7E95-DC68-F0E2-5D3FDB43CC2C}"/>
                </a:ext>
              </a:extLst>
            </p:cNvPr>
            <p:cNvSpPr txBox="1"/>
            <p:nvPr/>
          </p:nvSpPr>
          <p:spPr>
            <a:xfrm>
              <a:off x="-7761031" y="480674"/>
              <a:ext cx="1710039" cy="3594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7"/>
                <a:t>Gentle Enhanced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FBF00AF-2F4C-7B0D-1208-4482201E468A}"/>
                </a:ext>
              </a:extLst>
            </p:cNvPr>
            <p:cNvSpPr txBox="1"/>
            <p:nvPr/>
          </p:nvSpPr>
          <p:spPr>
            <a:xfrm>
              <a:off x="-5534590" y="480674"/>
              <a:ext cx="1018424" cy="3594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7"/>
                <a:t>Binarized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681E2BC6-A9BD-5C96-AC4E-195299ECC1FE}"/>
              </a:ext>
            </a:extLst>
          </p:cNvPr>
          <p:cNvSpPr txBox="1"/>
          <p:nvPr/>
        </p:nvSpPr>
        <p:spPr>
          <a:xfrm>
            <a:off x="306239" y="1289103"/>
            <a:ext cx="6396576" cy="1110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0005" indent="-270005">
              <a:buFont typeface="Arial" panose="020B0604020202020204" pitchFamily="34" charset="0"/>
              <a:buChar char="•"/>
            </a:pPr>
            <a:r>
              <a:rPr lang="en-US" sz="1323"/>
              <a:t>(a) Image process: Crop, enlarge, blur, enhance, and watershed.</a:t>
            </a:r>
          </a:p>
          <a:p>
            <a:pPr marL="270005" indent="-270005">
              <a:buFont typeface="Arial" panose="020B0604020202020204" pitchFamily="34" charset="0"/>
              <a:buChar char="•"/>
            </a:pPr>
            <a:r>
              <a:rPr lang="en-US" sz="1323"/>
              <a:t>(b) Before segmenting (last of image process).</a:t>
            </a:r>
          </a:p>
          <a:p>
            <a:pPr marL="270005" indent="-270005">
              <a:buFont typeface="Arial" panose="020B0604020202020204" pitchFamily="34" charset="0"/>
              <a:buChar char="•"/>
            </a:pPr>
            <a:r>
              <a:rPr lang="en-US" sz="1323"/>
              <a:t>(c) Segmentation result (layer by layer).</a:t>
            </a:r>
          </a:p>
          <a:p>
            <a:pPr marL="270005" indent="-270005">
              <a:buFont typeface="Arial" panose="020B0604020202020204" pitchFamily="34" charset="0"/>
              <a:buChar char="•"/>
            </a:pPr>
            <a:r>
              <a:rPr lang="en-US" sz="1323"/>
              <a:t>(d) Segmentation result (overlap).</a:t>
            </a:r>
          </a:p>
          <a:p>
            <a:pPr marL="270005" indent="-270005">
              <a:buFont typeface="Arial" panose="020B0604020202020204" pitchFamily="34" charset="0"/>
              <a:buChar char="•"/>
            </a:pPr>
            <a:r>
              <a:rPr lang="en-US" sz="1323"/>
              <a:t>(e) </a:t>
            </a:r>
            <a:r>
              <a:rPr lang="en-US" sz="1323" err="1"/>
              <a:t>Precessing</a:t>
            </a:r>
            <a:r>
              <a:rPr lang="en-US" sz="1323"/>
              <a:t> terminal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2F1EEE5-146D-A170-8380-C972705D2854}"/>
              </a:ext>
            </a:extLst>
          </p:cNvPr>
          <p:cNvSpPr txBox="1">
            <a:spLocks/>
          </p:cNvSpPr>
          <p:nvPr/>
        </p:nvSpPr>
        <p:spPr>
          <a:xfrm>
            <a:off x="360000" y="180000"/>
            <a:ext cx="10800000" cy="972000"/>
          </a:xfrm>
          <a:prstGeom prst="rect">
            <a:avLst/>
          </a:prstGeom>
          <a:solidFill>
            <a:srgbClr val="6414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86402" tIns="43201" rIns="86402" bIns="43201" rtlCol="0" anchor="ctr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altLang="zh-TW" sz="3200" dirty="0"/>
              <a:t>Segmentation</a:t>
            </a:r>
            <a:br>
              <a:rPr lang="en-US" sz="2268" dirty="0"/>
            </a:br>
            <a:r>
              <a:rPr lang="en-US" sz="2000" dirty="0"/>
              <a:t>Approach with more reliable traditional segmentation process.</a:t>
            </a:r>
            <a:endParaRPr lang="en-US" sz="2268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9EB0220-0662-F631-364A-611AD143A248}"/>
              </a:ext>
            </a:extLst>
          </p:cNvPr>
          <p:cNvGrpSpPr/>
          <p:nvPr/>
        </p:nvGrpSpPr>
        <p:grpSpPr>
          <a:xfrm>
            <a:off x="394560" y="2430373"/>
            <a:ext cx="4974252" cy="3501910"/>
            <a:chOff x="417470" y="2775797"/>
            <a:chExt cx="5264275" cy="3706088"/>
          </a:xfrm>
        </p:grpSpPr>
        <p:pic>
          <p:nvPicPr>
            <p:cNvPr id="4" name="Picture 3" descr="A black background with white triangles&#10;&#10;Description automatically generated">
              <a:extLst>
                <a:ext uri="{FF2B5EF4-FFF2-40B4-BE49-F238E27FC236}">
                  <a16:creationId xmlns:a16="http://schemas.microsoft.com/office/drawing/2014/main" id="{F480814B-82B1-E0BA-F3A5-9D9EE17F0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600" y="3704065"/>
              <a:ext cx="1440000" cy="14400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40C7835B-FDF1-5F80-57D3-4665F2CC0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0600" y="5371780"/>
              <a:ext cx="1800000" cy="1110105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CAD2412-FF0C-3EDB-E7E8-7FAA211DB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39396" y="2787938"/>
              <a:ext cx="4320000" cy="765422"/>
            </a:xfrm>
            <a:prstGeom prst="rect">
              <a:avLst/>
            </a:prstGeom>
          </p:spPr>
        </p:pic>
        <p:pic>
          <p:nvPicPr>
            <p:cNvPr id="6" name="Picture 5" descr="A screenshot of a computer screen&#10;&#10;Description automatically generated">
              <a:extLst>
                <a:ext uri="{FF2B5EF4-FFF2-40B4-BE49-F238E27FC236}">
                  <a16:creationId xmlns:a16="http://schemas.microsoft.com/office/drawing/2014/main" id="{6079F48B-C108-6F02-0A8C-C287BD8F6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01745" y="3601885"/>
              <a:ext cx="2880000" cy="288000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515A542-973E-5E6B-2833-F2199F62C8A6}"/>
                </a:ext>
              </a:extLst>
            </p:cNvPr>
            <p:cNvSpPr txBox="1"/>
            <p:nvPr/>
          </p:nvSpPr>
          <p:spPr>
            <a:xfrm>
              <a:off x="423080" y="2775797"/>
              <a:ext cx="432938" cy="3594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607"/>
                <a:t>(a)</a:t>
              </a:r>
              <a:endParaRPr lang="en-US" sz="1607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D303A0E-4EDC-EFA7-6348-890A3295F831}"/>
                </a:ext>
              </a:extLst>
            </p:cNvPr>
            <p:cNvSpPr txBox="1"/>
            <p:nvPr/>
          </p:nvSpPr>
          <p:spPr>
            <a:xfrm>
              <a:off x="417470" y="3661890"/>
              <a:ext cx="443116" cy="3594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607"/>
                <a:t>(b)</a:t>
              </a:r>
              <a:endParaRPr lang="en-US" sz="1607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425BA08-00CB-29C7-1D1F-077FD0ED8B8D}"/>
                </a:ext>
              </a:extLst>
            </p:cNvPr>
            <p:cNvSpPr txBox="1"/>
            <p:nvPr/>
          </p:nvSpPr>
          <p:spPr>
            <a:xfrm>
              <a:off x="429492" y="5371780"/>
              <a:ext cx="423513" cy="359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7"/>
                <a:t>(c)</a:t>
              </a:r>
              <a:endParaRPr lang="en-US" sz="1607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48D63D4-7B64-9746-3CB6-277604D8B6ED}"/>
                </a:ext>
              </a:extLst>
            </p:cNvPr>
            <p:cNvSpPr txBox="1"/>
            <p:nvPr/>
          </p:nvSpPr>
          <p:spPr>
            <a:xfrm>
              <a:off x="2378843" y="3661890"/>
              <a:ext cx="423513" cy="359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7"/>
                <a:t>(d)</a:t>
              </a:r>
              <a:endParaRPr lang="en-US" sz="1607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B5EFAE7C-D016-CE05-F079-E2258806741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73572"/>
          <a:stretch/>
        </p:blipFill>
        <p:spPr>
          <a:xfrm>
            <a:off x="6947185" y="5328918"/>
            <a:ext cx="3401667" cy="8497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BD490EE-CFEE-F094-2F2B-B9CFC7B67CF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51129" y="4207478"/>
            <a:ext cx="3401667" cy="111327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C022101-987E-A824-0D18-8D880C3F5F2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07020" y="1371861"/>
            <a:ext cx="4282754" cy="2721333"/>
          </a:xfrm>
          <a:prstGeom prst="rect">
            <a:avLst/>
          </a:prstGeom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E0FAE1D-C0A9-07E9-A1A1-AAC2135EC4EC}"/>
              </a:ext>
            </a:extLst>
          </p:cNvPr>
          <p:cNvSpPr/>
          <p:nvPr/>
        </p:nvSpPr>
        <p:spPr>
          <a:xfrm>
            <a:off x="6702814" y="2941872"/>
            <a:ext cx="2891417" cy="238117"/>
          </a:xfrm>
          <a:prstGeom prst="roundRect">
            <a:avLst/>
          </a:prstGeom>
          <a:noFill/>
          <a:ln w="38100">
            <a:solidFill>
              <a:schemeClr val="accent4"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A382462-57CA-A5F8-3CBB-106BBB69DB90}"/>
              </a:ext>
            </a:extLst>
          </p:cNvPr>
          <p:cNvSpPr/>
          <p:nvPr/>
        </p:nvSpPr>
        <p:spPr>
          <a:xfrm>
            <a:off x="6702814" y="1925257"/>
            <a:ext cx="3571750" cy="238117"/>
          </a:xfrm>
          <a:prstGeom prst="roundRect">
            <a:avLst/>
          </a:prstGeom>
          <a:noFill/>
          <a:ln w="38100">
            <a:solidFill>
              <a:schemeClr val="accent4"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19985B3-0F73-DDC4-B2A3-472E3355BC14}"/>
              </a:ext>
            </a:extLst>
          </p:cNvPr>
          <p:cNvSpPr/>
          <p:nvPr/>
        </p:nvSpPr>
        <p:spPr>
          <a:xfrm>
            <a:off x="6702814" y="3334009"/>
            <a:ext cx="2891417" cy="238117"/>
          </a:xfrm>
          <a:prstGeom prst="roundRect">
            <a:avLst/>
          </a:prstGeom>
          <a:noFill/>
          <a:ln w="38100">
            <a:solidFill>
              <a:schemeClr val="accent4"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8B3B56-BF0B-5F43-562B-2B93B5B287D7}"/>
              </a:ext>
            </a:extLst>
          </p:cNvPr>
          <p:cNvSpPr txBox="1"/>
          <p:nvPr/>
        </p:nvSpPr>
        <p:spPr>
          <a:xfrm>
            <a:off x="6206837" y="1311493"/>
            <a:ext cx="400182" cy="339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7"/>
              <a:t>(e)</a:t>
            </a:r>
            <a:endParaRPr lang="en-US" sz="1607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FF7E684-8224-D359-C865-CF70F842912A}"/>
              </a:ext>
            </a:extLst>
          </p:cNvPr>
          <p:cNvSpPr txBox="1"/>
          <p:nvPr/>
        </p:nvSpPr>
        <p:spPr>
          <a:xfrm>
            <a:off x="6206837" y="4181329"/>
            <a:ext cx="400182" cy="339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7"/>
              <a:t>(f)</a:t>
            </a:r>
            <a:endParaRPr lang="en-US" sz="1607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43F49BF-427A-9F21-E566-87CA8D19FA0D}"/>
              </a:ext>
            </a:extLst>
          </p:cNvPr>
          <p:cNvSpPr txBox="1"/>
          <p:nvPr/>
        </p:nvSpPr>
        <p:spPr>
          <a:xfrm>
            <a:off x="6206837" y="5328919"/>
            <a:ext cx="400182" cy="339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7"/>
              <a:t>(g)</a:t>
            </a:r>
            <a:endParaRPr lang="en-US" sz="1607"/>
          </a:p>
        </p:txBody>
      </p:sp>
    </p:spTree>
    <p:extLst>
      <p:ext uri="{BB962C8B-B14F-4D97-AF65-F5344CB8AC3E}">
        <p14:creationId xmlns:p14="http://schemas.microsoft.com/office/powerpoint/2010/main" val="1958726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69DF3-E0E5-56CB-7FDC-F821A6690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DD69F-E3FD-3646-4DF0-7DA30BA11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83" y="180047"/>
            <a:ext cx="10799834" cy="612000"/>
          </a:xfrm>
          <a:solidFill>
            <a:srgbClr val="6414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86402" tIns="43201" rIns="86402" bIns="43201" rtlCol="0" anchor="ctr">
            <a:normAutofit/>
          </a:bodyPr>
          <a:lstStyle/>
          <a:p>
            <a:pPr defTabSz="432008"/>
            <a:r>
              <a:rPr lang="en-US" sz="2800" dirty="0">
                <a:solidFill>
                  <a:schemeClr val="bg1"/>
                </a:solidFill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6D849-B6C4-8457-19B6-8295CC83B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83" y="924095"/>
            <a:ext cx="10799834" cy="48599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en-US" sz="189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the watershed function to better adapt to SEM images in various condition.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en-US" sz="189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Obtain device data from Jiadi or Yixuan to correlate the numerical representations of SEM images with device performance.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en-US" sz="189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Conduct literature research on the feasibility of using machine learning models to embed SEM images into dense array representations.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7841A7D-5497-B532-B53D-1161ECEB7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2026-06-18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7C6E94E-1D07-B847-6AAE-4DC9D3EA1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BB36652-4432-0DAF-7135-01F55839D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17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700219F-82A5-22D2-3CF7-043A53DD204B}"/>
              </a:ext>
            </a:extLst>
          </p:cNvPr>
          <p:cNvGrpSpPr/>
          <p:nvPr/>
        </p:nvGrpSpPr>
        <p:grpSpPr>
          <a:xfrm>
            <a:off x="-6346841" y="-5422008"/>
            <a:ext cx="24214169" cy="17324194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F0498A4-CBAD-1997-F54D-3BA52B31234E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A0C3946-96CA-26C8-D87D-599F01CF0C16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AC07BF4-2E7C-D88F-D303-93455D0E78C4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F74AFF6-0135-FD33-308F-9AF21C046428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BB5EFD7-7F0A-FE73-0F35-4747D815E39C}"/>
              </a:ext>
            </a:extLst>
          </p:cNvPr>
          <p:cNvSpPr txBox="1"/>
          <p:nvPr/>
        </p:nvSpPr>
        <p:spPr>
          <a:xfrm>
            <a:off x="340338" y="-689152"/>
            <a:ext cx="1702710" cy="58695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7" dirty="0"/>
              <a:t>Dimension:3, 31.8</a:t>
            </a:r>
          </a:p>
          <a:p>
            <a:r>
              <a:rPr lang="en-US" sz="1607" dirty="0"/>
              <a:t>Position: 1, 0.5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77A74F-5E6A-0BD3-0598-D39A45AF6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717341"/>
              </p:ext>
            </p:extLst>
          </p:nvPr>
        </p:nvGraphicFramePr>
        <p:xfrm>
          <a:off x="12369754" y="4504964"/>
          <a:ext cx="5760065" cy="1401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13">
                  <a:extLst>
                    <a:ext uri="{9D8B030D-6E8A-4147-A177-3AD203B41FA5}">
                      <a16:colId xmlns:a16="http://schemas.microsoft.com/office/drawing/2014/main" val="1975252933"/>
                    </a:ext>
                  </a:extLst>
                </a:gridCol>
                <a:gridCol w="1152013">
                  <a:extLst>
                    <a:ext uri="{9D8B030D-6E8A-4147-A177-3AD203B41FA5}">
                      <a16:colId xmlns:a16="http://schemas.microsoft.com/office/drawing/2014/main" val="3380365447"/>
                    </a:ext>
                  </a:extLst>
                </a:gridCol>
                <a:gridCol w="1152013">
                  <a:extLst>
                    <a:ext uri="{9D8B030D-6E8A-4147-A177-3AD203B41FA5}">
                      <a16:colId xmlns:a16="http://schemas.microsoft.com/office/drawing/2014/main" val="26023873"/>
                    </a:ext>
                  </a:extLst>
                </a:gridCol>
                <a:gridCol w="1152013">
                  <a:extLst>
                    <a:ext uri="{9D8B030D-6E8A-4147-A177-3AD203B41FA5}">
                      <a16:colId xmlns:a16="http://schemas.microsoft.com/office/drawing/2014/main" val="1205151710"/>
                    </a:ext>
                  </a:extLst>
                </a:gridCol>
                <a:gridCol w="1152013">
                  <a:extLst>
                    <a:ext uri="{9D8B030D-6E8A-4147-A177-3AD203B41FA5}">
                      <a16:colId xmlns:a16="http://schemas.microsoft.com/office/drawing/2014/main" val="1264263810"/>
                    </a:ext>
                  </a:extLst>
                </a:gridCol>
              </a:tblGrid>
              <a:tr h="350404"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159311"/>
                  </a:ext>
                </a:extLst>
              </a:tr>
              <a:tr h="350404"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317047"/>
                  </a:ext>
                </a:extLst>
              </a:tr>
              <a:tr h="350404"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411305"/>
                  </a:ext>
                </a:extLst>
              </a:tr>
              <a:tr h="350404"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138585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4F8E5B79-B9B5-B0FF-6521-6F664CB2BFF8}"/>
              </a:ext>
            </a:extLst>
          </p:cNvPr>
          <p:cNvGrpSpPr/>
          <p:nvPr/>
        </p:nvGrpSpPr>
        <p:grpSpPr>
          <a:xfrm>
            <a:off x="858918" y="2419672"/>
            <a:ext cx="9802653" cy="3486907"/>
            <a:chOff x="1281512" y="1863194"/>
            <a:chExt cx="10374194" cy="369021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DA5A108-780A-4657-AA8F-4A697212930A}"/>
                </a:ext>
              </a:extLst>
            </p:cNvPr>
            <p:cNvSpPr/>
            <p:nvPr/>
          </p:nvSpPr>
          <p:spPr>
            <a:xfrm>
              <a:off x="1281512" y="2296438"/>
              <a:ext cx="2160000" cy="396000"/>
            </a:xfrm>
            <a:prstGeom prst="roundRect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90" b="1" dirty="0">
                  <a:solidFill>
                    <a:schemeClr val="tx1"/>
                  </a:solidFill>
                </a:rPr>
                <a:t>Recipe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532BA3E-CE51-95CB-3CA3-23A24D9A3D94}"/>
                </a:ext>
              </a:extLst>
            </p:cNvPr>
            <p:cNvGrpSpPr/>
            <p:nvPr/>
          </p:nvGrpSpPr>
          <p:grpSpPr>
            <a:xfrm>
              <a:off x="2115599" y="2636059"/>
              <a:ext cx="1800000" cy="432000"/>
              <a:chOff x="2103474" y="2128175"/>
              <a:chExt cx="1800000" cy="432000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9C3CE57-7C0D-7DC4-0AC1-DA4106E2C3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3474" y="2236175"/>
                <a:ext cx="0" cy="216000"/>
              </a:xfrm>
              <a:prstGeom prst="line">
                <a:avLst/>
              </a:prstGeom>
              <a:ln w="50800">
                <a:solidFill>
                  <a:srgbClr val="C2C0BF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4FD8BCCB-6A80-CF9F-7B09-40A11C2E9863}"/>
                  </a:ext>
                </a:extLst>
              </p:cNvPr>
              <p:cNvSpPr/>
              <p:nvPr/>
            </p:nvSpPr>
            <p:spPr>
              <a:xfrm>
                <a:off x="2103474" y="2128175"/>
                <a:ext cx="1800000" cy="43200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512" dirty="0">
                    <a:solidFill>
                      <a:schemeClr val="tx1"/>
                    </a:solidFill>
                  </a:rPr>
                  <a:t>Synthesis</a:t>
                </a:r>
                <a:endParaRPr lang="en-US" sz="1512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8FBF222-8F36-9F22-8A3D-C90B63675607}"/>
                </a:ext>
              </a:extLst>
            </p:cNvPr>
            <p:cNvSpPr/>
            <p:nvPr/>
          </p:nvSpPr>
          <p:spPr>
            <a:xfrm>
              <a:off x="1281512" y="3011680"/>
              <a:ext cx="2160000" cy="396000"/>
            </a:xfrm>
            <a:prstGeom prst="roundRect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90" b="1" dirty="0">
                  <a:solidFill>
                    <a:schemeClr val="tx1"/>
                  </a:solidFill>
                </a:rPr>
                <a:t>Sample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8EBAE5C-0245-D4B9-F785-DAAF33AD54A5}"/>
                </a:ext>
              </a:extLst>
            </p:cNvPr>
            <p:cNvSpPr/>
            <p:nvPr/>
          </p:nvSpPr>
          <p:spPr>
            <a:xfrm>
              <a:off x="1281512" y="3726922"/>
              <a:ext cx="2160000" cy="396000"/>
            </a:xfrm>
            <a:prstGeom prst="roundRect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890" b="1" dirty="0">
                  <a:solidFill>
                    <a:schemeClr val="tx1"/>
                  </a:solidFill>
                </a:rPr>
                <a:t>SEM</a:t>
              </a:r>
              <a:r>
                <a:rPr lang="zh-TW" altLang="en-US" sz="1890" b="1" dirty="0">
                  <a:solidFill>
                    <a:schemeClr val="tx1"/>
                  </a:solidFill>
                </a:rPr>
                <a:t> </a:t>
              </a:r>
              <a:r>
                <a:rPr lang="en-US" altLang="zh-TW" sz="1890" b="1" dirty="0">
                  <a:solidFill>
                    <a:schemeClr val="tx1"/>
                  </a:solidFill>
                </a:rPr>
                <a:t>Image</a:t>
              </a:r>
              <a:endParaRPr lang="en-US" sz="1890" b="1" dirty="0">
                <a:solidFill>
                  <a:schemeClr val="tx1"/>
                </a:solidFill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BB52ADB-32C0-F81E-9F6C-1C076E951C1E}"/>
                </a:ext>
              </a:extLst>
            </p:cNvPr>
            <p:cNvGrpSpPr/>
            <p:nvPr/>
          </p:nvGrpSpPr>
          <p:grpSpPr>
            <a:xfrm>
              <a:off x="2115599" y="3351301"/>
              <a:ext cx="1800000" cy="432000"/>
              <a:chOff x="2103474" y="3136175"/>
              <a:chExt cx="1800000" cy="432000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69073315-9634-30D2-10CA-971524457AAD}"/>
                  </a:ext>
                </a:extLst>
              </p:cNvPr>
              <p:cNvSpPr/>
              <p:nvPr/>
            </p:nvSpPr>
            <p:spPr>
              <a:xfrm>
                <a:off x="2103474" y="3136175"/>
                <a:ext cx="1800000" cy="43200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512" dirty="0">
                    <a:solidFill>
                      <a:schemeClr val="tx1"/>
                    </a:solidFill>
                  </a:rPr>
                  <a:t>Characterization</a:t>
                </a:r>
                <a:endParaRPr lang="en-US" sz="1512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1D2A36D-73B0-2AA1-32D0-86A89964D1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3474" y="3244175"/>
                <a:ext cx="0" cy="216000"/>
              </a:xfrm>
              <a:prstGeom prst="line">
                <a:avLst/>
              </a:prstGeom>
              <a:ln w="50800">
                <a:solidFill>
                  <a:srgbClr val="C2C0BF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4FD381DA-4C20-38EB-7E43-BFC16A14691A}"/>
                </a:ext>
              </a:extLst>
            </p:cNvPr>
            <p:cNvSpPr/>
            <p:nvPr/>
          </p:nvSpPr>
          <p:spPr>
            <a:xfrm>
              <a:off x="1281512" y="4442164"/>
              <a:ext cx="2160000" cy="396000"/>
            </a:xfrm>
            <a:prstGeom prst="roundRect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90" b="1" dirty="0">
                  <a:solidFill>
                    <a:schemeClr val="tx1"/>
                  </a:solidFill>
                </a:rPr>
                <a:t>Device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99D9A29-7E8D-DF06-FCD6-4F5688D4DBC8}"/>
                </a:ext>
              </a:extLst>
            </p:cNvPr>
            <p:cNvGrpSpPr/>
            <p:nvPr/>
          </p:nvGrpSpPr>
          <p:grpSpPr>
            <a:xfrm>
              <a:off x="2115599" y="4066543"/>
              <a:ext cx="1800000" cy="432000"/>
              <a:chOff x="2103474" y="4144175"/>
              <a:chExt cx="1800000" cy="432000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F9166AC0-4B3D-8237-1C4C-36B3DF042210}"/>
                  </a:ext>
                </a:extLst>
              </p:cNvPr>
              <p:cNvSpPr/>
              <p:nvPr/>
            </p:nvSpPr>
            <p:spPr>
              <a:xfrm>
                <a:off x="2103474" y="4144175"/>
                <a:ext cx="1800000" cy="43200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512" b="1" dirty="0">
                    <a:solidFill>
                      <a:schemeClr val="tx1"/>
                    </a:solidFill>
                  </a:rPr>
                  <a:t>Fabrication</a:t>
                </a:r>
                <a:endParaRPr lang="en-US" sz="1512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311F96FB-A5DD-7E39-723C-D4A30D8717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3474" y="4252175"/>
                <a:ext cx="0" cy="216000"/>
              </a:xfrm>
              <a:prstGeom prst="line">
                <a:avLst/>
              </a:prstGeom>
              <a:ln w="50800">
                <a:solidFill>
                  <a:srgbClr val="C2C0BF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DC53F14C-5360-A7E0-B105-47038A8767CA}"/>
                </a:ext>
              </a:extLst>
            </p:cNvPr>
            <p:cNvSpPr/>
            <p:nvPr/>
          </p:nvSpPr>
          <p:spPr>
            <a:xfrm>
              <a:off x="1281512" y="5157404"/>
              <a:ext cx="2160000" cy="396000"/>
            </a:xfrm>
            <a:prstGeom prst="roundRect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90" b="1" dirty="0">
                  <a:solidFill>
                    <a:schemeClr val="tx1"/>
                  </a:solidFill>
                </a:rPr>
                <a:t>Performance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4C21940-907A-0635-A421-38682DFDAB8A}"/>
                </a:ext>
              </a:extLst>
            </p:cNvPr>
            <p:cNvGrpSpPr/>
            <p:nvPr/>
          </p:nvGrpSpPr>
          <p:grpSpPr>
            <a:xfrm>
              <a:off x="2115599" y="4781785"/>
              <a:ext cx="1800000" cy="432000"/>
              <a:chOff x="2103474" y="5152175"/>
              <a:chExt cx="1800000" cy="432000"/>
            </a:xfrm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4DDD3579-ED0F-23F4-6D12-1B1344158BC8}"/>
                  </a:ext>
                </a:extLst>
              </p:cNvPr>
              <p:cNvSpPr/>
              <p:nvPr/>
            </p:nvSpPr>
            <p:spPr>
              <a:xfrm>
                <a:off x="2103474" y="5152175"/>
                <a:ext cx="1800000" cy="43200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512" dirty="0">
                    <a:solidFill>
                      <a:schemeClr val="tx1"/>
                    </a:solidFill>
                  </a:rPr>
                  <a:t>Measurement</a:t>
                </a:r>
                <a:endParaRPr lang="en-US" sz="1512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117E6FBA-25DD-FF87-F70C-9EF928AFA1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3474" y="5260175"/>
                <a:ext cx="0" cy="216000"/>
              </a:xfrm>
              <a:prstGeom prst="line">
                <a:avLst/>
              </a:prstGeom>
              <a:ln w="50800">
                <a:solidFill>
                  <a:srgbClr val="C2C0BF"/>
                </a:solidFill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EC96B948-E2D7-9F9B-EB8E-A3BEC1720D84}"/>
                </a:ext>
              </a:extLst>
            </p:cNvPr>
            <p:cNvSpPr/>
            <p:nvPr/>
          </p:nvSpPr>
          <p:spPr>
            <a:xfrm>
              <a:off x="6295821" y="2296438"/>
              <a:ext cx="5359885" cy="3256964"/>
            </a:xfrm>
            <a:prstGeom prst="roundRect">
              <a:avLst>
                <a:gd name="adj" fmla="val 7434"/>
              </a:avLst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1512"/>
                </a:lnSpc>
              </a:pPr>
              <a:r>
                <a:rPr lang="en-US" altLang="zh-TW" sz="2268" b="1" dirty="0">
                  <a:solidFill>
                    <a:schemeClr val="tx1"/>
                  </a:solidFill>
                </a:rPr>
                <a:t>SEM Image</a:t>
              </a:r>
              <a:r>
                <a:rPr lang="zh-TW" altLang="en-US" sz="2268" b="1" dirty="0">
                  <a:solidFill>
                    <a:schemeClr val="tx1"/>
                  </a:solidFill>
                </a:rPr>
                <a:t> </a:t>
              </a:r>
              <a:r>
                <a:rPr lang="en-US" altLang="zh-TW" sz="2268" b="1" dirty="0">
                  <a:solidFill>
                    <a:schemeClr val="tx1"/>
                  </a:solidFill>
                </a:rPr>
                <a:t>Numerical </a:t>
              </a:r>
              <a:r>
                <a:rPr lang="en-US" sz="2268" b="1" dirty="0">
                  <a:solidFill>
                    <a:schemeClr val="tx1"/>
                  </a:solidFill>
                </a:rPr>
                <a:t>Representation</a:t>
              </a:r>
            </a:p>
            <a:p>
              <a:pPr marL="324006" indent="-324006">
                <a:lnSpc>
                  <a:spcPts val="1512"/>
                </a:lnSpc>
                <a:spcBef>
                  <a:spcPts val="567"/>
                </a:spcBef>
                <a:buFont typeface="Arial" panose="020B0604020202020204" pitchFamily="34" charset="0"/>
                <a:buChar char="•"/>
              </a:pPr>
              <a:r>
                <a:rPr lang="en-US" sz="1607" dirty="0">
                  <a:solidFill>
                    <a:schemeClr val="tx1"/>
                  </a:solidFill>
                </a:rPr>
                <a:t>Coverage calculation </a:t>
              </a:r>
              <a:r>
                <a:rPr lang="en-US" sz="1607" dirty="0">
                  <a:solidFill>
                    <a:srgbClr val="00B050"/>
                  </a:solidFill>
                </a:rPr>
                <a:t>✓</a:t>
              </a:r>
            </a:p>
            <a:p>
              <a:pPr marL="324006" indent="-324006">
                <a:lnSpc>
                  <a:spcPts val="1512"/>
                </a:lnSpc>
                <a:spcBef>
                  <a:spcPts val="567"/>
                </a:spcBef>
                <a:buFont typeface="Arial" panose="020B0604020202020204" pitchFamily="34" charset="0"/>
                <a:buChar char="•"/>
              </a:pPr>
              <a:r>
                <a:rPr lang="en-US" sz="1607" dirty="0">
                  <a:solidFill>
                    <a:schemeClr val="tx1"/>
                  </a:solidFill>
                </a:rPr>
                <a:t>Scale mark extraction </a:t>
              </a:r>
              <a:r>
                <a:rPr lang="en-US" sz="1607" dirty="0">
                  <a:solidFill>
                    <a:srgbClr val="00B050"/>
                  </a:solidFill>
                </a:rPr>
                <a:t>✓</a:t>
              </a:r>
            </a:p>
            <a:p>
              <a:pPr marL="324006" indent="-324006">
                <a:lnSpc>
                  <a:spcPts val="1512"/>
                </a:lnSpc>
                <a:spcBef>
                  <a:spcPts val="567"/>
                </a:spcBef>
                <a:buFont typeface="Arial" panose="020B0604020202020204" pitchFamily="34" charset="0"/>
                <a:buChar char="•"/>
              </a:pPr>
              <a:r>
                <a:rPr lang="en-US" sz="1607" dirty="0">
                  <a:solidFill>
                    <a:schemeClr val="tx1"/>
                  </a:solidFill>
                </a:rPr>
                <a:t>Average grain size calculation </a:t>
              </a:r>
              <a:r>
                <a:rPr lang="en-US" sz="1607" dirty="0">
                  <a:solidFill>
                    <a:srgbClr val="00B050"/>
                  </a:solidFill>
                </a:rPr>
                <a:t>✓</a:t>
              </a:r>
            </a:p>
            <a:p>
              <a:pPr marL="324006" indent="-324006">
                <a:lnSpc>
                  <a:spcPts val="1512"/>
                </a:lnSpc>
                <a:spcBef>
                  <a:spcPts val="567"/>
                </a:spcBef>
                <a:buFont typeface="Arial" panose="020B0604020202020204" pitchFamily="34" charset="0"/>
                <a:buChar char="•"/>
              </a:pPr>
              <a:r>
                <a:rPr lang="en-US" sz="1607" dirty="0">
                  <a:solidFill>
                    <a:schemeClr val="tx1"/>
                  </a:solidFill>
                </a:rPr>
                <a:t>Nucleation density calculation </a:t>
              </a:r>
              <a:r>
                <a:rPr lang="en-US" sz="1607" dirty="0">
                  <a:solidFill>
                    <a:srgbClr val="00B050"/>
                  </a:solidFill>
                </a:rPr>
                <a:t>✓</a:t>
              </a:r>
            </a:p>
            <a:p>
              <a:pPr marL="324006" indent="-324006">
                <a:lnSpc>
                  <a:spcPts val="1512"/>
                </a:lnSpc>
                <a:spcBef>
                  <a:spcPts val="567"/>
                </a:spcBef>
                <a:buFont typeface="Arial" panose="020B0604020202020204" pitchFamily="34" charset="0"/>
                <a:buChar char="•"/>
              </a:pPr>
              <a:r>
                <a:rPr lang="en-US" sz="1607" dirty="0">
                  <a:solidFill>
                    <a:schemeClr val="tx1"/>
                  </a:solidFill>
                </a:rPr>
                <a:t>Circumference calculation </a:t>
              </a:r>
              <a:r>
                <a:rPr lang="en-US" sz="1607" dirty="0">
                  <a:solidFill>
                    <a:srgbClr val="00B050"/>
                  </a:solidFill>
                </a:rPr>
                <a:t>✓</a:t>
              </a:r>
            </a:p>
            <a:p>
              <a:pPr marL="324006" indent="-324006">
                <a:lnSpc>
                  <a:spcPts val="1512"/>
                </a:lnSpc>
                <a:spcBef>
                  <a:spcPts val="567"/>
                </a:spcBef>
                <a:buFont typeface="Arial" panose="020B0604020202020204" pitchFamily="34" charset="0"/>
                <a:buChar char="•"/>
              </a:pPr>
              <a:r>
                <a:rPr lang="en-US" sz="1607" dirty="0">
                  <a:solidFill>
                    <a:schemeClr val="tx1"/>
                  </a:solidFill>
                </a:rPr>
                <a:t>Background noise representation </a:t>
              </a:r>
              <a:r>
                <a:rPr lang="en-US" sz="1607" dirty="0">
                  <a:solidFill>
                    <a:srgbClr val="00B050"/>
                  </a:solidFill>
                </a:rPr>
                <a:t>✓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172DE48E-A722-4CF0-ECDD-8EB1747CED24}"/>
                </a:ext>
              </a:extLst>
            </p:cNvPr>
            <p:cNvSpPr/>
            <p:nvPr/>
          </p:nvSpPr>
          <p:spPr>
            <a:xfrm>
              <a:off x="3626356" y="3659073"/>
              <a:ext cx="2449243" cy="432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268" b="1" dirty="0">
                  <a:solidFill>
                    <a:schemeClr val="tx1"/>
                  </a:solidFill>
                </a:rPr>
                <a:t>Computer Vision</a:t>
              </a:r>
            </a:p>
            <a:p>
              <a:pPr algn="ctr"/>
              <a:r>
                <a:rPr lang="en-US" sz="2268" b="1" dirty="0">
                  <a:solidFill>
                    <a:schemeClr val="tx1"/>
                  </a:solidFill>
                </a:rPr>
                <a:t>Analysis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EFC36A2-4BE8-544D-3F00-2B075484DE78}"/>
                </a:ext>
              </a:extLst>
            </p:cNvPr>
            <p:cNvSpPr/>
            <p:nvPr/>
          </p:nvSpPr>
          <p:spPr>
            <a:xfrm>
              <a:off x="3950977" y="4962353"/>
              <a:ext cx="1800000" cy="432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268" b="1" dirty="0">
                  <a:solidFill>
                    <a:schemeClr val="tx1"/>
                  </a:solidFill>
                </a:rPr>
                <a:t>Prediction</a:t>
              </a:r>
              <a:endParaRPr lang="en-US" sz="2268" b="1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90FF2812-CB49-D6CC-F609-DE157E05E1F1}"/>
                </a:ext>
              </a:extLst>
            </p:cNvPr>
            <p:cNvSpPr/>
            <p:nvPr/>
          </p:nvSpPr>
          <p:spPr>
            <a:xfrm>
              <a:off x="3273951" y="2078106"/>
              <a:ext cx="3154052" cy="432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268" b="1" dirty="0">
                  <a:solidFill>
                    <a:schemeClr val="tx1"/>
                  </a:solidFill>
                </a:rPr>
                <a:t>Recipe Optimization</a:t>
              </a:r>
              <a:endParaRPr lang="en-US" sz="2268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30255FC-86AE-41B6-7A0A-49217AE62B26}"/>
                </a:ext>
              </a:extLst>
            </p:cNvPr>
            <p:cNvSpPr txBox="1"/>
            <p:nvPr/>
          </p:nvSpPr>
          <p:spPr>
            <a:xfrm flipH="1">
              <a:off x="5896180" y="3472103"/>
              <a:ext cx="407356" cy="3594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7" dirty="0">
                  <a:solidFill>
                    <a:srgbClr val="00B050"/>
                  </a:solidFill>
                </a:rPr>
                <a:t>✓</a:t>
              </a:r>
              <a:endParaRPr lang="en-US" sz="1607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DCCA95F-58E9-7EAD-0782-414C7E801B9E}"/>
                </a:ext>
              </a:extLst>
            </p:cNvPr>
            <p:cNvSpPr txBox="1"/>
            <p:nvPr/>
          </p:nvSpPr>
          <p:spPr>
            <a:xfrm>
              <a:off x="5896353" y="4941673"/>
              <a:ext cx="656290" cy="3747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FFC000"/>
                  </a:solidFill>
                </a:rPr>
                <a:t>△</a:t>
              </a:r>
              <a:endParaRPr lang="en-US" sz="1607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CC98885-66DE-75BD-3E45-B76D36383F42}"/>
                </a:ext>
              </a:extLst>
            </p:cNvPr>
            <p:cNvSpPr txBox="1"/>
            <p:nvPr/>
          </p:nvSpPr>
          <p:spPr>
            <a:xfrm>
              <a:off x="5896353" y="1863194"/>
              <a:ext cx="656290" cy="3747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FFC000"/>
                  </a:solidFill>
                </a:rPr>
                <a:t>△</a:t>
              </a:r>
              <a:endParaRPr lang="en-US" sz="1607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5E720E-7DC2-95DC-3925-2B3591B3B07D}"/>
                </a:ext>
              </a:extLst>
            </p:cNvPr>
            <p:cNvCxnSpPr>
              <a:cxnSpLocks/>
            </p:cNvCxnSpPr>
            <p:nvPr/>
          </p:nvCxnSpPr>
          <p:spPr>
            <a:xfrm>
              <a:off x="3590977" y="3904102"/>
              <a:ext cx="25200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D630815-05AE-52FF-6897-D6A1160BAA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0977" y="5347156"/>
              <a:ext cx="25200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97E32BA-257B-2990-8E3B-B99EF96B71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90977" y="2484081"/>
              <a:ext cx="2520000" cy="0"/>
            </a:xfrm>
            <a:prstGeom prst="line">
              <a:avLst/>
            </a:prstGeom>
            <a:ln w="508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27110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8BD2B3-3C30-F28D-6D0E-1238D7E49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F6393-A632-44F9-875C-D5352E673672}" type="datetime4">
              <a:rPr lang="en-US" smtClean="0"/>
              <a:t>June 18,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93F662-B36C-232D-469B-6C1F1B422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1E5C3-996B-A306-DA51-B5CF61AA1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18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19734F1-B2FD-741C-93AE-CD959F5AA919}"/>
              </a:ext>
            </a:extLst>
          </p:cNvPr>
          <p:cNvGrpSpPr/>
          <p:nvPr/>
        </p:nvGrpSpPr>
        <p:grpSpPr>
          <a:xfrm>
            <a:off x="-6346841" y="-5422008"/>
            <a:ext cx="24214169" cy="17324194"/>
            <a:chOff x="-8267163" y="-8024700"/>
            <a:chExt cx="25626363" cy="1833455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9CB630C-B997-E1D2-C3FE-F7DF66984261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4EC06DA-4D0D-DEAD-23E4-D07266D4A4A9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BCCE2C0-B0BC-EDD8-8FB5-BEBAD5BC5A79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D446E1E-1424-DCCA-B42E-1991F6CD23FA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5B6C2851-BDD4-C4AB-127F-4273BB88841B}"/>
              </a:ext>
            </a:extLst>
          </p:cNvPr>
          <p:cNvSpPr/>
          <p:nvPr/>
        </p:nvSpPr>
        <p:spPr>
          <a:xfrm>
            <a:off x="1356125" y="1281034"/>
            <a:ext cx="1741653" cy="1741653"/>
          </a:xfrm>
          <a:prstGeom prst="rect">
            <a:avLst/>
          </a:prstGeom>
          <a:solidFill>
            <a:schemeClr val="tx1">
              <a:lumMod val="50000"/>
              <a:lumOff val="50000"/>
              <a:alpha val="40000"/>
            </a:schemeClr>
          </a:solidFill>
          <a:scene3d>
            <a:camera prst="isometricOffAxis2Righ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02D988-64F4-B02B-65D4-88229C4F3F89}"/>
              </a:ext>
            </a:extLst>
          </p:cNvPr>
          <p:cNvSpPr txBox="1"/>
          <p:nvPr/>
        </p:nvSpPr>
        <p:spPr>
          <a:xfrm>
            <a:off x="1356126" y="932050"/>
            <a:ext cx="899605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7" dirty="0"/>
              <a:t>512x512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CDB188-F49A-FBE2-28F0-8E59416A1FCD}"/>
              </a:ext>
            </a:extLst>
          </p:cNvPr>
          <p:cNvSpPr/>
          <p:nvPr/>
        </p:nvSpPr>
        <p:spPr>
          <a:xfrm>
            <a:off x="2597962" y="3022687"/>
            <a:ext cx="870827" cy="870827"/>
          </a:xfrm>
          <a:prstGeom prst="rect">
            <a:avLst/>
          </a:prstGeom>
          <a:solidFill>
            <a:schemeClr val="tx1">
              <a:lumMod val="50000"/>
              <a:lumOff val="50000"/>
              <a:alpha val="40000"/>
            </a:schemeClr>
          </a:solidFill>
          <a:scene3d>
            <a:camera prst="isometricOffAxis2Righ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1028D9-C137-2785-3DCB-DABAE0364559}"/>
              </a:ext>
            </a:extLst>
          </p:cNvPr>
          <p:cNvSpPr txBox="1"/>
          <p:nvPr/>
        </p:nvSpPr>
        <p:spPr>
          <a:xfrm>
            <a:off x="2472549" y="2607758"/>
            <a:ext cx="899605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7" dirty="0"/>
              <a:t>128x128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8CB35A-68BD-82EB-4812-FDA9F7960D93}"/>
              </a:ext>
            </a:extLst>
          </p:cNvPr>
          <p:cNvSpPr/>
          <p:nvPr/>
        </p:nvSpPr>
        <p:spPr>
          <a:xfrm>
            <a:off x="3384180" y="3983767"/>
            <a:ext cx="435413" cy="435413"/>
          </a:xfrm>
          <a:prstGeom prst="rect">
            <a:avLst/>
          </a:prstGeom>
          <a:solidFill>
            <a:schemeClr val="tx1">
              <a:lumMod val="50000"/>
              <a:lumOff val="50000"/>
              <a:alpha val="40000"/>
            </a:schemeClr>
          </a:solidFill>
          <a:scene3d>
            <a:camera prst="isometricOffAxis2Righ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67A650-6117-A3B0-E4F9-8475B9C362F1}"/>
              </a:ext>
            </a:extLst>
          </p:cNvPr>
          <p:cNvSpPr txBox="1"/>
          <p:nvPr/>
        </p:nvSpPr>
        <p:spPr>
          <a:xfrm>
            <a:off x="3313785" y="3458101"/>
            <a:ext cx="691215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7" dirty="0"/>
              <a:t>32x32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0782C8-553A-65A3-5E11-4CC8CF71DB45}"/>
              </a:ext>
            </a:extLst>
          </p:cNvPr>
          <p:cNvSpPr/>
          <p:nvPr/>
        </p:nvSpPr>
        <p:spPr>
          <a:xfrm>
            <a:off x="3856855" y="4563183"/>
            <a:ext cx="238117" cy="238117"/>
          </a:xfrm>
          <a:prstGeom prst="rect">
            <a:avLst/>
          </a:prstGeom>
          <a:solidFill>
            <a:schemeClr val="tx1">
              <a:lumMod val="50000"/>
              <a:lumOff val="50000"/>
              <a:alpha val="40000"/>
            </a:schemeClr>
          </a:solidFill>
          <a:scene3d>
            <a:camera prst="isometricOffAxis2Righ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12EF8D-B0F9-3E61-7633-BBAF0E4ECDDC}"/>
              </a:ext>
            </a:extLst>
          </p:cNvPr>
          <p:cNvSpPr txBox="1"/>
          <p:nvPr/>
        </p:nvSpPr>
        <p:spPr>
          <a:xfrm>
            <a:off x="3816191" y="4160449"/>
            <a:ext cx="482824" cy="3396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7" dirty="0"/>
              <a:t>8x8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B38840-BA2C-8740-5830-A02E039A1754}"/>
              </a:ext>
            </a:extLst>
          </p:cNvPr>
          <p:cNvSpPr/>
          <p:nvPr/>
        </p:nvSpPr>
        <p:spPr>
          <a:xfrm>
            <a:off x="7880235" y="1281034"/>
            <a:ext cx="1741653" cy="1741653"/>
          </a:xfrm>
          <a:prstGeom prst="rect">
            <a:avLst/>
          </a:prstGeom>
          <a:solidFill>
            <a:schemeClr val="tx1">
              <a:lumMod val="50000"/>
              <a:lumOff val="50000"/>
              <a:alpha val="40000"/>
            </a:schemeClr>
          </a:solidFill>
          <a:scene3d>
            <a:camera prst="isometricOffAxis1Lef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A76E0D-FDD4-4AC9-FA3C-8A7ACC0EFBB6}"/>
              </a:ext>
            </a:extLst>
          </p:cNvPr>
          <p:cNvSpPr/>
          <p:nvPr/>
        </p:nvSpPr>
        <p:spPr>
          <a:xfrm>
            <a:off x="7444821" y="3022687"/>
            <a:ext cx="870827" cy="870827"/>
          </a:xfrm>
          <a:prstGeom prst="rect">
            <a:avLst/>
          </a:prstGeom>
          <a:solidFill>
            <a:schemeClr val="tx1">
              <a:lumMod val="50000"/>
              <a:lumOff val="50000"/>
              <a:alpha val="40000"/>
            </a:schemeClr>
          </a:solidFill>
          <a:scene3d>
            <a:camera prst="isometricOffAxis1Lef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F37F48-C8E7-51F3-169B-56DC58FB2FE5}"/>
              </a:ext>
            </a:extLst>
          </p:cNvPr>
          <p:cNvSpPr/>
          <p:nvPr/>
        </p:nvSpPr>
        <p:spPr>
          <a:xfrm>
            <a:off x="7169792" y="3983767"/>
            <a:ext cx="435413" cy="435413"/>
          </a:xfrm>
          <a:prstGeom prst="rect">
            <a:avLst/>
          </a:prstGeom>
          <a:solidFill>
            <a:schemeClr val="tx1">
              <a:lumMod val="50000"/>
              <a:lumOff val="50000"/>
              <a:alpha val="40000"/>
            </a:schemeClr>
          </a:solidFill>
          <a:scene3d>
            <a:camera prst="isometricOffAxis1Lef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5A06C09-2B53-CDA1-9121-69636E849DAD}"/>
              </a:ext>
            </a:extLst>
          </p:cNvPr>
          <p:cNvSpPr/>
          <p:nvPr/>
        </p:nvSpPr>
        <p:spPr>
          <a:xfrm>
            <a:off x="6931675" y="4563183"/>
            <a:ext cx="238117" cy="238117"/>
          </a:xfrm>
          <a:prstGeom prst="rect">
            <a:avLst/>
          </a:prstGeom>
          <a:solidFill>
            <a:schemeClr val="tx1">
              <a:lumMod val="50000"/>
              <a:lumOff val="50000"/>
              <a:alpha val="40000"/>
            </a:schemeClr>
          </a:solidFill>
          <a:scene3d>
            <a:camera prst="isometricOffAxis1Left"/>
            <a:lightRig rig="threePt" dir="t"/>
          </a:scene3d>
          <a:sp3d>
            <a:bevelT w="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7" dirty="0"/>
          </a:p>
        </p:txBody>
      </p:sp>
    </p:spTree>
    <p:extLst>
      <p:ext uri="{BB962C8B-B14F-4D97-AF65-F5344CB8AC3E}">
        <p14:creationId xmlns:p14="http://schemas.microsoft.com/office/powerpoint/2010/main" val="1334346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60ED0-AF95-2A5B-F807-0934188FF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E9614-1E12-35A0-E615-C421DD3EB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83" y="180047"/>
            <a:ext cx="10799834" cy="1007985"/>
          </a:xfrm>
          <a:solidFill>
            <a:srgbClr val="FFBCBC">
              <a:alpha val="40000"/>
            </a:srgbClr>
          </a:solidFill>
          <a:ln w="38100">
            <a:solidFill>
              <a:srgbClr val="BEBEBE"/>
            </a:solidFill>
          </a:ln>
        </p:spPr>
        <p:txBody>
          <a:bodyPr vert="horz" lIns="86400" tIns="43200" rIns="86400" bIns="43200" rtlCol="0" anchor="ctr">
            <a:normAutofit/>
          </a:bodyPr>
          <a:lstStyle/>
          <a:p>
            <a:r>
              <a:rPr lang="en-US" sz="32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Future Work</a:t>
            </a:r>
            <a:br>
              <a:rPr lang="en-US" sz="3496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Calibri Light, 20-24 Normal</a:t>
            </a:r>
            <a:r>
              <a:rPr lang="en-US" sz="2362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7A845-96E6-B71B-8B59-9D805416A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83" y="1368029"/>
            <a:ext cx="10799834" cy="46799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Crystal Violet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Patent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Mobility data (B620 ~B640)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7C10265-0CD6-DDEC-967B-43145D0B5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2026-06-18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B2AC621-66B9-D4AB-98DE-7BC1185D2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8697A9D-0314-D093-7FBB-98B6EE31D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19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E548057-29F2-30CD-8105-625CB5975E08}"/>
              </a:ext>
            </a:extLst>
          </p:cNvPr>
          <p:cNvGrpSpPr/>
          <p:nvPr/>
        </p:nvGrpSpPr>
        <p:grpSpPr>
          <a:xfrm>
            <a:off x="-6346841" y="-5422008"/>
            <a:ext cx="24214169" cy="17324194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65C7BC6-E419-CAA7-3F3B-0AD71DE5BCCF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99E5F57-97D4-6826-45F1-661ED578661F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23F0663-769B-148A-D63C-76ED17802C62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024425D-4D27-CC46-75EB-A99C36E2FDA0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7591365-45AD-87E9-964B-2B72D9A434D8}"/>
              </a:ext>
            </a:extLst>
          </p:cNvPr>
          <p:cNvSpPr txBox="1"/>
          <p:nvPr/>
        </p:nvSpPr>
        <p:spPr>
          <a:xfrm>
            <a:off x="340338" y="-689152"/>
            <a:ext cx="1702710" cy="58695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7" dirty="0"/>
              <a:t>Dimension:3, 31.8</a:t>
            </a:r>
          </a:p>
          <a:p>
            <a:r>
              <a:rPr lang="en-US" sz="1607" dirty="0"/>
              <a:t>Position: 1, 0.5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B6BDD5-9296-75B5-9328-8207347E158B}"/>
              </a:ext>
            </a:extLst>
          </p:cNvPr>
          <p:cNvGraphicFramePr>
            <a:graphicFrameLocks noGrp="1"/>
          </p:cNvGraphicFramePr>
          <p:nvPr/>
        </p:nvGraphicFramePr>
        <p:xfrm>
          <a:off x="9241683" y="4362783"/>
          <a:ext cx="5760065" cy="1401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13">
                  <a:extLst>
                    <a:ext uri="{9D8B030D-6E8A-4147-A177-3AD203B41FA5}">
                      <a16:colId xmlns:a16="http://schemas.microsoft.com/office/drawing/2014/main" val="1975252933"/>
                    </a:ext>
                  </a:extLst>
                </a:gridCol>
                <a:gridCol w="1152013">
                  <a:extLst>
                    <a:ext uri="{9D8B030D-6E8A-4147-A177-3AD203B41FA5}">
                      <a16:colId xmlns:a16="http://schemas.microsoft.com/office/drawing/2014/main" val="3380365447"/>
                    </a:ext>
                  </a:extLst>
                </a:gridCol>
                <a:gridCol w="1152013">
                  <a:extLst>
                    <a:ext uri="{9D8B030D-6E8A-4147-A177-3AD203B41FA5}">
                      <a16:colId xmlns:a16="http://schemas.microsoft.com/office/drawing/2014/main" val="26023873"/>
                    </a:ext>
                  </a:extLst>
                </a:gridCol>
                <a:gridCol w="1152013">
                  <a:extLst>
                    <a:ext uri="{9D8B030D-6E8A-4147-A177-3AD203B41FA5}">
                      <a16:colId xmlns:a16="http://schemas.microsoft.com/office/drawing/2014/main" val="1205151710"/>
                    </a:ext>
                  </a:extLst>
                </a:gridCol>
                <a:gridCol w="1152013">
                  <a:extLst>
                    <a:ext uri="{9D8B030D-6E8A-4147-A177-3AD203B41FA5}">
                      <a16:colId xmlns:a16="http://schemas.microsoft.com/office/drawing/2014/main" val="1264263810"/>
                    </a:ext>
                  </a:extLst>
                </a:gridCol>
              </a:tblGrid>
              <a:tr h="350404"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159311"/>
                  </a:ext>
                </a:extLst>
              </a:tr>
              <a:tr h="350404"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317047"/>
                  </a:ext>
                </a:extLst>
              </a:tr>
              <a:tr h="350404"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411305"/>
                  </a:ext>
                </a:extLst>
              </a:tr>
              <a:tr h="350404"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138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1330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83" y="180047"/>
            <a:ext cx="10799834" cy="1007985"/>
          </a:xfrm>
          <a:solidFill>
            <a:srgbClr val="64141E"/>
          </a:solidFill>
          <a:ln w="38100">
            <a:noFill/>
          </a:ln>
        </p:spPr>
        <p:txBody>
          <a:bodyPr vert="horz" lIns="86400" tIns="43200" rIns="86400" bIns="43200" rtlCol="0" anchor="ctr"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Calibri Light, 32-36, Bold (H=2.8, W=30, x=1, y=0.5) </a:t>
            </a:r>
            <a:br>
              <a:rPr lang="en-US" sz="3496" b="1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Calibri Light, 20-24 Normal</a:t>
            </a:r>
            <a:r>
              <a:rPr lang="en-US" sz="2362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83" y="1368029"/>
            <a:ext cx="10799834" cy="46799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Calibri, 16-24, Normal </a:t>
            </a:r>
            <a:r>
              <a:rPr lang="pl-PL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(H=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13</a:t>
            </a:r>
            <a:r>
              <a:rPr lang="pl-PL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W=30, x=1, y=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3.8</a:t>
            </a:r>
            <a:r>
              <a:rPr lang="pl-PL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Calibri, 16-24, Normal  (H=13, W=30, x=1, y=3.8)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71CF9B-77D8-34AC-467B-90AFE3868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2026-06-18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74C9DD1-4B8E-C92E-EE2B-AAAF9E3EC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B0419B9-C3CE-E05D-CB83-E7A0F9A7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20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7E202D6-0A4F-6CF0-D134-1B663A9BD111}"/>
              </a:ext>
            </a:extLst>
          </p:cNvPr>
          <p:cNvGrpSpPr/>
          <p:nvPr/>
        </p:nvGrpSpPr>
        <p:grpSpPr>
          <a:xfrm>
            <a:off x="-6346841" y="-5422008"/>
            <a:ext cx="24214169" cy="17324194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0F6B5A2-6AC3-ACD1-2C4D-B44B57592A94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417ACA7-B9A4-8366-164D-A595C3B1EF83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ACA93B1-7B0A-9A57-E43F-25392A422A83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0062C23-34C6-4704-9187-2487F176C1AF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4CAFF21-DA00-289B-F415-0DF3A2434C51}"/>
              </a:ext>
            </a:extLst>
          </p:cNvPr>
          <p:cNvSpPr txBox="1"/>
          <p:nvPr/>
        </p:nvSpPr>
        <p:spPr>
          <a:xfrm>
            <a:off x="340338" y="-689152"/>
            <a:ext cx="1702710" cy="58695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7" dirty="0"/>
              <a:t>Dimension:3, 31.8</a:t>
            </a:r>
          </a:p>
          <a:p>
            <a:r>
              <a:rPr lang="en-US" sz="1607" dirty="0"/>
              <a:t>Position: 1, 0.5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857BA0-E874-A9AF-014F-08FE1EB2B00D}"/>
              </a:ext>
            </a:extLst>
          </p:cNvPr>
          <p:cNvGraphicFramePr>
            <a:graphicFrameLocks noGrp="1"/>
          </p:cNvGraphicFramePr>
          <p:nvPr/>
        </p:nvGraphicFramePr>
        <p:xfrm>
          <a:off x="9241683" y="4362783"/>
          <a:ext cx="5760065" cy="1401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13">
                  <a:extLst>
                    <a:ext uri="{9D8B030D-6E8A-4147-A177-3AD203B41FA5}">
                      <a16:colId xmlns:a16="http://schemas.microsoft.com/office/drawing/2014/main" val="1975252933"/>
                    </a:ext>
                  </a:extLst>
                </a:gridCol>
                <a:gridCol w="1152013">
                  <a:extLst>
                    <a:ext uri="{9D8B030D-6E8A-4147-A177-3AD203B41FA5}">
                      <a16:colId xmlns:a16="http://schemas.microsoft.com/office/drawing/2014/main" val="3380365447"/>
                    </a:ext>
                  </a:extLst>
                </a:gridCol>
                <a:gridCol w="1152013">
                  <a:extLst>
                    <a:ext uri="{9D8B030D-6E8A-4147-A177-3AD203B41FA5}">
                      <a16:colId xmlns:a16="http://schemas.microsoft.com/office/drawing/2014/main" val="26023873"/>
                    </a:ext>
                  </a:extLst>
                </a:gridCol>
                <a:gridCol w="1152013">
                  <a:extLst>
                    <a:ext uri="{9D8B030D-6E8A-4147-A177-3AD203B41FA5}">
                      <a16:colId xmlns:a16="http://schemas.microsoft.com/office/drawing/2014/main" val="1205151710"/>
                    </a:ext>
                  </a:extLst>
                </a:gridCol>
                <a:gridCol w="1152013">
                  <a:extLst>
                    <a:ext uri="{9D8B030D-6E8A-4147-A177-3AD203B41FA5}">
                      <a16:colId xmlns:a16="http://schemas.microsoft.com/office/drawing/2014/main" val="1264263810"/>
                    </a:ext>
                  </a:extLst>
                </a:gridCol>
              </a:tblGrid>
              <a:tr h="350404"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159311"/>
                  </a:ext>
                </a:extLst>
              </a:tr>
              <a:tr h="350404"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317047"/>
                  </a:ext>
                </a:extLst>
              </a:tr>
              <a:tr h="350404"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411305"/>
                  </a:ext>
                </a:extLst>
              </a:tr>
              <a:tr h="350404"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138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05302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D564E-BEFE-0303-A602-0B3165BC2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33EAB-A7D8-5630-ADFB-8A8C1C775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83" y="180047"/>
            <a:ext cx="10799834" cy="1007985"/>
          </a:xfrm>
          <a:solidFill>
            <a:srgbClr val="F5F5DC"/>
          </a:solidFill>
          <a:ln w="38100">
            <a:noFill/>
          </a:ln>
        </p:spPr>
        <p:txBody>
          <a:bodyPr vert="horz" lIns="86400" tIns="43200" rIns="86400" bIns="43200" rtlCol="0" anchor="ctr">
            <a:normAutofit/>
          </a:bodyPr>
          <a:lstStyle/>
          <a:p>
            <a:r>
              <a:rPr lang="en-US" sz="32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Future Work</a:t>
            </a:r>
            <a:br>
              <a:rPr lang="en-US" sz="3496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Calibri Light, 20-24 Normal</a:t>
            </a:r>
            <a:r>
              <a:rPr lang="en-US" sz="2362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B6AF5-AC0D-AE4A-59D6-24E43215C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83" y="1368029"/>
            <a:ext cx="10799834" cy="46799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Crystal Violet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Patent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Mobility data (B620 ~B640)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67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C7E4B5A-48C8-5D3F-8BDE-6912FC2C3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A0613-D948-4D82-AB58-CEC1ECD9EBB2}" type="datetime1">
              <a:rPr lang="en-US" smtClean="0"/>
              <a:t>2026-06-18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E509BBC-DA39-C003-1E7F-406D067CE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edchen93@mit.edu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39D0125-B8FA-15FD-B441-D8CD4F2A3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34D1-4299-41A8-9387-6DA1E0F8FD58}" type="slidenum">
              <a:rPr lang="en-US" smtClean="0"/>
              <a:t>21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A7C60F-524E-3B6A-097E-862AAA78F3D9}"/>
              </a:ext>
            </a:extLst>
          </p:cNvPr>
          <p:cNvGrpSpPr/>
          <p:nvPr/>
        </p:nvGrpSpPr>
        <p:grpSpPr>
          <a:xfrm>
            <a:off x="-6346841" y="-5422008"/>
            <a:ext cx="24214169" cy="17324194"/>
            <a:chOff x="-8267163" y="-8024700"/>
            <a:chExt cx="25626363" cy="1833455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A25AB69-C18B-077E-1743-C49D399BD57F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5B3C965-D579-8A80-87BA-83A769283056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F666E5B-4989-FDA1-D07A-A41D02213DB6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E6807F1-2907-E53B-F3D2-A739E206884D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31CBE48-E28E-0AF0-13B6-67475FA08F37}"/>
              </a:ext>
            </a:extLst>
          </p:cNvPr>
          <p:cNvSpPr txBox="1"/>
          <p:nvPr/>
        </p:nvSpPr>
        <p:spPr>
          <a:xfrm>
            <a:off x="340338" y="-689152"/>
            <a:ext cx="1702710" cy="586956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7" dirty="0"/>
              <a:t>Dimension:3, 31.8</a:t>
            </a:r>
          </a:p>
          <a:p>
            <a:r>
              <a:rPr lang="en-US" sz="1607" dirty="0"/>
              <a:t>Position: 1, 0.5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8D8E2F-9D72-7CCE-5159-FDD3AE25D022}"/>
              </a:ext>
            </a:extLst>
          </p:cNvPr>
          <p:cNvGraphicFramePr>
            <a:graphicFrameLocks noGrp="1"/>
          </p:cNvGraphicFramePr>
          <p:nvPr/>
        </p:nvGraphicFramePr>
        <p:xfrm>
          <a:off x="9241683" y="4362783"/>
          <a:ext cx="5760065" cy="1401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13">
                  <a:extLst>
                    <a:ext uri="{9D8B030D-6E8A-4147-A177-3AD203B41FA5}">
                      <a16:colId xmlns:a16="http://schemas.microsoft.com/office/drawing/2014/main" val="1975252933"/>
                    </a:ext>
                  </a:extLst>
                </a:gridCol>
                <a:gridCol w="1152013">
                  <a:extLst>
                    <a:ext uri="{9D8B030D-6E8A-4147-A177-3AD203B41FA5}">
                      <a16:colId xmlns:a16="http://schemas.microsoft.com/office/drawing/2014/main" val="3380365447"/>
                    </a:ext>
                  </a:extLst>
                </a:gridCol>
                <a:gridCol w="1152013">
                  <a:extLst>
                    <a:ext uri="{9D8B030D-6E8A-4147-A177-3AD203B41FA5}">
                      <a16:colId xmlns:a16="http://schemas.microsoft.com/office/drawing/2014/main" val="26023873"/>
                    </a:ext>
                  </a:extLst>
                </a:gridCol>
                <a:gridCol w="1152013">
                  <a:extLst>
                    <a:ext uri="{9D8B030D-6E8A-4147-A177-3AD203B41FA5}">
                      <a16:colId xmlns:a16="http://schemas.microsoft.com/office/drawing/2014/main" val="1205151710"/>
                    </a:ext>
                  </a:extLst>
                </a:gridCol>
                <a:gridCol w="1152013">
                  <a:extLst>
                    <a:ext uri="{9D8B030D-6E8A-4147-A177-3AD203B41FA5}">
                      <a16:colId xmlns:a16="http://schemas.microsoft.com/office/drawing/2014/main" val="1264263810"/>
                    </a:ext>
                  </a:extLst>
                </a:gridCol>
              </a:tblGrid>
              <a:tr h="350404"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159311"/>
                  </a:ext>
                </a:extLst>
              </a:tr>
              <a:tr h="350404"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317047"/>
                  </a:ext>
                </a:extLst>
              </a:tr>
              <a:tr h="350404"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5411305"/>
                  </a:ext>
                </a:extLst>
              </a:tr>
              <a:tr h="350404"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7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86400" marR="86400" marT="43200" marB="43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138585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1ED54808-3018-01E9-6AC0-84BC386628A3}"/>
              </a:ext>
            </a:extLst>
          </p:cNvPr>
          <p:cNvGrpSpPr/>
          <p:nvPr/>
        </p:nvGrpSpPr>
        <p:grpSpPr>
          <a:xfrm>
            <a:off x="4544278" y="1861118"/>
            <a:ext cx="3854794" cy="2757939"/>
            <a:chOff x="-8267163" y="-8024700"/>
            <a:chExt cx="25626363" cy="1833455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0695A1A-052B-22A4-68C8-635B087CA4D4}"/>
                </a:ext>
              </a:extLst>
            </p:cNvPr>
            <p:cNvSpPr/>
            <p:nvPr/>
          </p:nvSpPr>
          <p:spPr>
            <a:xfrm>
              <a:off x="-8267163" y="-8024700"/>
              <a:ext cx="1800000" cy="1800000"/>
            </a:xfrm>
            <a:prstGeom prst="ellipse">
              <a:avLst/>
            </a:prstGeom>
            <a:solidFill>
              <a:srgbClr val="C2C0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8C845F3-0D30-CA99-8143-B4A90C4DF9CC}"/>
                </a:ext>
              </a:extLst>
            </p:cNvPr>
            <p:cNvSpPr/>
            <p:nvPr/>
          </p:nvSpPr>
          <p:spPr>
            <a:xfrm>
              <a:off x="15559200" y="-8024700"/>
              <a:ext cx="1800000" cy="1800000"/>
            </a:xfrm>
            <a:prstGeom prst="ellipse">
              <a:avLst/>
            </a:prstGeom>
            <a:solidFill>
              <a:srgbClr val="F5F5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95EEB5-E03B-B54F-F506-7B2665C1112B}"/>
                </a:ext>
              </a:extLst>
            </p:cNvPr>
            <p:cNvSpPr/>
            <p:nvPr/>
          </p:nvSpPr>
          <p:spPr>
            <a:xfrm>
              <a:off x="-8267163" y="8509857"/>
              <a:ext cx="1800000" cy="1800000"/>
            </a:xfrm>
            <a:prstGeom prst="ellipse">
              <a:avLst/>
            </a:prstGeom>
            <a:solidFill>
              <a:srgbClr val="A31F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1FF246A-A396-97FD-9E3F-8FDCBC63183B}"/>
                </a:ext>
              </a:extLst>
            </p:cNvPr>
            <p:cNvSpPr/>
            <p:nvPr/>
          </p:nvSpPr>
          <p:spPr>
            <a:xfrm>
              <a:off x="15559200" y="8509857"/>
              <a:ext cx="1800000" cy="1800000"/>
            </a:xfrm>
            <a:prstGeom prst="ellipse">
              <a:avLst/>
            </a:prstGeom>
            <a:solidFill>
              <a:srgbClr val="8A8B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7"/>
            </a:p>
          </p:txBody>
        </p:sp>
      </p:grpSp>
    </p:spTree>
    <p:extLst>
      <p:ext uri="{BB962C8B-B14F-4D97-AF65-F5344CB8AC3E}">
        <p14:creationId xmlns:p14="http://schemas.microsoft.com/office/powerpoint/2010/main" val="2685915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3607</TotalTime>
  <Words>2099</Words>
  <Application>Microsoft Office PowerPoint</Application>
  <PresentationFormat>Custom</PresentationFormat>
  <Paragraphs>387</Paragraphs>
  <Slides>21</Slides>
  <Notes>19</Notes>
  <HiddenSlides>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Google Sans</vt:lpstr>
      <vt:lpstr>Noto Sans Symbols</vt:lpstr>
      <vt:lpstr>芫荽</vt:lpstr>
      <vt:lpstr>Aptos Narrow</vt:lpstr>
      <vt:lpstr>Arial</vt:lpstr>
      <vt:lpstr>Calibri</vt:lpstr>
      <vt:lpstr>Calibri Light</vt:lpstr>
      <vt:lpstr>Cambria Math</vt:lpstr>
      <vt:lpstr>Consolas</vt:lpstr>
      <vt:lpstr>Times New Roman</vt:lpstr>
      <vt:lpstr>Office 2013 - 2022 Theme</vt:lpstr>
      <vt:lpstr>Machine Learning Examples in 2D Material Development</vt:lpstr>
      <vt:lpstr>Project Control Table</vt:lpstr>
      <vt:lpstr>PowerPoint Presentation</vt:lpstr>
      <vt:lpstr>How to describe an SEM image of a 2D material?</vt:lpstr>
      <vt:lpstr>Execution Steps</vt:lpstr>
      <vt:lpstr>How are these measurements relating to devise performance? </vt:lpstr>
      <vt:lpstr>Demo Video</vt:lpstr>
      <vt:lpstr>PowerPoint Presentation</vt:lpstr>
      <vt:lpstr>Coverage</vt:lpstr>
      <vt:lpstr>Otsu’s Method</vt:lpstr>
      <vt:lpstr>Watershed</vt:lpstr>
      <vt:lpstr> Distance Transform </vt:lpstr>
      <vt:lpstr>Watershed Parameter Adjustments</vt:lpstr>
      <vt:lpstr>Watershed Improvement — Add foreground at local maxima</vt:lpstr>
      <vt:lpstr>Foreground Sharp Edge Smoothing</vt:lpstr>
      <vt:lpstr>PowerPoint Presentation</vt:lpstr>
      <vt:lpstr>Future Work</vt:lpstr>
      <vt:lpstr>PowerPoint Presentation</vt:lpstr>
      <vt:lpstr>Future Work Calibri Light, 20-24 Normal </vt:lpstr>
      <vt:lpstr>Calibri Light, 32-36, Bold (H=2.8, W=30, x=1, y=0.5)  Calibri Light, 20-24 Normal </vt:lpstr>
      <vt:lpstr>Future Work Calibri Light, 20-24 Normal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01_Progress report</dc:title>
  <dc:creator>Meng-Chi Chen</dc:creator>
  <cp:lastModifiedBy>Ed Chen</cp:lastModifiedBy>
  <cp:revision>28</cp:revision>
  <dcterms:created xsi:type="dcterms:W3CDTF">2018-02-26T00:11:07Z</dcterms:created>
  <dcterms:modified xsi:type="dcterms:W3CDTF">2026-06-18T22:13:34Z</dcterms:modified>
</cp:coreProperties>
</file>